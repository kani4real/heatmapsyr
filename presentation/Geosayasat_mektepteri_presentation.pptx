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Кіріспе" id="{81703117-a7d0-44cb-0fec-c4ffd9e63332}">
          <p14:sldIdLst>
            <p14:sldId id="256"/>
            <p14:sldId id="257"/>
          </p14:sldIdLst>
        </p14:section>
        <p14:section name="Геосаясат мектептері" id="{c6fc50a9-0991-de03-7e8f-6bf39c52034e}">
          <p14:sldIdLst>
            <p14:sldId id="258"/>
            <p14:sldId id="259"/>
            <p14:sldId id="260"/>
            <p14:sldId id="261"/>
            <p14:sldId id="262"/>
            <p14:sldId id="263"/>
          </p14:sldIdLst>
        </p14:section>
        <p14:section name="Салыстырмалы талдау" id="{05c880b7-ff35-8fc8-4868-cde9eac46a70}">
          <p14:sldIdLst>
            <p14:sldId id="264"/>
            <p14:sldId id="265"/>
            <p14:sldId id="266"/>
            <p14:sldId id="267"/>
          </p14:sldIdLst>
        </p14:section>
        <p14:section name="Қорытынды" id="{9f977adf-91bf-350d-253e-3dee96e2536e}">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1-баяндамашы — 1-слайд · Титул
Құрметті комиссия мүшелері, қымбатты әріптестер! Біздің тобымыз «Әлемдік саясатты зерттеу әдістері» пәні бойынша «Геосаясат мектептері: теориялық салыстырмалы талдау» тақырыбындағы жобаны ұсынады. Жобада алты негізгі геосаяси мектепті қарастырып, оларды ортақ критерийлер бойынша салыстырамыз. Әр баяндамашы бір мектепті және салыстырудың бір бөлігін таныстырады.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1-баяндамашы — 2-слайд · Кіріспе
Алдымен негізгі ұғымды анықтап алайық. Геосаясат — географиялық кеңістік пен саяси билік арасындағы байланысты зерттейтін ғылым. Бұл терминді 1899 жылы швед ғалымы Рудольф Челлен енгізген.
Тақырыптың өзектілігі мынада: бүгінгі әлемде ресурстар, көлік дәліздері және ұлы державалар бәсекесі қайтадан күн тәртібіне шықты, яғни кеңістік факторы қайта күшейді.
Зерттеудің мақсаты — алты мектептің теориялық негіздерін салыстырып, ұқсастықтары мен айырмашылықтарын анықтау. Ол үшін салыстырмалы, тарихи-генетикалық, картографиялық әдістерді, дискурс-талдау мен жүйелік тәсілді қолдандық. Салыстыру бес критерий бойынша жүргізілді: негізгі фактор, кеңістік түсінігі, мемлекет туралы көзқарас, әдіснама және саяси мақсат.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1-баяндамашы — 3-слайд · Англо-американ «теңіз» мектебі
Алғашқы мектеп — англо-американ мектебі. Оның негізінде «Құрлық пен Теңіз» қарама-қайшылығы жатыр.
Американдық адмирал Альфред Мэхэн 1890 жылы «Теңіз күшінің тарихқа ықпалы» еңбегінде әлемдік үстемдіктің кілті — флот, порттар мен сауда жолдарынан тұратын теңіз күші деп дәлелдеді.
Британ ғалымы Хэлфорд Маккиндер 1904 жылы «Тарихтың географиялық осі» баяндамасында Еуразияның ішкі өзегін — Хартлендті — әлемдік саясаттың осі деп атады. Картада ол қызғылт түспен белгіленген; Қазақстан да осы аймаққа кіреді. Оның әйгілі формуласы: «Шығыс Еуропаны билеген — Хартлендті билейді; Хартлендті билеген — Әлемдік аралды билейді; Әлемдік аралды билеген — бүкіл әлемді билейді».
Николас Спайкмен бұл идеяны түзетіп, шешуші аймақ Еуразияның жағалау белдеуі — Римленд деп санады.
Қорытындылай келе, бұл мектептің негізгі идеясы — теңіз державаларының міндеті Еуразия құрлығының бір күштің қолында бірігуіне жол бермеу. Сөзді әріптесіме беремін.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2-баяндамашы — 4-слайд · Неміс континенттік мектебі
Екінші мектеп — неміс континенттік мектебі. Оның басты идеясы: мемлекет — тірі организм.
Фридрих Ратцель 1897 жылы «Саяси география» еңбегінде мемлекет тірі ағза сияқты өседі деп жазып, «өмір сүру кеңістігі» — Lebensraum ұғымын енгізді. Рудольф Челлен «геосаясат» терминінің авторы ретінде мемлекетті биологиялық тұтастық ретінде қарастырды. Карл Хаусхофер әлемді төрт пан-аймаққа бөлуді ұсынды: картада Пан-Америка, Еурафрика, Пан-Ресей және Шығыс Азия көрсетілген. Ол Берлин–Мәскеу–Токио континенттік блогын құру идеясын да алға тартты.
Бұл мектептің ғылымға қосқан үлесі — кеңістікті саясаттың белсенді факторы ретінде алғаш жүйелі түрде зерттеуі. Бірақ оның ұғымдары нацистік экспансияны ақтау үшін пайдаланылды, сондықтан соғыстан кейін геосаясат ұзақ уақыт «тыйым салынған ғылым» болып саналды.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3-баяндамашы — 5-слайд · Француз мектебі: поссибилизм
Үшінші мектеп — француз мектебі. Ол неміс детерминизміне балама ретінде қалыптасты.
Оның негізін салушы Поль Видаль де ла Блаш поссибилизм тұжырымдамасын ұсынды: табиғи орта адамға мүмкіндіктер жиынтығын ғана береді, ал таңдауды адамның өзі жасайды. Сондықтан басты рөл адамның «өмір салтында» — genre de vie.
Жак Ансель шекараны тұрақты сызық емес, күштер тепе-теңдігінің уақытша көрінісі деп түсіндірді. Ал Ив Лакост 1976 жылы «Hérodote» журналын құрып, «география ең алдымен соғыс жүргізуге қызмет етеді» деген тезиспен геосаясатты қайта жаңғыртты.
Слайдтағы салыстыру айырмашылықты нақты көрсетеді: неміс мектебі үшін кеңістік мемлекеттің тағдырын анықтайды, ал француз мектебі үшін кеңістік тек мүмкіндік береді, шешімді адам қабылдайды.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4-баяндамашы — 6-слайд · Ресей еуразиялық мектебі
Төртінші мектеп — Ресей еуразиялық мектебі. Ол 1920 жылдары орыс эмиграциясы ортасында пайда болды.
Пётр Савицкий Ресей-Еуразия — Еуропа да, Азия да емес, дербес «даму орны» деп тұжырымдады. Лев Гумилёв пассионарлық теориясын жасап, Ұлы Дала көшпелілерінің тарихтағы рөлін қайта бағалады. Александр Дугин 1997 жылғы «Геосаясат негіздері» кітабында неоеуразияшылдықты дамытып, Құрлық пен Теңіздің «мәңгілік күресі» және көпполюсті әлем идеясын алға тартты.
Бұл мектептің негізгі идеясы — славян, түркі және моңғол халықтары біртұтас тарихи-мәдени кеңістік құрайды.
Бұл мектептің Қазақстанмен байланысы ерекше. Астанада Л.Н. Гумилёв атындағы Еуразия ұлттық университеті жұмыс істейді. 1994 жылы Қазақстан Еуразиялық одақ идеясын ұсынды, ол 2015 жылы Еуразиялық экономикалық одақ болып жүзеге асты. Қазақстандық тәсіл идеологиядан гөрі прагматикалық, экономикалық ынтымақтастыққа негізделеді.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5-баяндамашы — 7-слайд · Американ постбиполярлық мектебі
Бесінші мектеп — американ постбиполярлық мектебі. Ол қырғи-қабақ соғыс аяқталғаннан кейін, жаңа әлемдік тәртіп туралы пікірталас кезінде қалыптасты.
Збигнев Бжезинский 1997 жылғы «Ұлы шахмат тақтасы» кітабында Еуразияны әлемдік үстемдік үшін күрестің басты тақтасы деп атады. Ол Орталық Азия мен Кавказды «Еуразиялық Балқан» деп сипаттады — бұл біздің аймаққа тікелей қатысты.
Сэмюэл Хантингтон «Өркениеттер қақтығысы» еңбегінде болашақ қақтығыстардың басты көзі — идеология емес, өркениеттік айырмашылықтар болады деп болжады. Картада оның тұжырымдамасы бойынша әлемнің өркениеттік бөлінісі жеңілдетілген түрде көрсетілген. Ал Фрэнсис Фукуяма «Тарихтың соңы» идеясымен либералды демократияның жеңісі туралы оптимистік балама ұсынды.
Бұл мектептің негізгі идеясы — АҚШ жаһандық көшбасшылығын сақтау үшін Еуразияда бірде-бір бәсекелес державаның үстемдігіне жол бермеуі тиіс.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6-баяндамашы — 8-слайд · Сыни геосаясат
Алтыншы мектеп — сыни геосаясат. Ол 1980–1990 жылдары постструктурализм ықпалымен пайда болды.
Жероид Ó Тоал 1996 жылғы «Сыни геосаясат» кітабында геосаясат объективті шындық емес, билікті ақтайтын саяси дискурс екенін көрсетті. Джон Агнью «геосаяси қиял» ұғымын енгізіп, мемлекеттер әлемді қалай «елестететінін» зерттеді. Саймон Далби қауіп-қатер бейнесі кеңістік арқылы қалай құрастырылатынын талдады.
Бұл мектеп геосаяси дискурстың үш деңгейін бөледі: формалды геосаясат — ғалымдар мен сараптама орталықтары; практикалық геосаясат — саясаткерлер мен дипломаттардың сөздері; танымал геосаясат — БАҚ, кино және әлеуметтік желілер.
Сондықтан бұл мектептің басты сұрағы: «Кеңістік не айтады?» емес, «Кеңістік туралы кім, не үшін және қалай айтады?».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2-баяндамашы — 9-слайд · Геосаяси ойдың эволюциясы
Енді салыстырмалы талдауға көшеміз. Уақыт шкаласында барлық мектептің негізгі еңбектері хронологиялық ретпен орналасқан.
Үш кезеңді бөліп көрсетуге болады. Бірінші — классикалық кезең, 1890–1945 жылдар: Мэхэн, Ратцель, Маккиндер, Хаусхофер, Видаль де ла Блаш және еуразияшылдар. Екінші — 1945–1990 жылдар, геосаясаттың «үнсіздік» кезеңі және оның біртіндеп жаңғыруы; мұнда Лакосттың «Hérodote» журналы маңызды рөл атқарды. Үшінші — 1990 жылдан кейінгі жаңа кезең: қырғи-қабақ соғыс аяқталған соң Хантингтон, Бжезинский, Дугин және сыни геосаясат өкілдері пайда болды.
Шкаладан көрініп тұрғандай, геосаяси ой әрдайым ірі тарихи өзгерістерге — отаршылдыққа, дүниежүзілік соғыстарға және биполярлық жүйенің құлауына жауап ретінде дамыды.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3-баяндамашы — 10-слайд · Салыстырмалы кесте
Бұл кестеде алты мектеп кіріспеде аталған бес критерий бойынша салыстырылған.
Негізгі фактор бойынша: англо-американ мектебі үшін бұл — теңіз күші, неміс мектебі үшін — кеңістік пен ұлт, француз мектебі үшін — адам мен ортаның өзара әрекеті, еуразияшылдар үшін — мәдени-кеңістіктік бірлік, постбиполярлық мектеп үшін — өркениет және күш балансы, ал сыни геосаясат үшін — дискурс пен білім.
Мемлекет туралы көзқарас та әртүрлі: тірі организмнен бастап дискурс субъектісіне дейін. Саяси мақсаттарына қарасақ, классикалық мектептер өз мемлекетінің мүддесіне қызмет етсе, сыни геосаясат керісінше билік дискурсын сынауды мақсат етеді.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4-баяндамашы — 11-слайд · Теориялық спектр
Бұл слайдта мектептерді үш шкала бойынша орналастырдық. Бұл — біздің топтың авторлық бағалауы.
Бірінші шкала — детерминизм мен конструктивизм арасы. Неміс және англо-американ мектептері географияны шешуші фактор деп санайды, ал француз және сыни мектептер кеңістіктің мағынасын адам мен қоғам жасайды деп есептейді.
Екінші шкала — құрлыққа немесе теңізге бағдар. Еуразияшылдар мен неміс мектебі — құрлық жағында, англо-американ мектебі — теңіз жағында.
Үшінші шкала — теория кімге қызмет етеді. Классикалық мектептер көбіне ұлттық мүддеге қызмет етсе, сыни геосаясат — академиялық сын құралы.
Негізгі тұжырым: классикалық мектептер «кеңістік тағдырды анықтайды» десе, заманауи мектептер «кеңістіктің мағынасын адамдар мен дискурс жасайды» дейді.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5-баяндамашы — 12-слайд · Әдіснамалық талдау
Біздің пәніміз — зерттеу әдістері болғандықтан, мектептерді олар қолданатын әдістер бойынша да салыстырдық. Толық шеңбер — негізгі әдіс, бос шеңбер — қосымша әдіс.
Тарихи-салыстырмалы әдіс пен картографиялық модельдеу классикалық мектептерге тән: Маккиндер мен Хаусхофер үшін карта әрі дәлел, әрі насихат құралы болды. Органикалық және жүйелік тәсіл неміс мектебі мен Бжезинскийде басым. Аймақтық талдау — француз мектебінің ерекшелігі, өркениеттік тәсіл — еуразияшылдар мен Хантингтонның негізгі әдісі. Ал дискурс-талдау мен деконструкция — сыни геосаясаттың басты құралы.
Осылайша, әдіснама объективті «заңдылық» іздеуден аймақ пен өркениетті түсіндіруге, одан әрі дискурсты интерпретациялауға қарай дамыды.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6-баяндамашы — 13-слайд · Қорытынды
Жұмысымызды қорытындылайық.
Біріншіден, барлық мектептің ортақ өзегі — «кеңістік, билік және қауіпсіздік» байланысы.
Екіншіден, басты айырмашылық географияның рөлін бағалауда: неміс және англо-американ мектептерінің детерминизмінен француз поссибилизмі мен сыни конструктивизмге дейін.
Үшіншіден, әр мектеп өз елінің ұлттық мүддесі мен тарихи кезеңін бейнелейді: теория — уақыт пен орынның айнасы.
Төртіншіден, әдіснама картографиялық-тарихи «заңдардан» өркениеттік және дискурстық талдауға қарай дамыды.
Бесіншіден, бір оқиғаны бірнеше теориялық «линза» арқылы талдау әлемдік саясатты жан-жақты және сыни түсінуге мүмкіндік береді.
Қазақстан үшін бұл тақырыптың маңызы зор. Еліміз Хартлендтің жүрегінде орналасқан, сондықтан «Хартленд», «Римленд», «Еуразиялық Балқан» ұғымдарының бәрі бізге тікелей қатысты. Қазақстанның көпвекторлы сыртқы саясаты — ұлы державалардың шахмат тақтасындағы пешка емес, белсенді субъект болуға ұмтылыс.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6-баяндамашы — 14-слайд · Рахмет
Назарларыңызға рахмет! Слайдта жобаны дайындау кезінде пайдаланылған негізгі әдебиеттер берілген. Сұрақтарыңызға қуана жауап береміз.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50C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66780" y="2152680"/>
            <a:ext cx="7429500" cy="1638330"/>
          </a:xfrm>
          <a:prstGeom prst="rect">
            <a:avLst/>
          </a:prstGeom>
          <a:noFill/>
          <a:ln/>
        </p:spPr>
        <p:txBody>
          <a:bodyPr wrap="square" rtlCol="0"/>
          <a:lstStyle>
            <a:lvl1pPr indent="0" marL="0">
              <a:lnSpc>
                <a:spcPct val="92000"/>
              </a:lnSpc>
              <a:buNone/>
              <a:defRPr lang="en-US" sz="6000" b="1" dirty="0">
                <a:solidFill>
                  <a:schemeClr val="bg1"/>
                </a:solidFill>
              </a:defRPr>
            </a:lvl1pPr>
          </a:lstStyle>
          <a:p>
            <a:pPr indent="0" marL="0">
              <a:lnSpc>
                <a:spcPct val="92000"/>
              </a:lnSpc>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50C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33370" y="800100"/>
            <a:ext cx="11125230" cy="53337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0953780" y="6515100"/>
            <a:ext cx="7619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C9C2E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CHOOL">
    <p:bg>
      <p:bgPr>
        <a:solidFill>
          <a:srgbClr val="150C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33370" y="800100"/>
            <a:ext cx="5143500" cy="876270"/>
          </a:xfrm>
          <a:prstGeom prst="rect">
            <a:avLst/>
          </a:prstGeom>
          <a:noFill/>
          <a:ln/>
        </p:spPr>
        <p:txBody>
          <a:bodyPr wrap="square" rtlCol="0"/>
          <a:lstStyle>
            <a:lvl1pPr indent="0" marL="0">
              <a:lnSpc>
                <a:spcPct val="95000"/>
              </a:lnSpc>
              <a:buNone/>
              <a:defRPr lang="en-US" sz="2800" b="1" dirty="0">
                <a:solidFill>
                  <a:schemeClr val="bg1"/>
                </a:solidFill>
              </a:defRPr>
            </a:lvl1pPr>
          </a:lstStyle>
          <a:p>
            <a:pPr indent="0" marL="0">
              <a:lnSpc>
                <a:spcPct val="95000"/>
              </a:lnSpc>
              <a:buNone/>
            </a:pPr>
            <a:endParaRPr lang="en-US" sz="2800" dirty="0"/>
          </a:p>
        </p:txBody>
      </p:sp>
      <p:sp>
        <p:nvSpPr>
          <p:cNvPr id="25" name="Slide Number Placeholder 0"/>
          <p:cNvSpPr>
            <a:spLocks noGrp="1"/>
          </p:cNvSpPr>
          <p:nvPr>
            <p:ph type="sldNum" sz="quarter" idx="4294967295"/>
          </p:nvPr>
        </p:nvSpPr>
        <p:spPr>
          <a:xfrm>
            <a:off x="10953780" y="6515100"/>
            <a:ext cx="7619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C9C2E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3780" y="6515100"/>
            <a:ext cx="7619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C9C2E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jp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ph idx="100" type="title" hasCustomPrompt="1"/>
          </p:nvPr>
        </p:nvSpPr>
        <p:spPr>
          <a:xfrm>
            <a:off x="666780" y="2152680"/>
            <a:ext cx="7429500" cy="1638330"/>
          </a:xfrm>
          <a:prstGeom prst="rect">
            <a:avLst/>
          </a:prstGeom>
          <a:noFill/>
          <a:ln/>
        </p:spPr>
        <p:txBody>
          <a:bodyPr wrap="square" lIns="0" tIns="0" rIns="0" bIns="0" rtlCol="0" anchor="t"/>
          <a:lstStyle/>
          <a:p>
            <a:pPr algn="l" indent="0" marL="0">
              <a:lnSpc>
                <a:spcPct val="92000"/>
              </a:lnSpc>
              <a:buNone/>
            </a:pPr>
            <a:r>
              <a:rPr lang="en-US" sz="6000" b="1" dirty="0">
                <a:solidFill>
                  <a:schemeClr val="bg1"/>
                </a:solidFill>
              </a:rPr>
              <a:t>Геосаясат</a:t>
            </a:r>
            <a:endParaRPr lang="en-US" sz="6000" dirty="0"/>
          </a:p>
          <a:p>
            <a:pPr algn="l" indent="0" marL="0">
              <a:lnSpc>
                <a:spcPct val="92000"/>
              </a:lnSpc>
              <a:buNone/>
            </a:pPr>
            <a:r>
              <a:rPr lang="en-US" sz="6000" b="1" dirty="0">
                <a:solidFill>
                  <a:srgbClr val="FFD200"/>
                </a:solidFill>
              </a:rPr>
              <a:t>мектептері</a:t>
            </a:r>
            <a:endParaRPr lang="en-US" sz="6000" dirty="0"/>
          </a:p>
        </p:txBody>
      </p:sp>
      <p:sp>
        <p:nvSpPr>
          <p:cNvPr id="4" name="Text 1"/>
          <p:cNvSpPr/>
          <p:nvPr/>
        </p:nvSpPr>
        <p:spPr>
          <a:xfrm>
            <a:off x="666780" y="1676370"/>
            <a:ext cx="3943350" cy="342900"/>
          </a:xfrm>
          <a:prstGeom prst="roundRect">
            <a:avLst>
              <a:gd name="adj" fmla="val 50000"/>
            </a:avLst>
          </a:prstGeom>
          <a:solidFill>
            <a:schemeClr val="accent5"/>
          </a:solidFill>
          <a:ln/>
        </p:spPr>
        <p:txBody>
          <a:bodyPr wrap="square" lIns="0" tIns="0" rIns="0" bIns="0" rtlCol="0" anchor="ctr"/>
          <a:lstStyle/>
          <a:p>
            <a:pPr algn="ctr" indent="0" marL="0">
              <a:lnSpc>
                <a:spcPct val="100000"/>
              </a:lnSpc>
              <a:buNone/>
            </a:pPr>
            <a:r>
              <a:rPr lang="en-US" sz="1200" b="1" spc="150" kern="0" dirty="0">
                <a:solidFill>
                  <a:schemeClr val="bg1"/>
                </a:solidFill>
              </a:rPr>
              <a:t>ПӘН: ӘЛЕМДІК САЯСАТТЫ ЗЕРТТЕУ ӘДІСТЕРІ</a:t>
            </a:r>
            <a:endParaRPr lang="en-US" sz="1200" dirty="0"/>
          </a:p>
        </p:txBody>
      </p:sp>
      <p:sp>
        <p:nvSpPr>
          <p:cNvPr id="5" name="Text 2"/>
          <p:cNvSpPr txBox="1"/>
          <p:nvPr/>
        </p:nvSpPr>
        <p:spPr>
          <a:xfrm>
            <a:off x="666780" y="3848070"/>
            <a:ext cx="7239030" cy="381030"/>
          </a:xfrm>
          <a:prstGeom prst="rect">
            <a:avLst/>
          </a:prstGeom>
          <a:noFill/>
          <a:ln/>
        </p:spPr>
        <p:txBody>
          <a:bodyPr wrap="square" lIns="0" tIns="0" rIns="0" bIns="0" rtlCol="0" anchor="t"/>
          <a:lstStyle/>
          <a:p>
            <a:pPr algn="l" indent="0" marL="0">
              <a:lnSpc>
                <a:spcPct val="105000"/>
              </a:lnSpc>
              <a:buNone/>
            </a:pPr>
            <a:r>
              <a:rPr lang="en-US" sz="2600" b="1" dirty="0">
                <a:solidFill>
                  <a:srgbClr val="7FF3FF"/>
                </a:solidFill>
              </a:rPr>
              <a:t>теориялық салыстырмалы талдау</a:t>
            </a:r>
            <a:endParaRPr lang="en-US" sz="2600" dirty="0"/>
          </a:p>
        </p:txBody>
      </p:sp>
      <p:sp>
        <p:nvSpPr>
          <p:cNvPr id="6" name="Text 3"/>
          <p:cNvSpPr/>
          <p:nvPr/>
        </p:nvSpPr>
        <p:spPr>
          <a:xfrm>
            <a:off x="666780" y="4476720"/>
            <a:ext cx="1285921" cy="285750"/>
          </a:xfrm>
          <a:prstGeom prst="roundRect">
            <a:avLst>
              <a:gd name="adj" fmla="val 50000"/>
            </a:avLst>
          </a:prstGeom>
          <a:solidFill>
            <a:schemeClr val="accent1"/>
          </a:solidFill>
          <a:ln/>
        </p:spPr>
        <p:txBody>
          <a:bodyPr wrap="square" lIns="0" tIns="0" rIns="0" bIns="0" rtlCol="0" anchor="ctr"/>
          <a:lstStyle/>
          <a:p>
            <a:pPr algn="ctr" indent="0" marL="0">
              <a:lnSpc>
                <a:spcPct val="100000"/>
              </a:lnSpc>
              <a:buNone/>
            </a:pPr>
            <a:r>
              <a:rPr lang="en-US" sz="1100" b="1" dirty="0">
                <a:solidFill>
                  <a:schemeClr val="bg1"/>
                </a:solidFill>
              </a:rPr>
              <a:t>Англо-американ</a:t>
            </a:r>
            <a:endParaRPr lang="en-US" sz="1100" dirty="0"/>
          </a:p>
        </p:txBody>
      </p:sp>
      <p:sp>
        <p:nvSpPr>
          <p:cNvPr id="7" name="Text 4"/>
          <p:cNvSpPr/>
          <p:nvPr/>
        </p:nvSpPr>
        <p:spPr>
          <a:xfrm>
            <a:off x="2028871" y="4476720"/>
            <a:ext cx="638160" cy="285750"/>
          </a:xfrm>
          <a:prstGeom prst="roundRect">
            <a:avLst>
              <a:gd name="adj" fmla="val 50000"/>
            </a:avLst>
          </a:prstGeom>
          <a:solidFill>
            <a:schemeClr val="accent2"/>
          </a:solidFill>
          <a:ln/>
        </p:spPr>
        <p:txBody>
          <a:bodyPr wrap="square" lIns="0" tIns="0" rIns="0" bIns="0" rtlCol="0" anchor="ctr"/>
          <a:lstStyle/>
          <a:p>
            <a:pPr algn="ctr" indent="0" marL="0">
              <a:lnSpc>
                <a:spcPct val="100000"/>
              </a:lnSpc>
              <a:buNone/>
            </a:pPr>
            <a:r>
              <a:rPr lang="en-US" sz="1100" b="1" dirty="0">
                <a:solidFill>
                  <a:schemeClr val="bg1"/>
                </a:solidFill>
              </a:rPr>
              <a:t>Неміс</a:t>
            </a:r>
            <a:endParaRPr lang="en-US" sz="1100" dirty="0"/>
          </a:p>
        </p:txBody>
      </p:sp>
      <p:sp>
        <p:nvSpPr>
          <p:cNvPr id="8" name="Text 5"/>
          <p:cNvSpPr/>
          <p:nvPr/>
        </p:nvSpPr>
        <p:spPr>
          <a:xfrm>
            <a:off x="2743200" y="4476720"/>
            <a:ext cx="781080" cy="285750"/>
          </a:xfrm>
          <a:prstGeom prst="roundRect">
            <a:avLst>
              <a:gd name="adj" fmla="val 50000"/>
            </a:avLst>
          </a:prstGeom>
          <a:solidFill>
            <a:schemeClr val="accent3"/>
          </a:solidFill>
          <a:ln/>
        </p:spPr>
        <p:txBody>
          <a:bodyPr wrap="square" lIns="0" tIns="0" rIns="0" bIns="0" rtlCol="0" anchor="ctr"/>
          <a:lstStyle/>
          <a:p>
            <a:pPr algn="ctr" indent="0" marL="0">
              <a:lnSpc>
                <a:spcPct val="100000"/>
              </a:lnSpc>
              <a:buNone/>
            </a:pPr>
            <a:r>
              <a:rPr lang="en-US" sz="1100" b="1" dirty="0">
                <a:solidFill>
                  <a:schemeClr val="bg1"/>
                </a:solidFill>
              </a:rPr>
              <a:t>Француз</a:t>
            </a:r>
            <a:endParaRPr lang="en-US" sz="1100" dirty="0"/>
          </a:p>
        </p:txBody>
      </p:sp>
      <p:sp>
        <p:nvSpPr>
          <p:cNvPr id="9" name="Text 6"/>
          <p:cNvSpPr/>
          <p:nvPr/>
        </p:nvSpPr>
        <p:spPr>
          <a:xfrm>
            <a:off x="3600450" y="4476720"/>
            <a:ext cx="1000171" cy="285750"/>
          </a:xfrm>
          <a:prstGeom prst="roundRect">
            <a:avLst>
              <a:gd name="adj" fmla="val 50000"/>
            </a:avLst>
          </a:prstGeom>
          <a:solidFill>
            <a:schemeClr val="accent4"/>
          </a:solidFill>
          <a:ln/>
        </p:spPr>
        <p:txBody>
          <a:bodyPr wrap="square" lIns="0" tIns="0" rIns="0" bIns="0" rtlCol="0" anchor="ctr"/>
          <a:lstStyle/>
          <a:p>
            <a:pPr algn="ctr" indent="0" marL="0">
              <a:lnSpc>
                <a:spcPct val="100000"/>
              </a:lnSpc>
              <a:buNone/>
            </a:pPr>
            <a:r>
              <a:rPr lang="en-US" sz="1100" b="1" dirty="0">
                <a:solidFill>
                  <a:schemeClr val="bg1"/>
                </a:solidFill>
              </a:rPr>
              <a:t>Еуразиялық</a:t>
            </a:r>
            <a:endParaRPr lang="en-US" sz="1100" dirty="0"/>
          </a:p>
        </p:txBody>
      </p:sp>
      <p:sp>
        <p:nvSpPr>
          <p:cNvPr id="10" name="Text 7"/>
          <p:cNvSpPr/>
          <p:nvPr/>
        </p:nvSpPr>
        <p:spPr>
          <a:xfrm>
            <a:off x="4676790" y="4476720"/>
            <a:ext cx="1285921" cy="285750"/>
          </a:xfrm>
          <a:prstGeom prst="roundRect">
            <a:avLst>
              <a:gd name="adj" fmla="val 50000"/>
            </a:avLst>
          </a:prstGeom>
          <a:solidFill>
            <a:schemeClr val="accent5"/>
          </a:solidFill>
          <a:ln/>
        </p:spPr>
        <p:txBody>
          <a:bodyPr wrap="square" lIns="0" tIns="0" rIns="0" bIns="0" rtlCol="0" anchor="ctr"/>
          <a:lstStyle/>
          <a:p>
            <a:pPr algn="ctr" indent="0" marL="0">
              <a:lnSpc>
                <a:spcPct val="100000"/>
              </a:lnSpc>
              <a:buNone/>
            </a:pPr>
            <a:r>
              <a:rPr lang="en-US" sz="1100" b="1" dirty="0">
                <a:solidFill>
                  <a:schemeClr val="bg1"/>
                </a:solidFill>
              </a:rPr>
              <a:t>Постбиполярлық</a:t>
            </a:r>
            <a:endParaRPr lang="en-US" sz="1100" dirty="0"/>
          </a:p>
        </p:txBody>
      </p:sp>
      <p:sp>
        <p:nvSpPr>
          <p:cNvPr id="11" name="Text 8"/>
          <p:cNvSpPr/>
          <p:nvPr/>
        </p:nvSpPr>
        <p:spPr>
          <a:xfrm>
            <a:off x="6038880" y="4476720"/>
            <a:ext cx="571500" cy="285750"/>
          </a:xfrm>
          <a:prstGeom prst="roundRect">
            <a:avLst>
              <a:gd name="adj" fmla="val 50000"/>
            </a:avLst>
          </a:prstGeom>
          <a:solidFill>
            <a:schemeClr val="accent6"/>
          </a:solidFill>
          <a:ln/>
        </p:spPr>
        <p:txBody>
          <a:bodyPr wrap="square" lIns="0" tIns="0" rIns="0" bIns="0" rtlCol="0" anchor="ctr"/>
          <a:lstStyle/>
          <a:p>
            <a:pPr algn="ctr" indent="0" marL="0">
              <a:lnSpc>
                <a:spcPct val="100000"/>
              </a:lnSpc>
              <a:buNone/>
            </a:pPr>
            <a:r>
              <a:rPr lang="en-US" sz="1100" b="1" dirty="0">
                <a:solidFill>
                  <a:srgbClr val="2A1600"/>
                </a:solidFill>
              </a:rPr>
              <a:t>Сыни</a:t>
            </a:r>
            <a:endParaRPr lang="en-US" sz="1100" dirty="0"/>
          </a:p>
        </p:txBody>
      </p:sp>
      <p:sp>
        <p:nvSpPr>
          <p:cNvPr id="12" name="Text 9"/>
          <p:cNvSpPr txBox="1"/>
          <p:nvPr/>
        </p:nvSpPr>
        <p:spPr>
          <a:xfrm>
            <a:off x="666780" y="5048220"/>
            <a:ext cx="5715000" cy="247620"/>
          </a:xfrm>
          <a:prstGeom prst="rect">
            <a:avLst/>
          </a:prstGeom>
          <a:noFill/>
          <a:ln/>
        </p:spPr>
        <p:txBody>
          <a:bodyPr wrap="square" lIns="0" tIns="0" rIns="0" bIns="0" rtlCol="0" anchor="t"/>
          <a:lstStyle/>
          <a:p>
            <a:pPr algn="l" indent="0" marL="0">
              <a:lnSpc>
                <a:spcPct val="105000"/>
              </a:lnSpc>
              <a:buNone/>
            </a:pPr>
            <a:r>
              <a:rPr lang="en-US" sz="1500" dirty="0">
                <a:solidFill>
                  <a:srgbClr val="C9C2EC"/>
                </a:solidFill>
              </a:rPr>
              <a:t>Топтық жоба · 6 баяндамашы ·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33370" y="800100"/>
            <a:ext cx="11125230" cy="533370"/>
          </a:xfrm>
          <a:prstGeom prst="rect">
            <a:avLst/>
          </a:prstGeom>
          <a:noFill/>
          <a:ln/>
        </p:spPr>
        <p:txBody>
          <a:bodyPr wrap="square" lIns="0" tIns="0" rIns="0" bIns="0" rtlCol="0" anchor="t"/>
          <a:lstStyle/>
          <a:p>
            <a:pPr algn="l" indent="0" marL="0">
              <a:buNone/>
            </a:pPr>
            <a:r>
              <a:rPr lang="en-US" sz="3200" b="1" dirty="0">
                <a:solidFill>
                  <a:schemeClr val="bg1"/>
                </a:solidFill>
              </a:rPr>
              <a:t>Неліктен геосаясат?</a:t>
            </a:r>
            <a:endParaRPr lang="en-US" sz="3200" dirty="0"/>
          </a:p>
        </p:txBody>
      </p:sp>
      <p:sp>
        <p:nvSpPr>
          <p:cNvPr id="4" name="Tag"/>
          <p:cNvSpPr/>
          <p:nvPr/>
        </p:nvSpPr>
        <p:spPr>
          <a:xfrm>
            <a:off x="533370" y="419070"/>
            <a:ext cx="914400" cy="285750"/>
          </a:xfrm>
          <a:prstGeom prst="roundRect">
            <a:avLst>
              <a:gd name="adj" fmla="val 50000"/>
            </a:avLst>
          </a:prstGeom>
          <a:solidFill>
            <a:schemeClr val="accent1"/>
          </a:solidFill>
          <a:ln/>
        </p:spPr>
        <p:txBody>
          <a:bodyPr wrap="square" lIns="0" tIns="0" rIns="0" bIns="0" rtlCol="0" anchor="ctr"/>
          <a:lstStyle/>
          <a:p>
            <a:pPr algn="ctr" indent="0" marL="0">
              <a:lnSpc>
                <a:spcPct val="100000"/>
              </a:lnSpc>
              <a:buNone/>
            </a:pPr>
            <a:r>
              <a:rPr lang="en-US" sz="1100" b="1" spc="150" kern="0" dirty="0">
                <a:solidFill>
                  <a:schemeClr val="bg1"/>
                </a:solidFill>
              </a:rPr>
              <a:t>КІРІСПЕ</a:t>
            </a:r>
            <a:endParaRPr lang="en-US" sz="1100" dirty="0"/>
          </a:p>
        </p:txBody>
      </p:sp>
      <p:sp>
        <p:nvSpPr>
          <p:cNvPr id="5" name="Shape 2"/>
          <p:cNvSpPr/>
          <p:nvPr/>
        </p:nvSpPr>
        <p:spPr>
          <a:xfrm>
            <a:off x="533370" y="1485900"/>
            <a:ext cx="5981730" cy="952530"/>
          </a:xfrm>
          <a:prstGeom prst="roundRect">
            <a:avLst>
              <a:gd name="adj" fmla="val 13440"/>
            </a:avLst>
          </a:prstGeom>
          <a:solidFill>
            <a:srgbClr val="FFFFFF">
              <a:alpha val="8000"/>
            </a:srgbClr>
          </a:solidFill>
          <a:ln w="9525">
            <a:solidFill>
              <a:srgbClr val="FFFFFF">
                <a:alpha val="14000"/>
              </a:srgbClr>
            </a:solidFill>
            <a:prstDash val="solid"/>
          </a:ln>
        </p:spPr>
      </p:sp>
      <p:sp>
        <p:nvSpPr>
          <p:cNvPr id="6" name="Text 3"/>
          <p:cNvSpPr txBox="1"/>
          <p:nvPr/>
        </p:nvSpPr>
        <p:spPr>
          <a:xfrm>
            <a:off x="742950" y="1600200"/>
            <a:ext cx="5619720" cy="761970"/>
          </a:xfrm>
          <a:prstGeom prst="rect">
            <a:avLst/>
          </a:prstGeom>
          <a:noFill/>
          <a:ln/>
        </p:spPr>
        <p:txBody>
          <a:bodyPr wrap="square" lIns="0" tIns="0" rIns="0" bIns="0" rtlCol="0" anchor="t"/>
          <a:lstStyle/>
          <a:p>
            <a:pPr algn="l" indent="0" marL="0">
              <a:lnSpc>
                <a:spcPct val="110000"/>
              </a:lnSpc>
              <a:buNone/>
            </a:pPr>
            <a:r>
              <a:rPr lang="en-US" sz="1500" b="1" dirty="0">
                <a:solidFill>
                  <a:schemeClr val="bg1"/>
                </a:solidFill>
              </a:rPr>
              <a:t>Геосаясат</a:t>
            </a:r>
            <a:pPr algn="l" indent="0" marL="0">
              <a:lnSpc>
                <a:spcPct val="110000"/>
              </a:lnSpc>
              <a:buNone/>
            </a:pPr>
            <a:r>
              <a:rPr lang="en-US" sz="1500" dirty="0">
                <a:solidFill>
                  <a:schemeClr val="bg1"/>
                </a:solidFill>
              </a:rPr>
              <a:t> — географиялық кеңістік пен саяси билік арасындағы байланысты зерттейтін ғылым. Терминді 1899 жылы швед ғалымы </a:t>
            </a:r>
            <a:pPr algn="l" indent="0" marL="0">
              <a:lnSpc>
                <a:spcPct val="110000"/>
              </a:lnSpc>
              <a:buNone/>
            </a:pPr>
            <a:r>
              <a:rPr lang="en-US" sz="1500" b="1" dirty="0">
                <a:solidFill>
                  <a:schemeClr val="bg1"/>
                </a:solidFill>
              </a:rPr>
              <a:t>Рудольф Челлен</a:t>
            </a:r>
            <a:pPr algn="l" indent="0" marL="0">
              <a:lnSpc>
                <a:spcPct val="110000"/>
              </a:lnSpc>
              <a:buNone/>
            </a:pPr>
            <a:r>
              <a:rPr lang="en-US" sz="1500" dirty="0">
                <a:solidFill>
                  <a:schemeClr val="bg1"/>
                </a:solidFill>
              </a:rPr>
              <a:t> енгізген.</a:t>
            </a:r>
            <a:endParaRPr lang="en-US" sz="1500" dirty="0"/>
          </a:p>
        </p:txBody>
      </p:sp>
      <p:sp>
        <p:nvSpPr>
          <p:cNvPr id="7" name="Shape 4"/>
          <p:cNvSpPr/>
          <p:nvPr/>
        </p:nvSpPr>
        <p:spPr>
          <a:xfrm>
            <a:off x="533370" y="2590770"/>
            <a:ext cx="2914650" cy="1676370"/>
          </a:xfrm>
          <a:prstGeom prst="roundRect">
            <a:avLst>
              <a:gd name="adj" fmla="val 7637"/>
            </a:avLst>
          </a:prstGeom>
          <a:solidFill>
            <a:schemeClr val="accent5">
              <a:alpha val="28000"/>
            </a:schemeClr>
          </a:solidFill>
          <a:ln w="9525">
            <a:solidFill>
              <a:srgbClr val="FFFFFF">
                <a:alpha val="15000"/>
              </a:srgbClr>
            </a:solidFill>
            <a:prstDash val="solid"/>
          </a:ln>
        </p:spPr>
      </p:sp>
      <p:sp>
        <p:nvSpPr>
          <p:cNvPr id="8" name="Text 5"/>
          <p:cNvSpPr txBox="1"/>
          <p:nvPr/>
        </p:nvSpPr>
        <p:spPr>
          <a:xfrm>
            <a:off x="685800" y="2705070"/>
            <a:ext cx="381030" cy="304770"/>
          </a:xfrm>
          <a:prstGeom prst="rect">
            <a:avLst/>
          </a:prstGeom>
          <a:noFill/>
          <a:ln/>
        </p:spPr>
        <p:txBody>
          <a:bodyPr wrap="square" lIns="0" tIns="0" rIns="0" bIns="0" rtlCol="0" anchor="t"/>
          <a:lstStyle/>
          <a:p>
            <a:pPr algn="l" indent="0" marL="0">
              <a:lnSpc>
                <a:spcPct val="105000"/>
              </a:lnSpc>
              <a:buNone/>
            </a:pPr>
            <a:r>
              <a:rPr lang="en-US" sz="2200" dirty="0">
                <a:solidFill>
                  <a:schemeClr val="bg1"/>
                </a:solidFill>
              </a:rPr>
              <a:t>🎯</a:t>
            </a:r>
            <a:endParaRPr lang="en-US" sz="2200" dirty="0"/>
          </a:p>
        </p:txBody>
      </p:sp>
      <p:sp>
        <p:nvSpPr>
          <p:cNvPr id="9" name="Text 6"/>
          <p:cNvSpPr txBox="1"/>
          <p:nvPr/>
        </p:nvSpPr>
        <p:spPr>
          <a:xfrm>
            <a:off x="685800" y="3028950"/>
            <a:ext cx="2609880" cy="228600"/>
          </a:xfrm>
          <a:prstGeom prst="rect">
            <a:avLst/>
          </a:prstGeom>
          <a:noFill/>
          <a:ln/>
        </p:spPr>
        <p:txBody>
          <a:bodyPr wrap="square" lIns="0" tIns="0" rIns="0" bIns="0" rtlCol="0" anchor="t"/>
          <a:lstStyle/>
          <a:p>
            <a:pPr algn="l" indent="0" marL="0">
              <a:lnSpc>
                <a:spcPct val="105000"/>
              </a:lnSpc>
              <a:buNone/>
            </a:pPr>
            <a:r>
              <a:rPr lang="en-US" sz="1600" b="1" dirty="0">
                <a:solidFill>
                  <a:schemeClr val="bg1"/>
                </a:solidFill>
              </a:rPr>
              <a:t>Мақсат</a:t>
            </a:r>
            <a:endParaRPr lang="en-US" sz="1600" dirty="0"/>
          </a:p>
        </p:txBody>
      </p:sp>
      <p:sp>
        <p:nvSpPr>
          <p:cNvPr id="10" name="Text 7"/>
          <p:cNvSpPr txBox="1"/>
          <p:nvPr/>
        </p:nvSpPr>
        <p:spPr>
          <a:xfrm>
            <a:off x="685800" y="3276570"/>
            <a:ext cx="2628900" cy="914400"/>
          </a:xfrm>
          <a:prstGeom prst="rect">
            <a:avLst/>
          </a:prstGeom>
          <a:noFill/>
          <a:ln/>
        </p:spPr>
        <p:txBody>
          <a:bodyPr wrap="square" lIns="0" tIns="0" rIns="0" bIns="0" rtlCol="0" anchor="t"/>
          <a:lstStyle/>
          <a:p>
            <a:pPr algn="l" indent="0" marL="0">
              <a:lnSpc>
                <a:spcPct val="108000"/>
              </a:lnSpc>
              <a:buNone/>
            </a:pPr>
            <a:r>
              <a:rPr lang="en-US" sz="1300" dirty="0">
                <a:solidFill>
                  <a:schemeClr val="bg1"/>
                </a:solidFill>
              </a:rPr>
              <a:t>Негізгі 6 геосаясат мектебінің теориялық негіздерін салыстырып, ұқсастықтары мен айырмашылықтарын анықтау</a:t>
            </a:r>
            <a:endParaRPr lang="en-US" sz="1300" dirty="0"/>
          </a:p>
        </p:txBody>
      </p:sp>
      <p:sp>
        <p:nvSpPr>
          <p:cNvPr id="11" name="Shape 8"/>
          <p:cNvSpPr/>
          <p:nvPr/>
        </p:nvSpPr>
        <p:spPr>
          <a:xfrm>
            <a:off x="3600450" y="2590770"/>
            <a:ext cx="2914650" cy="1676370"/>
          </a:xfrm>
          <a:prstGeom prst="roundRect">
            <a:avLst>
              <a:gd name="adj" fmla="val 7637"/>
            </a:avLst>
          </a:prstGeom>
          <a:solidFill>
            <a:schemeClr val="accent3">
              <a:alpha val="28000"/>
            </a:schemeClr>
          </a:solidFill>
          <a:ln w="9525">
            <a:solidFill>
              <a:srgbClr val="FFFFFF">
                <a:alpha val="15000"/>
              </a:srgbClr>
            </a:solidFill>
            <a:prstDash val="solid"/>
          </a:ln>
        </p:spPr>
      </p:sp>
      <p:sp>
        <p:nvSpPr>
          <p:cNvPr id="12" name="Text 9"/>
          <p:cNvSpPr txBox="1"/>
          <p:nvPr/>
        </p:nvSpPr>
        <p:spPr>
          <a:xfrm>
            <a:off x="3752880" y="2705070"/>
            <a:ext cx="381030" cy="304770"/>
          </a:xfrm>
          <a:prstGeom prst="rect">
            <a:avLst/>
          </a:prstGeom>
          <a:noFill/>
          <a:ln/>
        </p:spPr>
        <p:txBody>
          <a:bodyPr wrap="square" lIns="0" tIns="0" rIns="0" bIns="0" rtlCol="0" anchor="t"/>
          <a:lstStyle/>
          <a:p>
            <a:pPr algn="l" indent="0" marL="0">
              <a:lnSpc>
                <a:spcPct val="105000"/>
              </a:lnSpc>
              <a:buNone/>
            </a:pPr>
            <a:r>
              <a:rPr lang="en-US" sz="2200" dirty="0">
                <a:solidFill>
                  <a:schemeClr val="bg1"/>
                </a:solidFill>
              </a:rPr>
              <a:t>🔥</a:t>
            </a:r>
            <a:endParaRPr lang="en-US" sz="2200" dirty="0"/>
          </a:p>
        </p:txBody>
      </p:sp>
      <p:sp>
        <p:nvSpPr>
          <p:cNvPr id="13" name="Text 10"/>
          <p:cNvSpPr txBox="1"/>
          <p:nvPr/>
        </p:nvSpPr>
        <p:spPr>
          <a:xfrm>
            <a:off x="3752880" y="3028950"/>
            <a:ext cx="2609880" cy="228600"/>
          </a:xfrm>
          <a:prstGeom prst="rect">
            <a:avLst/>
          </a:prstGeom>
          <a:noFill/>
          <a:ln/>
        </p:spPr>
        <p:txBody>
          <a:bodyPr wrap="square" lIns="0" tIns="0" rIns="0" bIns="0" rtlCol="0" anchor="t"/>
          <a:lstStyle/>
          <a:p>
            <a:pPr algn="l" indent="0" marL="0">
              <a:lnSpc>
                <a:spcPct val="105000"/>
              </a:lnSpc>
              <a:buNone/>
            </a:pPr>
            <a:r>
              <a:rPr lang="en-US" sz="1600" b="1" dirty="0">
                <a:solidFill>
                  <a:schemeClr val="bg1"/>
                </a:solidFill>
              </a:rPr>
              <a:t>Өзектілік</a:t>
            </a:r>
            <a:endParaRPr lang="en-US" sz="1600" dirty="0"/>
          </a:p>
        </p:txBody>
      </p:sp>
      <p:sp>
        <p:nvSpPr>
          <p:cNvPr id="14" name="Text 11"/>
          <p:cNvSpPr txBox="1"/>
          <p:nvPr/>
        </p:nvSpPr>
        <p:spPr>
          <a:xfrm>
            <a:off x="3752880" y="3276570"/>
            <a:ext cx="2628900" cy="914400"/>
          </a:xfrm>
          <a:prstGeom prst="rect">
            <a:avLst/>
          </a:prstGeom>
          <a:noFill/>
          <a:ln/>
        </p:spPr>
        <p:txBody>
          <a:bodyPr wrap="square" lIns="0" tIns="0" rIns="0" bIns="0" rtlCol="0" anchor="t"/>
          <a:lstStyle/>
          <a:p>
            <a:pPr algn="l" indent="0" marL="0">
              <a:lnSpc>
                <a:spcPct val="108000"/>
              </a:lnSpc>
              <a:buNone/>
            </a:pPr>
            <a:r>
              <a:rPr lang="en-US" sz="1300" dirty="0">
                <a:solidFill>
                  <a:schemeClr val="bg1"/>
                </a:solidFill>
              </a:rPr>
              <a:t>Ресурстар, көлік дәліздері, ұлы державалар бәсекесі — XXI ғасырда кеңістік факторы қайта күшейді</a:t>
            </a:r>
            <a:endParaRPr lang="en-US" sz="1300" dirty="0"/>
          </a:p>
        </p:txBody>
      </p:sp>
      <p:sp>
        <p:nvSpPr>
          <p:cNvPr id="15" name="Shape 12"/>
          <p:cNvSpPr/>
          <p:nvPr/>
        </p:nvSpPr>
        <p:spPr>
          <a:xfrm>
            <a:off x="533370" y="4419570"/>
            <a:ext cx="5981730" cy="1181130"/>
          </a:xfrm>
          <a:prstGeom prst="roundRect">
            <a:avLst>
              <a:gd name="adj" fmla="val 10838"/>
            </a:avLst>
          </a:prstGeom>
          <a:solidFill>
            <a:srgbClr val="FFFFFF">
              <a:alpha val="6000"/>
            </a:srgbClr>
          </a:solidFill>
          <a:ln w="9525">
            <a:solidFill>
              <a:srgbClr val="FFFFFF">
                <a:alpha val="14000"/>
              </a:srgbClr>
            </a:solidFill>
            <a:prstDash val="solid"/>
          </a:ln>
        </p:spPr>
      </p:sp>
      <p:sp>
        <p:nvSpPr>
          <p:cNvPr id="16" name="Text 13"/>
          <p:cNvSpPr txBox="1"/>
          <p:nvPr/>
        </p:nvSpPr>
        <p:spPr>
          <a:xfrm>
            <a:off x="723930" y="4533870"/>
            <a:ext cx="3810030" cy="209580"/>
          </a:xfrm>
          <a:prstGeom prst="rect">
            <a:avLst/>
          </a:prstGeom>
          <a:noFill/>
          <a:ln/>
        </p:spPr>
        <p:txBody>
          <a:bodyPr wrap="square" lIns="0" tIns="0" rIns="0" bIns="0" rtlCol="0" anchor="t"/>
          <a:lstStyle/>
          <a:p>
            <a:pPr algn="l" indent="0" marL="0">
              <a:lnSpc>
                <a:spcPct val="105000"/>
              </a:lnSpc>
              <a:buNone/>
            </a:pPr>
            <a:r>
              <a:rPr lang="en-US" sz="1200" b="1" spc="100" kern="0" dirty="0">
                <a:solidFill>
                  <a:srgbClr val="FFD200"/>
                </a:solidFill>
              </a:rPr>
              <a:t>ЗЕРТТЕУ ӘДІСТЕРІ</a:t>
            </a:r>
            <a:endParaRPr lang="en-US" sz="1200" dirty="0"/>
          </a:p>
        </p:txBody>
      </p:sp>
      <p:sp>
        <p:nvSpPr>
          <p:cNvPr id="17" name="Text 14"/>
          <p:cNvSpPr/>
          <p:nvPr/>
        </p:nvSpPr>
        <p:spPr>
          <a:xfrm>
            <a:off x="723930" y="4819620"/>
            <a:ext cx="1943100" cy="285750"/>
          </a:xfrm>
          <a:prstGeom prst="roundRect">
            <a:avLst>
              <a:gd name="adj" fmla="val 50000"/>
            </a:avLst>
          </a:prstGeom>
          <a:solidFill>
            <a:srgbClr val="FFFFFF">
              <a:alpha val="14000"/>
            </a:srgbClr>
          </a:solidFill>
          <a:ln/>
        </p:spPr>
        <p:txBody>
          <a:bodyPr wrap="square" lIns="0" tIns="0" rIns="0" bIns="0" rtlCol="0" anchor="ctr"/>
          <a:lstStyle/>
          <a:p>
            <a:pPr algn="ctr" indent="0" marL="0">
              <a:lnSpc>
                <a:spcPct val="100000"/>
              </a:lnSpc>
              <a:buNone/>
            </a:pPr>
            <a:r>
              <a:rPr lang="en-US" sz="1200" dirty="0">
                <a:solidFill>
                  <a:schemeClr val="bg1"/>
                </a:solidFill>
              </a:rPr>
              <a:t>⚖️ салыстырмалы талдау</a:t>
            </a:r>
            <a:endParaRPr lang="en-US" sz="1200" dirty="0"/>
          </a:p>
        </p:txBody>
      </p:sp>
      <p:sp>
        <p:nvSpPr>
          <p:cNvPr id="18" name="Text 15"/>
          <p:cNvSpPr/>
          <p:nvPr/>
        </p:nvSpPr>
        <p:spPr>
          <a:xfrm>
            <a:off x="2743200" y="4819620"/>
            <a:ext cx="1857421" cy="285750"/>
          </a:xfrm>
          <a:prstGeom prst="roundRect">
            <a:avLst>
              <a:gd name="adj" fmla="val 50000"/>
            </a:avLst>
          </a:prstGeom>
          <a:solidFill>
            <a:srgbClr val="FFFFFF">
              <a:alpha val="14000"/>
            </a:srgbClr>
          </a:solidFill>
          <a:ln/>
        </p:spPr>
        <p:txBody>
          <a:bodyPr wrap="square" lIns="0" tIns="0" rIns="0" bIns="0" rtlCol="0" anchor="ctr"/>
          <a:lstStyle/>
          <a:p>
            <a:pPr algn="ctr" indent="0" marL="0">
              <a:lnSpc>
                <a:spcPct val="100000"/>
              </a:lnSpc>
              <a:buNone/>
            </a:pPr>
            <a:r>
              <a:rPr lang="en-US" sz="1200" dirty="0">
                <a:solidFill>
                  <a:schemeClr val="bg1"/>
                </a:solidFill>
              </a:rPr>
              <a:t>📜 тарихи-генетикалық</a:t>
            </a:r>
            <a:endParaRPr lang="en-US" sz="1200" dirty="0"/>
          </a:p>
        </p:txBody>
      </p:sp>
      <p:sp>
        <p:nvSpPr>
          <p:cNvPr id="19" name="Text 16"/>
          <p:cNvSpPr/>
          <p:nvPr/>
        </p:nvSpPr>
        <p:spPr>
          <a:xfrm>
            <a:off x="4676790" y="4819620"/>
            <a:ext cx="1628821" cy="285750"/>
          </a:xfrm>
          <a:prstGeom prst="roundRect">
            <a:avLst>
              <a:gd name="adj" fmla="val 50000"/>
            </a:avLst>
          </a:prstGeom>
          <a:solidFill>
            <a:srgbClr val="FFFFFF">
              <a:alpha val="14000"/>
            </a:srgbClr>
          </a:solidFill>
          <a:ln/>
        </p:spPr>
        <p:txBody>
          <a:bodyPr wrap="square" lIns="0" tIns="0" rIns="0" bIns="0" rtlCol="0" anchor="ctr"/>
          <a:lstStyle/>
          <a:p>
            <a:pPr algn="ctr" indent="0" marL="0">
              <a:lnSpc>
                <a:spcPct val="100000"/>
              </a:lnSpc>
              <a:buNone/>
            </a:pPr>
            <a:r>
              <a:rPr lang="en-US" sz="1200" dirty="0">
                <a:solidFill>
                  <a:schemeClr val="bg1"/>
                </a:solidFill>
              </a:rPr>
              <a:t>🗺️ картографиялық</a:t>
            </a:r>
            <a:endParaRPr lang="en-US" sz="1200" dirty="0"/>
          </a:p>
        </p:txBody>
      </p:sp>
      <p:sp>
        <p:nvSpPr>
          <p:cNvPr id="20" name="Text 17"/>
          <p:cNvSpPr/>
          <p:nvPr/>
        </p:nvSpPr>
        <p:spPr>
          <a:xfrm>
            <a:off x="723930" y="5181630"/>
            <a:ext cx="1552560" cy="285750"/>
          </a:xfrm>
          <a:prstGeom prst="roundRect">
            <a:avLst>
              <a:gd name="adj" fmla="val 50000"/>
            </a:avLst>
          </a:prstGeom>
          <a:solidFill>
            <a:srgbClr val="FFFFFF">
              <a:alpha val="14000"/>
            </a:srgbClr>
          </a:solidFill>
          <a:ln/>
        </p:spPr>
        <p:txBody>
          <a:bodyPr wrap="square" lIns="0" tIns="0" rIns="0" bIns="0" rtlCol="0" anchor="ctr"/>
          <a:lstStyle/>
          <a:p>
            <a:pPr algn="ctr" indent="0" marL="0">
              <a:lnSpc>
                <a:spcPct val="100000"/>
              </a:lnSpc>
              <a:buNone/>
            </a:pPr>
            <a:r>
              <a:rPr lang="en-US" sz="1200" dirty="0">
                <a:solidFill>
                  <a:schemeClr val="bg1"/>
                </a:solidFill>
              </a:rPr>
              <a:t>💬 дискурс-талдау</a:t>
            </a:r>
            <a:endParaRPr lang="en-US" sz="1200" dirty="0"/>
          </a:p>
        </p:txBody>
      </p:sp>
      <p:sp>
        <p:nvSpPr>
          <p:cNvPr id="21" name="Text 18"/>
          <p:cNvSpPr/>
          <p:nvPr/>
        </p:nvSpPr>
        <p:spPr>
          <a:xfrm>
            <a:off x="2352660" y="5181630"/>
            <a:ext cx="1476390" cy="285750"/>
          </a:xfrm>
          <a:prstGeom prst="roundRect">
            <a:avLst>
              <a:gd name="adj" fmla="val 50000"/>
            </a:avLst>
          </a:prstGeom>
          <a:solidFill>
            <a:srgbClr val="FFFFFF">
              <a:alpha val="14000"/>
            </a:srgbClr>
          </a:solidFill>
          <a:ln/>
        </p:spPr>
        <p:txBody>
          <a:bodyPr wrap="square" lIns="0" tIns="0" rIns="0" bIns="0" rtlCol="0" anchor="ctr"/>
          <a:lstStyle/>
          <a:p>
            <a:pPr algn="ctr" indent="0" marL="0">
              <a:lnSpc>
                <a:spcPct val="100000"/>
              </a:lnSpc>
              <a:buNone/>
            </a:pPr>
            <a:r>
              <a:rPr lang="en-US" sz="1200" dirty="0">
                <a:solidFill>
                  <a:schemeClr val="bg1"/>
                </a:solidFill>
              </a:rPr>
              <a:t>🧩 жүйелік тәсіл</a:t>
            </a:r>
            <a:endParaRPr lang="en-US" sz="1200" dirty="0"/>
          </a:p>
        </p:txBody>
      </p:sp>
      <p:sp>
        <p:nvSpPr>
          <p:cNvPr id="22" name="Shape 19"/>
          <p:cNvSpPr/>
          <p:nvPr/>
        </p:nvSpPr>
        <p:spPr>
          <a:xfrm>
            <a:off x="6858000" y="1485900"/>
            <a:ext cx="4800600" cy="4114800"/>
          </a:xfrm>
          <a:prstGeom prst="roundRect">
            <a:avLst>
              <a:gd name="adj" fmla="val 3111"/>
            </a:avLst>
          </a:prstGeom>
          <a:solidFill>
            <a:srgbClr val="FFFFFF">
              <a:alpha val="8000"/>
            </a:srgbClr>
          </a:solidFill>
          <a:ln w="9525">
            <a:solidFill>
              <a:srgbClr val="FFFFFF">
                <a:alpha val="14000"/>
              </a:srgbClr>
            </a:solidFill>
            <a:prstDash val="solid"/>
          </a:ln>
        </p:spPr>
      </p:sp>
      <p:sp>
        <p:nvSpPr>
          <p:cNvPr id="23" name="Text 20"/>
          <p:cNvSpPr txBox="1"/>
          <p:nvPr/>
        </p:nvSpPr>
        <p:spPr>
          <a:xfrm>
            <a:off x="7086600" y="1676370"/>
            <a:ext cx="4190970" cy="209580"/>
          </a:xfrm>
          <a:prstGeom prst="rect">
            <a:avLst/>
          </a:prstGeom>
          <a:noFill/>
          <a:ln/>
        </p:spPr>
        <p:txBody>
          <a:bodyPr wrap="square" lIns="0" tIns="0" rIns="0" bIns="0" rtlCol="0" anchor="t"/>
          <a:lstStyle/>
          <a:p>
            <a:pPr algn="l" indent="0" marL="0">
              <a:lnSpc>
                <a:spcPct val="105000"/>
              </a:lnSpc>
              <a:buNone/>
            </a:pPr>
            <a:r>
              <a:rPr lang="en-US" sz="1200" b="1" spc="100" kern="0" dirty="0">
                <a:solidFill>
                  <a:srgbClr val="FFD200"/>
                </a:solidFill>
              </a:rPr>
              <a:t>САЛЫСТЫРУ КРИТЕРИЙЛЕРІ</a:t>
            </a:r>
            <a:endParaRPr lang="en-US" sz="1200" dirty="0"/>
          </a:p>
        </p:txBody>
      </p:sp>
      <p:sp>
        <p:nvSpPr>
          <p:cNvPr id="24" name="Text 21"/>
          <p:cNvSpPr/>
          <p:nvPr/>
        </p:nvSpPr>
        <p:spPr>
          <a:xfrm>
            <a:off x="7086600" y="2019270"/>
            <a:ext cx="304770" cy="304770"/>
          </a:xfrm>
          <a:prstGeom prst="ellipse">
            <a:avLst/>
          </a:prstGeom>
          <a:solidFill>
            <a:schemeClr val="accent1"/>
          </a:solidFill>
          <a:ln/>
        </p:spPr>
        <p:txBody>
          <a:bodyPr wrap="square" lIns="0" tIns="0" rIns="0" bIns="0" rtlCol="0" anchor="ctr"/>
          <a:lstStyle/>
          <a:p>
            <a:pPr algn="ctr" indent="0" marL="0">
              <a:lnSpc>
                <a:spcPct val="100000"/>
              </a:lnSpc>
              <a:buNone/>
            </a:pPr>
            <a:r>
              <a:rPr lang="en-US" sz="1400" b="1" dirty="0">
                <a:solidFill>
                  <a:schemeClr val="bg1"/>
                </a:solidFill>
              </a:rPr>
              <a:t>1</a:t>
            </a:r>
            <a:endParaRPr lang="en-US" sz="1400" dirty="0"/>
          </a:p>
        </p:txBody>
      </p:sp>
      <p:sp>
        <p:nvSpPr>
          <p:cNvPr id="25" name="Text 22"/>
          <p:cNvSpPr txBox="1"/>
          <p:nvPr/>
        </p:nvSpPr>
        <p:spPr>
          <a:xfrm>
            <a:off x="7524780" y="2019270"/>
            <a:ext cx="3810030" cy="304770"/>
          </a:xfrm>
          <a:prstGeom prst="rect">
            <a:avLst/>
          </a:prstGeom>
          <a:noFill/>
          <a:ln/>
        </p:spPr>
        <p:txBody>
          <a:bodyPr wrap="square" lIns="0" tIns="0" rIns="0" bIns="0" rtlCol="0" anchor="ctr"/>
          <a:lstStyle/>
          <a:p>
            <a:pPr algn="l" indent="0" marL="0">
              <a:lnSpc>
                <a:spcPct val="105000"/>
              </a:lnSpc>
              <a:buNone/>
            </a:pPr>
            <a:r>
              <a:rPr lang="en-US" sz="1600" b="1" dirty="0">
                <a:solidFill>
                  <a:schemeClr val="bg1"/>
                </a:solidFill>
              </a:rPr>
              <a:t>Негізгі фактор</a:t>
            </a:r>
            <a:endParaRPr lang="en-US" sz="1600" dirty="0"/>
          </a:p>
        </p:txBody>
      </p:sp>
      <p:sp>
        <p:nvSpPr>
          <p:cNvPr id="26" name="Text 23"/>
          <p:cNvSpPr/>
          <p:nvPr/>
        </p:nvSpPr>
        <p:spPr>
          <a:xfrm>
            <a:off x="7086600" y="2419320"/>
            <a:ext cx="304770" cy="304770"/>
          </a:xfrm>
          <a:prstGeom prst="ellipse">
            <a:avLst/>
          </a:prstGeom>
          <a:solidFill>
            <a:schemeClr val="accent2"/>
          </a:solidFill>
          <a:ln/>
        </p:spPr>
        <p:txBody>
          <a:bodyPr wrap="square" lIns="0" tIns="0" rIns="0" bIns="0" rtlCol="0" anchor="ctr"/>
          <a:lstStyle/>
          <a:p>
            <a:pPr algn="ctr" indent="0" marL="0">
              <a:lnSpc>
                <a:spcPct val="100000"/>
              </a:lnSpc>
              <a:buNone/>
            </a:pPr>
            <a:r>
              <a:rPr lang="en-US" sz="1400" b="1" dirty="0">
                <a:solidFill>
                  <a:schemeClr val="bg1"/>
                </a:solidFill>
              </a:rPr>
              <a:t>2</a:t>
            </a:r>
            <a:endParaRPr lang="en-US" sz="1400" dirty="0"/>
          </a:p>
        </p:txBody>
      </p:sp>
      <p:sp>
        <p:nvSpPr>
          <p:cNvPr id="27" name="Text 24"/>
          <p:cNvSpPr txBox="1"/>
          <p:nvPr/>
        </p:nvSpPr>
        <p:spPr>
          <a:xfrm>
            <a:off x="7524780" y="2419320"/>
            <a:ext cx="3810030" cy="304770"/>
          </a:xfrm>
          <a:prstGeom prst="rect">
            <a:avLst/>
          </a:prstGeom>
          <a:noFill/>
          <a:ln/>
        </p:spPr>
        <p:txBody>
          <a:bodyPr wrap="square" lIns="0" tIns="0" rIns="0" bIns="0" rtlCol="0" anchor="ctr"/>
          <a:lstStyle/>
          <a:p>
            <a:pPr algn="l" indent="0" marL="0">
              <a:lnSpc>
                <a:spcPct val="105000"/>
              </a:lnSpc>
              <a:buNone/>
            </a:pPr>
            <a:r>
              <a:rPr lang="en-US" sz="1600" b="1" dirty="0">
                <a:solidFill>
                  <a:schemeClr val="bg1"/>
                </a:solidFill>
              </a:rPr>
              <a:t>Кеңістік түсінігі</a:t>
            </a:r>
            <a:endParaRPr lang="en-US" sz="1600" dirty="0"/>
          </a:p>
        </p:txBody>
      </p:sp>
      <p:sp>
        <p:nvSpPr>
          <p:cNvPr id="28" name="Text 25"/>
          <p:cNvSpPr/>
          <p:nvPr/>
        </p:nvSpPr>
        <p:spPr>
          <a:xfrm>
            <a:off x="7086600" y="2819370"/>
            <a:ext cx="304770" cy="304770"/>
          </a:xfrm>
          <a:prstGeom prst="ellipse">
            <a:avLst/>
          </a:prstGeom>
          <a:solidFill>
            <a:schemeClr val="accent3"/>
          </a:solidFill>
          <a:ln/>
        </p:spPr>
        <p:txBody>
          <a:bodyPr wrap="square" lIns="0" tIns="0" rIns="0" bIns="0" rtlCol="0" anchor="ctr"/>
          <a:lstStyle/>
          <a:p>
            <a:pPr algn="ctr" indent="0" marL="0">
              <a:lnSpc>
                <a:spcPct val="100000"/>
              </a:lnSpc>
              <a:buNone/>
            </a:pPr>
            <a:r>
              <a:rPr lang="en-US" sz="1400" b="1" dirty="0">
                <a:solidFill>
                  <a:schemeClr val="bg1"/>
                </a:solidFill>
              </a:rPr>
              <a:t>3</a:t>
            </a:r>
            <a:endParaRPr lang="en-US" sz="1400" dirty="0"/>
          </a:p>
        </p:txBody>
      </p:sp>
      <p:sp>
        <p:nvSpPr>
          <p:cNvPr id="29" name="Text 26"/>
          <p:cNvSpPr txBox="1"/>
          <p:nvPr/>
        </p:nvSpPr>
        <p:spPr>
          <a:xfrm>
            <a:off x="7524780" y="2819370"/>
            <a:ext cx="3810030" cy="304770"/>
          </a:xfrm>
          <a:prstGeom prst="rect">
            <a:avLst/>
          </a:prstGeom>
          <a:noFill/>
          <a:ln/>
        </p:spPr>
        <p:txBody>
          <a:bodyPr wrap="square" lIns="0" tIns="0" rIns="0" bIns="0" rtlCol="0" anchor="ctr"/>
          <a:lstStyle/>
          <a:p>
            <a:pPr algn="l" indent="0" marL="0">
              <a:lnSpc>
                <a:spcPct val="105000"/>
              </a:lnSpc>
              <a:buNone/>
            </a:pPr>
            <a:r>
              <a:rPr lang="en-US" sz="1600" b="1" dirty="0">
                <a:solidFill>
                  <a:schemeClr val="bg1"/>
                </a:solidFill>
              </a:rPr>
              <a:t>Мемлекет туралы көзқарас</a:t>
            </a:r>
            <a:endParaRPr lang="en-US" sz="1600" dirty="0"/>
          </a:p>
        </p:txBody>
      </p:sp>
      <p:sp>
        <p:nvSpPr>
          <p:cNvPr id="30" name="Text 27"/>
          <p:cNvSpPr/>
          <p:nvPr/>
        </p:nvSpPr>
        <p:spPr>
          <a:xfrm>
            <a:off x="7086600" y="3219420"/>
            <a:ext cx="304770" cy="304770"/>
          </a:xfrm>
          <a:prstGeom prst="ellipse">
            <a:avLst/>
          </a:prstGeom>
          <a:solidFill>
            <a:schemeClr val="accent4"/>
          </a:solidFill>
          <a:ln/>
        </p:spPr>
        <p:txBody>
          <a:bodyPr wrap="square" lIns="0" tIns="0" rIns="0" bIns="0" rtlCol="0" anchor="ctr"/>
          <a:lstStyle/>
          <a:p>
            <a:pPr algn="ctr" indent="0" marL="0">
              <a:lnSpc>
                <a:spcPct val="100000"/>
              </a:lnSpc>
              <a:buNone/>
            </a:pPr>
            <a:r>
              <a:rPr lang="en-US" sz="1400" b="1" dirty="0">
                <a:solidFill>
                  <a:schemeClr val="bg1"/>
                </a:solidFill>
              </a:rPr>
              <a:t>4</a:t>
            </a:r>
            <a:endParaRPr lang="en-US" sz="1400" dirty="0"/>
          </a:p>
        </p:txBody>
      </p:sp>
      <p:sp>
        <p:nvSpPr>
          <p:cNvPr id="31" name="Text 28"/>
          <p:cNvSpPr txBox="1"/>
          <p:nvPr/>
        </p:nvSpPr>
        <p:spPr>
          <a:xfrm>
            <a:off x="7524780" y="3219420"/>
            <a:ext cx="3810030" cy="304770"/>
          </a:xfrm>
          <a:prstGeom prst="rect">
            <a:avLst/>
          </a:prstGeom>
          <a:noFill/>
          <a:ln/>
        </p:spPr>
        <p:txBody>
          <a:bodyPr wrap="square" lIns="0" tIns="0" rIns="0" bIns="0" rtlCol="0" anchor="ctr"/>
          <a:lstStyle/>
          <a:p>
            <a:pPr algn="l" indent="0" marL="0">
              <a:lnSpc>
                <a:spcPct val="105000"/>
              </a:lnSpc>
              <a:buNone/>
            </a:pPr>
            <a:r>
              <a:rPr lang="en-US" sz="1600" b="1" dirty="0">
                <a:solidFill>
                  <a:schemeClr val="bg1"/>
                </a:solidFill>
              </a:rPr>
              <a:t>Әдіснама</a:t>
            </a:r>
            <a:endParaRPr lang="en-US" sz="1600" dirty="0"/>
          </a:p>
        </p:txBody>
      </p:sp>
      <p:sp>
        <p:nvSpPr>
          <p:cNvPr id="32" name="Text 29"/>
          <p:cNvSpPr/>
          <p:nvPr/>
        </p:nvSpPr>
        <p:spPr>
          <a:xfrm>
            <a:off x="7086600" y="3619470"/>
            <a:ext cx="304770" cy="304770"/>
          </a:xfrm>
          <a:prstGeom prst="ellipse">
            <a:avLst/>
          </a:prstGeom>
          <a:solidFill>
            <a:schemeClr val="accent5"/>
          </a:solidFill>
          <a:ln/>
        </p:spPr>
        <p:txBody>
          <a:bodyPr wrap="square" lIns="0" tIns="0" rIns="0" bIns="0" rtlCol="0" anchor="ctr"/>
          <a:lstStyle/>
          <a:p>
            <a:pPr algn="ctr" indent="0" marL="0">
              <a:lnSpc>
                <a:spcPct val="100000"/>
              </a:lnSpc>
              <a:buNone/>
            </a:pPr>
            <a:r>
              <a:rPr lang="en-US" sz="1400" b="1" dirty="0">
                <a:solidFill>
                  <a:schemeClr val="bg1"/>
                </a:solidFill>
              </a:rPr>
              <a:t>5</a:t>
            </a:r>
            <a:endParaRPr lang="en-US" sz="1400" dirty="0"/>
          </a:p>
        </p:txBody>
      </p:sp>
      <p:sp>
        <p:nvSpPr>
          <p:cNvPr id="33" name="Text 30"/>
          <p:cNvSpPr txBox="1"/>
          <p:nvPr/>
        </p:nvSpPr>
        <p:spPr>
          <a:xfrm>
            <a:off x="7524780" y="3619470"/>
            <a:ext cx="3810030" cy="304770"/>
          </a:xfrm>
          <a:prstGeom prst="rect">
            <a:avLst/>
          </a:prstGeom>
          <a:noFill/>
          <a:ln/>
        </p:spPr>
        <p:txBody>
          <a:bodyPr wrap="square" lIns="0" tIns="0" rIns="0" bIns="0" rtlCol="0" anchor="ctr"/>
          <a:lstStyle/>
          <a:p>
            <a:pPr algn="l" indent="0" marL="0">
              <a:lnSpc>
                <a:spcPct val="105000"/>
              </a:lnSpc>
              <a:buNone/>
            </a:pPr>
            <a:r>
              <a:rPr lang="en-US" sz="1600" b="1" dirty="0">
                <a:solidFill>
                  <a:schemeClr val="bg1"/>
                </a:solidFill>
              </a:rPr>
              <a:t>Саяси мақсат</a:t>
            </a:r>
            <a:endParaRPr lang="en-US" sz="1600" dirty="0"/>
          </a:p>
        </p:txBody>
      </p:sp>
      <p:sp>
        <p:nvSpPr>
          <p:cNvPr id="34" name="Text 31"/>
          <p:cNvSpPr txBox="1"/>
          <p:nvPr/>
        </p:nvSpPr>
        <p:spPr>
          <a:xfrm>
            <a:off x="7086600" y="4190970"/>
            <a:ext cx="4190970" cy="209580"/>
          </a:xfrm>
          <a:prstGeom prst="rect">
            <a:avLst/>
          </a:prstGeom>
          <a:noFill/>
          <a:ln/>
        </p:spPr>
        <p:txBody>
          <a:bodyPr wrap="square" lIns="0" tIns="0" rIns="0" bIns="0" rtlCol="0" anchor="t"/>
          <a:lstStyle/>
          <a:p>
            <a:pPr algn="l" indent="0" marL="0">
              <a:lnSpc>
                <a:spcPct val="105000"/>
              </a:lnSpc>
              <a:buNone/>
            </a:pPr>
            <a:r>
              <a:rPr lang="en-US" sz="1200" b="1" spc="100" kern="0" dirty="0">
                <a:solidFill>
                  <a:srgbClr val="FFD200"/>
                </a:solidFill>
              </a:rPr>
              <a:t>ТАЛДАНАТЫН МЕКТЕПТЕР</a:t>
            </a:r>
            <a:endParaRPr lang="en-US" sz="1200" dirty="0"/>
          </a:p>
        </p:txBody>
      </p:sp>
      <p:sp>
        <p:nvSpPr>
          <p:cNvPr id="35" name="Text 32"/>
          <p:cNvSpPr/>
          <p:nvPr/>
        </p:nvSpPr>
        <p:spPr>
          <a:xfrm>
            <a:off x="7086600" y="4514850"/>
            <a:ext cx="1285921" cy="266730"/>
          </a:xfrm>
          <a:prstGeom prst="roundRect">
            <a:avLst>
              <a:gd name="adj" fmla="val 50000"/>
            </a:avLst>
          </a:prstGeom>
          <a:solidFill>
            <a:schemeClr val="accent1"/>
          </a:solidFill>
          <a:ln/>
        </p:spPr>
        <p:txBody>
          <a:bodyPr wrap="square" lIns="0" tIns="0" rIns="0" bIns="0" rtlCol="0" anchor="ctr"/>
          <a:lstStyle/>
          <a:p>
            <a:pPr algn="ctr" indent="0" marL="0">
              <a:lnSpc>
                <a:spcPct val="100000"/>
              </a:lnSpc>
              <a:buNone/>
            </a:pPr>
            <a:r>
              <a:rPr lang="en-US" sz="1100" b="1" dirty="0">
                <a:solidFill>
                  <a:schemeClr val="bg1"/>
                </a:solidFill>
              </a:rPr>
              <a:t>Англо-американ</a:t>
            </a:r>
            <a:endParaRPr lang="en-US" sz="1100" dirty="0"/>
          </a:p>
        </p:txBody>
      </p:sp>
      <p:sp>
        <p:nvSpPr>
          <p:cNvPr id="36" name="Text 33"/>
          <p:cNvSpPr/>
          <p:nvPr/>
        </p:nvSpPr>
        <p:spPr>
          <a:xfrm>
            <a:off x="8448690" y="4514850"/>
            <a:ext cx="638160" cy="266730"/>
          </a:xfrm>
          <a:prstGeom prst="roundRect">
            <a:avLst>
              <a:gd name="adj" fmla="val 50000"/>
            </a:avLst>
          </a:prstGeom>
          <a:solidFill>
            <a:schemeClr val="accent2"/>
          </a:solidFill>
          <a:ln/>
        </p:spPr>
        <p:txBody>
          <a:bodyPr wrap="square" lIns="0" tIns="0" rIns="0" bIns="0" rtlCol="0" anchor="ctr"/>
          <a:lstStyle/>
          <a:p>
            <a:pPr algn="ctr" indent="0" marL="0">
              <a:lnSpc>
                <a:spcPct val="100000"/>
              </a:lnSpc>
              <a:buNone/>
            </a:pPr>
            <a:r>
              <a:rPr lang="en-US" sz="1100" b="1" dirty="0">
                <a:solidFill>
                  <a:schemeClr val="bg1"/>
                </a:solidFill>
              </a:rPr>
              <a:t>Неміс</a:t>
            </a:r>
            <a:endParaRPr lang="en-US" sz="1100" dirty="0"/>
          </a:p>
        </p:txBody>
      </p:sp>
      <p:sp>
        <p:nvSpPr>
          <p:cNvPr id="37" name="Text 34"/>
          <p:cNvSpPr/>
          <p:nvPr/>
        </p:nvSpPr>
        <p:spPr>
          <a:xfrm>
            <a:off x="9163020" y="4514850"/>
            <a:ext cx="781080" cy="266730"/>
          </a:xfrm>
          <a:prstGeom prst="roundRect">
            <a:avLst>
              <a:gd name="adj" fmla="val 50000"/>
            </a:avLst>
          </a:prstGeom>
          <a:solidFill>
            <a:schemeClr val="accent3"/>
          </a:solidFill>
          <a:ln/>
        </p:spPr>
        <p:txBody>
          <a:bodyPr wrap="square" lIns="0" tIns="0" rIns="0" bIns="0" rtlCol="0" anchor="ctr"/>
          <a:lstStyle/>
          <a:p>
            <a:pPr algn="ctr" indent="0" marL="0">
              <a:lnSpc>
                <a:spcPct val="100000"/>
              </a:lnSpc>
              <a:buNone/>
            </a:pPr>
            <a:r>
              <a:rPr lang="en-US" sz="1100" b="1" dirty="0">
                <a:solidFill>
                  <a:schemeClr val="bg1"/>
                </a:solidFill>
              </a:rPr>
              <a:t>Француз</a:t>
            </a:r>
            <a:endParaRPr lang="en-US" sz="1100" dirty="0"/>
          </a:p>
        </p:txBody>
      </p:sp>
      <p:sp>
        <p:nvSpPr>
          <p:cNvPr id="38" name="Text 35"/>
          <p:cNvSpPr/>
          <p:nvPr/>
        </p:nvSpPr>
        <p:spPr>
          <a:xfrm>
            <a:off x="10020270" y="4514850"/>
            <a:ext cx="1000171" cy="266730"/>
          </a:xfrm>
          <a:prstGeom prst="roundRect">
            <a:avLst>
              <a:gd name="adj" fmla="val 50000"/>
            </a:avLst>
          </a:prstGeom>
          <a:solidFill>
            <a:schemeClr val="accent4"/>
          </a:solidFill>
          <a:ln/>
        </p:spPr>
        <p:txBody>
          <a:bodyPr wrap="square" lIns="0" tIns="0" rIns="0" bIns="0" rtlCol="0" anchor="ctr"/>
          <a:lstStyle/>
          <a:p>
            <a:pPr algn="ctr" indent="0" marL="0">
              <a:lnSpc>
                <a:spcPct val="100000"/>
              </a:lnSpc>
              <a:buNone/>
            </a:pPr>
            <a:r>
              <a:rPr lang="en-US" sz="1100" b="1" dirty="0">
                <a:solidFill>
                  <a:schemeClr val="bg1"/>
                </a:solidFill>
              </a:rPr>
              <a:t>Еуразиялық</a:t>
            </a:r>
            <a:endParaRPr lang="en-US" sz="1100" dirty="0"/>
          </a:p>
        </p:txBody>
      </p:sp>
      <p:sp>
        <p:nvSpPr>
          <p:cNvPr id="39" name="Text 36"/>
          <p:cNvSpPr/>
          <p:nvPr/>
        </p:nvSpPr>
        <p:spPr>
          <a:xfrm>
            <a:off x="7086600" y="4857750"/>
            <a:ext cx="1285921" cy="266730"/>
          </a:xfrm>
          <a:prstGeom prst="roundRect">
            <a:avLst>
              <a:gd name="adj" fmla="val 50000"/>
            </a:avLst>
          </a:prstGeom>
          <a:solidFill>
            <a:schemeClr val="accent5"/>
          </a:solidFill>
          <a:ln/>
        </p:spPr>
        <p:txBody>
          <a:bodyPr wrap="square" lIns="0" tIns="0" rIns="0" bIns="0" rtlCol="0" anchor="ctr"/>
          <a:lstStyle/>
          <a:p>
            <a:pPr algn="ctr" indent="0" marL="0">
              <a:lnSpc>
                <a:spcPct val="100000"/>
              </a:lnSpc>
              <a:buNone/>
            </a:pPr>
            <a:r>
              <a:rPr lang="en-US" sz="1100" b="1" dirty="0">
                <a:solidFill>
                  <a:schemeClr val="bg1"/>
                </a:solidFill>
              </a:rPr>
              <a:t>Постбиполярлық</a:t>
            </a:r>
            <a:endParaRPr lang="en-US" sz="1100" dirty="0"/>
          </a:p>
        </p:txBody>
      </p:sp>
      <p:sp>
        <p:nvSpPr>
          <p:cNvPr id="40" name="Text 37"/>
          <p:cNvSpPr/>
          <p:nvPr/>
        </p:nvSpPr>
        <p:spPr>
          <a:xfrm>
            <a:off x="8448690" y="4857750"/>
            <a:ext cx="571500" cy="266730"/>
          </a:xfrm>
          <a:prstGeom prst="roundRect">
            <a:avLst>
              <a:gd name="adj" fmla="val 50000"/>
            </a:avLst>
          </a:prstGeom>
          <a:solidFill>
            <a:schemeClr val="accent6"/>
          </a:solidFill>
          <a:ln/>
        </p:spPr>
        <p:txBody>
          <a:bodyPr wrap="square" lIns="0" tIns="0" rIns="0" bIns="0" rtlCol="0" anchor="ctr"/>
          <a:lstStyle/>
          <a:p>
            <a:pPr algn="ctr" indent="0" marL="0">
              <a:lnSpc>
                <a:spcPct val="100000"/>
              </a:lnSpc>
              <a:buNone/>
            </a:pPr>
            <a:r>
              <a:rPr lang="en-US" sz="1100" b="1" dirty="0">
                <a:solidFill>
                  <a:srgbClr val="2A1600"/>
                </a:solidFill>
              </a:rPr>
              <a:t>Сыни</a:t>
            </a:r>
            <a:endParaRPr lang="en-US" sz="1100" dirty="0"/>
          </a:p>
        </p:txBody>
      </p:sp>
      <p:sp>
        <p:nvSpPr>
          <p:cNvPr id="41" name="Flow 1"/>
          <p:cNvSpPr/>
          <p:nvPr/>
        </p:nvSpPr>
        <p:spPr>
          <a:xfrm>
            <a:off x="533370" y="5753130"/>
            <a:ext cx="2895630" cy="552480"/>
          </a:xfrm>
          <a:prstGeom prst="homePlate">
            <a:avLst/>
          </a:prstGeom>
          <a:solidFill>
            <a:schemeClr val="accent1"/>
          </a:solidFill>
          <a:ln/>
        </p:spPr>
        <p:txBody>
          <a:bodyPr wrap="square" lIns="177800" tIns="0" rIns="50800" bIns="0" rtlCol="0" anchor="ctr"/>
          <a:lstStyle/>
          <a:p>
            <a:pPr algn="l" indent="0" marL="0">
              <a:lnSpc>
                <a:spcPct val="95000"/>
              </a:lnSpc>
              <a:buNone/>
            </a:pPr>
            <a:r>
              <a:rPr lang="en-US" sz="1300" b="1" dirty="0">
                <a:solidFill>
                  <a:schemeClr val="bg1"/>
                </a:solidFill>
              </a:rPr>
              <a:t>01 Кіріспе</a:t>
            </a:r>
            <a:endParaRPr lang="en-US" sz="1300" dirty="0"/>
          </a:p>
          <a:p>
            <a:pPr algn="l" indent="0" marL="0">
              <a:lnSpc>
                <a:spcPct val="95000"/>
              </a:lnSpc>
              <a:buNone/>
            </a:pPr>
            <a:r>
              <a:rPr lang="en-US" sz="1100" dirty="0">
                <a:solidFill>
                  <a:schemeClr val="bg1"/>
                </a:solidFill>
              </a:rPr>
              <a:t>ұғым, мақсат, әдістер</a:t>
            </a:r>
            <a:endParaRPr lang="en-US" sz="1300" dirty="0"/>
          </a:p>
        </p:txBody>
      </p:sp>
      <p:sp>
        <p:nvSpPr>
          <p:cNvPr id="42" name="Flow 2"/>
          <p:cNvSpPr/>
          <p:nvPr/>
        </p:nvSpPr>
        <p:spPr>
          <a:xfrm>
            <a:off x="3314700" y="5753130"/>
            <a:ext cx="2895630" cy="552480"/>
          </a:xfrm>
          <a:prstGeom prst="chevron">
            <a:avLst/>
          </a:prstGeom>
          <a:solidFill>
            <a:schemeClr val="accent3"/>
          </a:solidFill>
          <a:ln/>
        </p:spPr>
        <p:txBody>
          <a:bodyPr wrap="square" lIns="381000" tIns="0" rIns="50800" bIns="0" rtlCol="0" anchor="ctr"/>
          <a:lstStyle/>
          <a:p>
            <a:pPr algn="l" indent="0" marL="0">
              <a:lnSpc>
                <a:spcPct val="95000"/>
              </a:lnSpc>
              <a:buNone/>
            </a:pPr>
            <a:r>
              <a:rPr lang="en-US" sz="1300" b="1" dirty="0">
                <a:solidFill>
                  <a:schemeClr val="bg1"/>
                </a:solidFill>
              </a:rPr>
              <a:t>02 Алты мектеп</a:t>
            </a:r>
            <a:endParaRPr lang="en-US" sz="1300" dirty="0"/>
          </a:p>
          <a:p>
            <a:pPr algn="l" indent="0" marL="0">
              <a:lnSpc>
                <a:spcPct val="95000"/>
              </a:lnSpc>
              <a:buNone/>
            </a:pPr>
            <a:r>
              <a:rPr lang="en-US" sz="1100" dirty="0">
                <a:solidFill>
                  <a:schemeClr val="bg1"/>
                </a:solidFill>
              </a:rPr>
              <a:t>негізгі өкілдер мен идеялар</a:t>
            </a:r>
            <a:endParaRPr lang="en-US" sz="1300" dirty="0"/>
          </a:p>
        </p:txBody>
      </p:sp>
      <p:sp>
        <p:nvSpPr>
          <p:cNvPr id="43" name="Flow 3"/>
          <p:cNvSpPr/>
          <p:nvPr/>
        </p:nvSpPr>
        <p:spPr>
          <a:xfrm>
            <a:off x="6096030" y="5753130"/>
            <a:ext cx="2895630" cy="552480"/>
          </a:xfrm>
          <a:prstGeom prst="chevron">
            <a:avLst/>
          </a:prstGeom>
          <a:solidFill>
            <a:schemeClr val="accent5"/>
          </a:solidFill>
          <a:ln/>
        </p:spPr>
        <p:txBody>
          <a:bodyPr wrap="square" lIns="381000" tIns="0" rIns="50800" bIns="0" rtlCol="0" anchor="ctr"/>
          <a:lstStyle/>
          <a:p>
            <a:pPr algn="l" indent="0" marL="0">
              <a:lnSpc>
                <a:spcPct val="95000"/>
              </a:lnSpc>
              <a:buNone/>
            </a:pPr>
            <a:r>
              <a:rPr lang="en-US" sz="1300" b="1" dirty="0">
                <a:solidFill>
                  <a:schemeClr val="bg1"/>
                </a:solidFill>
              </a:rPr>
              <a:t>03 Салыстыру</a:t>
            </a:r>
            <a:endParaRPr lang="en-US" sz="1300" dirty="0"/>
          </a:p>
          <a:p>
            <a:pPr algn="l" indent="0" marL="0">
              <a:lnSpc>
                <a:spcPct val="95000"/>
              </a:lnSpc>
              <a:buNone/>
            </a:pPr>
            <a:r>
              <a:rPr lang="en-US" sz="1100" dirty="0">
                <a:solidFill>
                  <a:schemeClr val="bg1"/>
                </a:solidFill>
              </a:rPr>
              <a:t>кесте, спектр, әдіснама</a:t>
            </a:r>
            <a:endParaRPr lang="en-US" sz="1300" dirty="0"/>
          </a:p>
        </p:txBody>
      </p:sp>
      <p:sp>
        <p:nvSpPr>
          <p:cNvPr id="44" name="Flow 4"/>
          <p:cNvSpPr/>
          <p:nvPr/>
        </p:nvSpPr>
        <p:spPr>
          <a:xfrm>
            <a:off x="8877270" y="5753130"/>
            <a:ext cx="2895630" cy="552480"/>
          </a:xfrm>
          <a:prstGeom prst="chevron">
            <a:avLst/>
          </a:prstGeom>
          <a:solidFill>
            <a:schemeClr val="accent6"/>
          </a:solidFill>
          <a:ln/>
        </p:spPr>
        <p:txBody>
          <a:bodyPr wrap="square" lIns="381000" tIns="0" rIns="50800" bIns="0" rtlCol="0" anchor="ctr"/>
          <a:lstStyle/>
          <a:p>
            <a:pPr algn="l" indent="0" marL="0">
              <a:lnSpc>
                <a:spcPct val="95000"/>
              </a:lnSpc>
              <a:buNone/>
            </a:pPr>
            <a:r>
              <a:rPr lang="en-US" sz="1300" b="1" dirty="0">
                <a:solidFill>
                  <a:srgbClr val="2A1600"/>
                </a:solidFill>
              </a:rPr>
              <a:t>04 Қорытынды</a:t>
            </a:r>
            <a:endParaRPr lang="en-US" sz="1300" dirty="0"/>
          </a:p>
          <a:p>
            <a:pPr algn="l" indent="0" marL="0">
              <a:lnSpc>
                <a:spcPct val="95000"/>
              </a:lnSpc>
              <a:buNone/>
            </a:pPr>
            <a:r>
              <a:rPr lang="en-US" sz="1100" dirty="0">
                <a:solidFill>
                  <a:srgbClr val="2A1600"/>
                </a:solidFill>
              </a:rPr>
              <a:t>тұжырымдар және Қазақстан</a:t>
            </a:r>
            <a:endParaRPr lang="en-US" sz="1300" dirty="0"/>
          </a:p>
        </p:txBody>
      </p:sp>
      <p:sp>
        <p:nvSpPr>
          <p:cNvPr id="25" name="Slide Number Placeholder 0"/>
          <p:cNvSpPr>
            <a:spLocks noGrp="1"/>
          </p:cNvSpPr>
          <p:nvPr>
            <p:ph type="sldNum" sz="quarter" idx="4294967295"/>
          </p:nvPr>
        </p:nvSpPr>
        <p:spPr>
          <a:xfrm>
            <a:off x="10953780" y="6515100"/>
            <a:ext cx="7619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C9C2E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33370" y="800100"/>
            <a:ext cx="5143500" cy="876270"/>
          </a:xfrm>
          <a:prstGeom prst="rect">
            <a:avLst/>
          </a:prstGeom>
          <a:noFill/>
          <a:ln/>
        </p:spPr>
        <p:txBody>
          <a:bodyPr wrap="square" lIns="0" tIns="0" rIns="0" bIns="0" rtlCol="0" anchor="t"/>
          <a:lstStyle/>
          <a:p>
            <a:pPr algn="l" indent="0" marL="0">
              <a:lnSpc>
                <a:spcPct val="95000"/>
              </a:lnSpc>
              <a:buNone/>
            </a:pPr>
            <a:r>
              <a:rPr lang="en-US" sz="2800" b="1" dirty="0">
                <a:solidFill>
                  <a:schemeClr val="bg1"/>
                </a:solidFill>
              </a:rPr>
              <a:t>Англо-американ «теңіз» мектебі</a:t>
            </a:r>
            <a:endParaRPr lang="en-US" sz="2800" dirty="0"/>
          </a:p>
        </p:txBody>
      </p:sp>
      <p:sp>
        <p:nvSpPr>
          <p:cNvPr id="4" name="Tag"/>
          <p:cNvSpPr/>
          <p:nvPr/>
        </p:nvSpPr>
        <p:spPr>
          <a:xfrm>
            <a:off x="533370" y="419070"/>
            <a:ext cx="1000171" cy="285750"/>
          </a:xfrm>
          <a:prstGeom prst="roundRect">
            <a:avLst>
              <a:gd name="adj" fmla="val 50000"/>
            </a:avLst>
          </a:prstGeom>
          <a:solidFill>
            <a:schemeClr val="accent1"/>
          </a:solidFill>
          <a:ln/>
        </p:spPr>
        <p:txBody>
          <a:bodyPr wrap="square" lIns="0" tIns="0" rIns="0" bIns="0" rtlCol="0" anchor="ctr"/>
          <a:lstStyle/>
          <a:p>
            <a:pPr algn="ctr" indent="0" marL="0">
              <a:lnSpc>
                <a:spcPct val="100000"/>
              </a:lnSpc>
              <a:buNone/>
            </a:pPr>
            <a:r>
              <a:rPr lang="en-US" sz="1100" b="1" spc="150" kern="0" dirty="0">
                <a:solidFill>
                  <a:schemeClr val="bg1"/>
                </a:solidFill>
              </a:rPr>
              <a:t>1-МЕКТЕП</a:t>
            </a:r>
            <a:endParaRPr lang="en-US" sz="1100" dirty="0"/>
          </a:p>
        </p:txBody>
      </p:sp>
      <p:sp>
        <p:nvSpPr>
          <p:cNvPr id="5" name="Text 2"/>
          <p:cNvSpPr txBox="1"/>
          <p:nvPr/>
        </p:nvSpPr>
        <p:spPr>
          <a:xfrm>
            <a:off x="533370" y="1714500"/>
            <a:ext cx="5143500" cy="209580"/>
          </a:xfrm>
          <a:prstGeom prst="rect">
            <a:avLst/>
          </a:prstGeom>
          <a:noFill/>
          <a:ln/>
        </p:spPr>
        <p:txBody>
          <a:bodyPr wrap="square" lIns="0" tIns="0" rIns="0" bIns="0" rtlCol="0" anchor="t"/>
          <a:lstStyle/>
          <a:p>
            <a:pPr algn="l" indent="0" marL="0">
              <a:lnSpc>
                <a:spcPct val="105000"/>
              </a:lnSpc>
              <a:buNone/>
            </a:pPr>
            <a:r>
              <a:rPr lang="en-US" sz="1200" b="1" dirty="0">
                <a:solidFill>
                  <a:srgbClr val="C9C2EC"/>
                </a:solidFill>
              </a:rPr>
              <a:t>Ұлыбритания · АҚШ · 1890–1945 · «Құрлық пен Теңіз» дуализмі</a:t>
            </a:r>
            <a:endParaRPr lang="en-US" sz="1200" dirty="0"/>
          </a:p>
        </p:txBody>
      </p:sp>
      <p:sp>
        <p:nvSpPr>
          <p:cNvPr id="6" name="Card Альфред Мэхэн"/>
          <p:cNvSpPr/>
          <p:nvPr/>
        </p:nvSpPr>
        <p:spPr>
          <a:xfrm>
            <a:off x="533370" y="20192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7" name="Text 4"/>
          <p:cNvSpPr/>
          <p:nvPr/>
        </p:nvSpPr>
        <p:spPr>
          <a:xfrm>
            <a:off x="666780" y="2228850"/>
            <a:ext cx="495330" cy="495330"/>
          </a:xfrm>
          <a:prstGeom prst="ellipse">
            <a:avLst/>
          </a:prstGeom>
          <a:solidFill>
            <a:schemeClr val="accent1"/>
          </a:solidFill>
          <a:ln/>
        </p:spPr>
        <p:txBody>
          <a:bodyPr wrap="square" lIns="0" tIns="0" rIns="0" bIns="0" rtlCol="0" anchor="ctr"/>
          <a:lstStyle/>
          <a:p>
            <a:pPr algn="ctr" indent="0" marL="0">
              <a:lnSpc>
                <a:spcPct val="100000"/>
              </a:lnSpc>
              <a:buNone/>
            </a:pPr>
            <a:r>
              <a:rPr lang="en-US" sz="1400" b="1" dirty="0">
                <a:solidFill>
                  <a:schemeClr val="bg1"/>
                </a:solidFill>
              </a:rPr>
              <a:t>АМ</a:t>
            </a:r>
            <a:endParaRPr lang="en-US" sz="1400" dirty="0"/>
          </a:p>
        </p:txBody>
      </p:sp>
      <p:sp>
        <p:nvSpPr>
          <p:cNvPr id="8" name="Text 5"/>
          <p:cNvSpPr txBox="1"/>
          <p:nvPr/>
        </p:nvSpPr>
        <p:spPr>
          <a:xfrm>
            <a:off x="1295430" y="21050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Альфред Мэхэн</a:t>
            </a:r>
            <a:pPr algn="l" indent="0" marL="0">
              <a:lnSpc>
                <a:spcPct val="105000"/>
              </a:lnSpc>
              <a:buNone/>
            </a:pPr>
            <a:r>
              <a:rPr lang="en-US" sz="1100" dirty="0">
                <a:solidFill>
                  <a:srgbClr val="C9C2EC"/>
                </a:solidFill>
              </a:rPr>
              <a:t>   1840–1914</a:t>
            </a:r>
            <a:endParaRPr lang="en-US" sz="1400" dirty="0"/>
          </a:p>
        </p:txBody>
      </p:sp>
      <p:sp>
        <p:nvSpPr>
          <p:cNvPr id="9" name="Text 6"/>
          <p:cNvSpPr txBox="1"/>
          <p:nvPr/>
        </p:nvSpPr>
        <p:spPr>
          <a:xfrm>
            <a:off x="1295430" y="23336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«Теңіз күшінің тарихқа ықпалы», 1890</a:t>
            </a:r>
            <a:endParaRPr lang="en-US" sz="1150" dirty="0"/>
          </a:p>
        </p:txBody>
      </p:sp>
      <p:sp>
        <p:nvSpPr>
          <p:cNvPr id="10" name="Text 7"/>
          <p:cNvSpPr txBox="1"/>
          <p:nvPr/>
        </p:nvSpPr>
        <p:spPr>
          <a:xfrm>
            <a:off x="1295430" y="25241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Әлемдік үстемдіктің кілті — теңіз күші (Sea Power): флот, порттар, сауда жолдары</a:t>
            </a:r>
            <a:endParaRPr lang="en-US" sz="1200" dirty="0"/>
          </a:p>
        </p:txBody>
      </p:sp>
      <p:sp>
        <p:nvSpPr>
          <p:cNvPr id="11" name="Card Хэлфорд Маккиндер"/>
          <p:cNvSpPr/>
          <p:nvPr/>
        </p:nvSpPr>
        <p:spPr>
          <a:xfrm>
            <a:off x="533370" y="30479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12" name="Text 9"/>
          <p:cNvSpPr/>
          <p:nvPr/>
        </p:nvSpPr>
        <p:spPr>
          <a:xfrm>
            <a:off x="666780" y="3257550"/>
            <a:ext cx="495330" cy="495330"/>
          </a:xfrm>
          <a:prstGeom prst="ellipse">
            <a:avLst/>
          </a:prstGeom>
          <a:solidFill>
            <a:schemeClr val="accent1"/>
          </a:solidFill>
          <a:ln/>
        </p:spPr>
        <p:txBody>
          <a:bodyPr wrap="square" lIns="0" tIns="0" rIns="0" bIns="0" rtlCol="0" anchor="ctr"/>
          <a:lstStyle/>
          <a:p>
            <a:pPr algn="ctr" indent="0" marL="0">
              <a:lnSpc>
                <a:spcPct val="100000"/>
              </a:lnSpc>
              <a:buNone/>
            </a:pPr>
            <a:r>
              <a:rPr lang="en-US" sz="1400" b="1" dirty="0">
                <a:solidFill>
                  <a:schemeClr val="bg1"/>
                </a:solidFill>
              </a:rPr>
              <a:t>ХМ</a:t>
            </a:r>
            <a:endParaRPr lang="en-US" sz="1400" dirty="0"/>
          </a:p>
        </p:txBody>
      </p:sp>
      <p:sp>
        <p:nvSpPr>
          <p:cNvPr id="13" name="Text 10"/>
          <p:cNvSpPr txBox="1"/>
          <p:nvPr/>
        </p:nvSpPr>
        <p:spPr>
          <a:xfrm>
            <a:off x="1295430" y="31337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Хэлфорд Маккиндер</a:t>
            </a:r>
            <a:pPr algn="l" indent="0" marL="0">
              <a:lnSpc>
                <a:spcPct val="105000"/>
              </a:lnSpc>
              <a:buNone/>
            </a:pPr>
            <a:r>
              <a:rPr lang="en-US" sz="1100" dirty="0">
                <a:solidFill>
                  <a:srgbClr val="C9C2EC"/>
                </a:solidFill>
              </a:rPr>
              <a:t>   1861–1947</a:t>
            </a:r>
            <a:endParaRPr lang="en-US" sz="1400" dirty="0"/>
          </a:p>
        </p:txBody>
      </p:sp>
      <p:sp>
        <p:nvSpPr>
          <p:cNvPr id="14" name="Text 11"/>
          <p:cNvSpPr txBox="1"/>
          <p:nvPr/>
        </p:nvSpPr>
        <p:spPr>
          <a:xfrm>
            <a:off x="1295430" y="33623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«Тарихтың географиялық осі», 1904</a:t>
            </a:r>
            <a:endParaRPr lang="en-US" sz="1150" dirty="0"/>
          </a:p>
        </p:txBody>
      </p:sp>
      <p:sp>
        <p:nvSpPr>
          <p:cNvPr id="15" name="Text 12"/>
          <p:cNvSpPr txBox="1"/>
          <p:nvPr/>
        </p:nvSpPr>
        <p:spPr>
          <a:xfrm>
            <a:off x="1295430" y="35528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Еуразияның ішкі өзегі — </a:t>
            </a:r>
            <a:pPr algn="l" indent="0" marL="0">
              <a:lnSpc>
                <a:spcPct val="100000"/>
              </a:lnSpc>
              <a:buNone/>
            </a:pPr>
            <a:r>
              <a:rPr lang="en-US" sz="1200" b="1" dirty="0">
                <a:solidFill>
                  <a:schemeClr val="bg1"/>
                </a:solidFill>
              </a:rPr>
              <a:t>Хартленд</a:t>
            </a:r>
            <a:pPr algn="l" indent="0" marL="0">
              <a:lnSpc>
                <a:spcPct val="100000"/>
              </a:lnSpc>
              <a:buNone/>
            </a:pPr>
            <a:r>
              <a:rPr lang="en-US" sz="1200" dirty="0">
                <a:solidFill>
                  <a:schemeClr val="bg1"/>
                </a:solidFill>
              </a:rPr>
              <a:t> — әлемдік саясаттың «осі»</a:t>
            </a:r>
            <a:endParaRPr lang="en-US" sz="1200" dirty="0"/>
          </a:p>
        </p:txBody>
      </p:sp>
      <p:sp>
        <p:nvSpPr>
          <p:cNvPr id="16" name="Card Николас Спайкмен"/>
          <p:cNvSpPr/>
          <p:nvPr/>
        </p:nvSpPr>
        <p:spPr>
          <a:xfrm>
            <a:off x="533370" y="40766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17" name="Text 14"/>
          <p:cNvSpPr/>
          <p:nvPr/>
        </p:nvSpPr>
        <p:spPr>
          <a:xfrm>
            <a:off x="666780" y="4286250"/>
            <a:ext cx="495330" cy="495330"/>
          </a:xfrm>
          <a:prstGeom prst="ellipse">
            <a:avLst/>
          </a:prstGeom>
          <a:solidFill>
            <a:schemeClr val="accent1"/>
          </a:solidFill>
          <a:ln/>
        </p:spPr>
        <p:txBody>
          <a:bodyPr wrap="square" lIns="0" tIns="0" rIns="0" bIns="0" rtlCol="0" anchor="ctr"/>
          <a:lstStyle/>
          <a:p>
            <a:pPr algn="ctr" indent="0" marL="0">
              <a:lnSpc>
                <a:spcPct val="100000"/>
              </a:lnSpc>
              <a:buNone/>
            </a:pPr>
            <a:r>
              <a:rPr lang="en-US" sz="1400" b="1" dirty="0">
                <a:solidFill>
                  <a:schemeClr val="bg1"/>
                </a:solidFill>
              </a:rPr>
              <a:t>НС</a:t>
            </a:r>
            <a:endParaRPr lang="en-US" sz="1400" dirty="0"/>
          </a:p>
        </p:txBody>
      </p:sp>
      <p:sp>
        <p:nvSpPr>
          <p:cNvPr id="18" name="Text 15"/>
          <p:cNvSpPr txBox="1"/>
          <p:nvPr/>
        </p:nvSpPr>
        <p:spPr>
          <a:xfrm>
            <a:off x="1295430" y="41624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Николас Спайкмен</a:t>
            </a:r>
            <a:pPr algn="l" indent="0" marL="0">
              <a:lnSpc>
                <a:spcPct val="105000"/>
              </a:lnSpc>
              <a:buNone/>
            </a:pPr>
            <a:r>
              <a:rPr lang="en-US" sz="1100" dirty="0">
                <a:solidFill>
                  <a:srgbClr val="C9C2EC"/>
                </a:solidFill>
              </a:rPr>
              <a:t>   1893–1943</a:t>
            </a:r>
            <a:endParaRPr lang="en-US" sz="1400" dirty="0"/>
          </a:p>
        </p:txBody>
      </p:sp>
      <p:sp>
        <p:nvSpPr>
          <p:cNvPr id="19" name="Text 16"/>
          <p:cNvSpPr txBox="1"/>
          <p:nvPr/>
        </p:nvSpPr>
        <p:spPr>
          <a:xfrm>
            <a:off x="1295430" y="43910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«Бейбітшіліктің географиясы», 1944</a:t>
            </a:r>
            <a:endParaRPr lang="en-US" sz="1150" dirty="0"/>
          </a:p>
        </p:txBody>
      </p:sp>
      <p:sp>
        <p:nvSpPr>
          <p:cNvPr id="20" name="Text 17"/>
          <p:cNvSpPr txBox="1"/>
          <p:nvPr/>
        </p:nvSpPr>
        <p:spPr>
          <a:xfrm>
            <a:off x="1295430" y="45815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Шешуші аймақ — Еуразияның жағалау белдеуі, </a:t>
            </a:r>
            <a:pPr algn="l" indent="0" marL="0">
              <a:lnSpc>
                <a:spcPct val="100000"/>
              </a:lnSpc>
              <a:buNone/>
            </a:pPr>
            <a:r>
              <a:rPr lang="en-US" sz="1200" b="1" dirty="0">
                <a:solidFill>
                  <a:schemeClr val="bg1"/>
                </a:solidFill>
              </a:rPr>
              <a:t>Римленд</a:t>
            </a:r>
            <a:endParaRPr lang="en-US" sz="1200" dirty="0"/>
          </a:p>
        </p:txBody>
      </p:sp>
      <p:sp>
        <p:nvSpPr>
          <p:cNvPr id="21" name="Shape 18"/>
          <p:cNvSpPr/>
          <p:nvPr/>
        </p:nvSpPr>
        <p:spPr>
          <a:xfrm>
            <a:off x="533370" y="5162520"/>
            <a:ext cx="5143500" cy="1066830"/>
          </a:xfrm>
          <a:prstGeom prst="roundRect">
            <a:avLst>
              <a:gd name="adj" fmla="val 12000"/>
            </a:avLst>
          </a:prstGeom>
          <a:solidFill>
            <a:srgbClr val="FFFFFF">
              <a:alpha val="5000"/>
            </a:srgbClr>
          </a:solidFill>
          <a:ln w="9525">
            <a:solidFill>
              <a:srgbClr val="FFFFFF">
                <a:alpha val="35000"/>
              </a:srgbClr>
            </a:solidFill>
            <a:prstDash val="dash"/>
          </a:ln>
        </p:spPr>
      </p:sp>
      <p:sp>
        <p:nvSpPr>
          <p:cNvPr id="22" name="Text 19"/>
          <p:cNvSpPr txBox="1"/>
          <p:nvPr/>
        </p:nvSpPr>
        <p:spPr>
          <a:xfrm>
            <a:off x="685800" y="5257800"/>
            <a:ext cx="4838730" cy="895380"/>
          </a:xfrm>
          <a:prstGeom prst="rect">
            <a:avLst/>
          </a:prstGeom>
          <a:noFill/>
          <a:ln/>
        </p:spPr>
        <p:txBody>
          <a:bodyPr wrap="square" lIns="0" tIns="0" rIns="0" bIns="0" rtlCol="0" anchor="t"/>
          <a:lstStyle/>
          <a:p>
            <a:pPr algn="l" indent="0" marL="0">
              <a:lnSpc>
                <a:spcPct val="105000"/>
              </a:lnSpc>
              <a:buNone/>
            </a:pPr>
            <a:r>
              <a:rPr lang="en-US" sz="1200" dirty="0">
                <a:solidFill>
                  <a:schemeClr val="bg1"/>
                </a:solidFill>
              </a:rPr>
              <a:t>🔑 </a:t>
            </a:r>
            <a:pPr algn="l" indent="0" marL="0">
              <a:lnSpc>
                <a:spcPct val="105000"/>
              </a:lnSpc>
              <a:buNone/>
            </a:pPr>
            <a:r>
              <a:rPr lang="en-US" sz="1200" b="1" dirty="0">
                <a:solidFill>
                  <a:srgbClr val="FFD76A"/>
                </a:solidFill>
              </a:rPr>
              <a:t>Негізгі идея: </a:t>
            </a:r>
            <a:pPr algn="l" indent="0" marL="0">
              <a:lnSpc>
                <a:spcPct val="105000"/>
              </a:lnSpc>
              <a:buNone/>
            </a:pPr>
            <a:r>
              <a:rPr lang="en-US" sz="1200" dirty="0">
                <a:solidFill>
                  <a:schemeClr val="bg1"/>
                </a:solidFill>
              </a:rPr>
              <a:t>Талассократия (теңіз державалары) мен теллурократия (құрлық державалары) арасындағы тарихи бәсеке. Теңіз державасының міндеті — Еуразия құрлығының бір күштің қолында бірігуіне жол бермеу.</a:t>
            </a:r>
            <a:endParaRPr lang="en-US" sz="1200" dirty="0"/>
          </a:p>
        </p:txBody>
      </p:sp>
      <p:sp>
        <p:nvSpPr>
          <p:cNvPr id="23" name="Shape 20"/>
          <p:cNvSpPr/>
          <p:nvPr/>
        </p:nvSpPr>
        <p:spPr>
          <a:xfrm>
            <a:off x="6000750" y="419070"/>
            <a:ext cx="5657850" cy="3009930"/>
          </a:xfrm>
          <a:prstGeom prst="roundRect">
            <a:avLst>
              <a:gd name="adj" fmla="val 4253"/>
            </a:avLst>
          </a:prstGeom>
          <a:solidFill>
            <a:srgbClr val="FFFFFF">
              <a:alpha val="4000"/>
            </a:srgbClr>
          </a:solidFill>
          <a:ln w="9525">
            <a:solidFill>
              <a:srgbClr val="FFFFFF">
                <a:alpha val="14000"/>
              </a:srgbClr>
            </a:solidFill>
            <a:prstDash val="solid"/>
          </a:ln>
        </p:spPr>
      </p:sp>
      <p:pic>
        <p:nvPicPr>
          <p:cNvPr id="24" name="Image 0" descr="Хартленд, Римленд және сыртқы доға картасы">    </p:cNvPr>
          <p:cNvPicPr>
            <a:picLocks noChangeAspect="1"/>
          </p:cNvPicPr>
          <p:nvPr/>
        </p:nvPicPr>
        <p:blipFill>
          <a:blip r:embed="rId2"/>
          <a:stretch>
            <a:fillRect/>
          </a:stretch>
        </p:blipFill>
        <p:spPr>
          <a:xfrm>
            <a:off x="6038880" y="476220"/>
            <a:ext cx="5581680" cy="2886121"/>
          </a:xfrm>
          <a:prstGeom prst="rect">
            <a:avLst/>
          </a:prstGeom>
        </p:spPr>
      </p:pic>
      <p:sp>
        <p:nvSpPr>
          <p:cNvPr id="25" name="Shape 21"/>
          <p:cNvSpPr/>
          <p:nvPr/>
        </p:nvSpPr>
        <p:spPr>
          <a:xfrm>
            <a:off x="6038880" y="3543300"/>
            <a:ext cx="133320" cy="133320"/>
          </a:xfrm>
          <a:prstGeom prst="roundRect">
            <a:avLst>
              <a:gd name="adj" fmla="val 20576"/>
            </a:avLst>
          </a:prstGeom>
          <a:solidFill>
            <a:srgbClr val="FF3D7F"/>
          </a:solidFill>
          <a:ln/>
        </p:spPr>
      </p:sp>
      <p:sp>
        <p:nvSpPr>
          <p:cNvPr id="26" name="Text 22"/>
          <p:cNvSpPr txBox="1"/>
          <p:nvPr/>
        </p:nvSpPr>
        <p:spPr>
          <a:xfrm>
            <a:off x="6248370" y="3514771"/>
            <a:ext cx="95253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Хартленд</a:t>
            </a:r>
            <a:endParaRPr lang="en-US" sz="1100" dirty="0"/>
          </a:p>
        </p:txBody>
      </p:sp>
      <p:sp>
        <p:nvSpPr>
          <p:cNvPr id="27" name="Shape 23"/>
          <p:cNvSpPr/>
          <p:nvPr/>
        </p:nvSpPr>
        <p:spPr>
          <a:xfrm>
            <a:off x="6991320" y="3543300"/>
            <a:ext cx="133320" cy="133320"/>
          </a:xfrm>
          <a:prstGeom prst="roundRect">
            <a:avLst>
              <a:gd name="adj" fmla="val 20576"/>
            </a:avLst>
          </a:prstGeom>
          <a:solidFill>
            <a:srgbClr val="FFB020"/>
          </a:solidFill>
          <a:ln/>
        </p:spPr>
      </p:sp>
      <p:sp>
        <p:nvSpPr>
          <p:cNvPr id="28" name="Text 24"/>
          <p:cNvSpPr txBox="1"/>
          <p:nvPr/>
        </p:nvSpPr>
        <p:spPr>
          <a:xfrm>
            <a:off x="7200900" y="3514771"/>
            <a:ext cx="173352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Римленд (ішкі доға)</a:t>
            </a:r>
            <a:endParaRPr lang="en-US" sz="1100" dirty="0"/>
          </a:p>
        </p:txBody>
      </p:sp>
      <p:sp>
        <p:nvSpPr>
          <p:cNvPr id="29" name="Shape 25"/>
          <p:cNvSpPr/>
          <p:nvPr/>
        </p:nvSpPr>
        <p:spPr>
          <a:xfrm>
            <a:off x="8724930" y="3543300"/>
            <a:ext cx="133320" cy="133320"/>
          </a:xfrm>
          <a:prstGeom prst="roundRect">
            <a:avLst>
              <a:gd name="adj" fmla="val 20576"/>
            </a:avLst>
          </a:prstGeom>
          <a:solidFill>
            <a:srgbClr val="2AD4C4"/>
          </a:solidFill>
          <a:ln/>
        </p:spPr>
      </p:sp>
      <p:sp>
        <p:nvSpPr>
          <p:cNvPr id="30" name="Text 26"/>
          <p:cNvSpPr txBox="1"/>
          <p:nvPr/>
        </p:nvSpPr>
        <p:spPr>
          <a:xfrm>
            <a:off x="8934420" y="3514771"/>
            <a:ext cx="116202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Сыртқы доға</a:t>
            </a:r>
            <a:endParaRPr lang="en-US" sz="1100" dirty="0"/>
          </a:p>
        </p:txBody>
      </p:sp>
      <p:pic>
        <p:nvPicPr>
          <p:cNvPr id="31" name="Image 1" descr="Теңіз флоты">    </p:cNvPr>
          <p:cNvPicPr>
            <a:picLocks noChangeAspect="1"/>
          </p:cNvPicPr>
          <p:nvPr/>
        </p:nvPicPr>
        <p:blipFill>
          <a:blip r:embed="rId3"/>
          <a:srcRect l="0" r="0" t="0" b="0"/>
          <a:stretch/>
        </p:blipFill>
        <p:spPr>
          <a:xfrm>
            <a:off x="6000750" y="3810030"/>
            <a:ext cx="5657850" cy="1333470"/>
          </a:xfrm>
          <a:prstGeom prst="rect">
            <a:avLst/>
          </a:prstGeom>
        </p:spPr>
      </p:pic>
      <p:sp>
        <p:nvSpPr>
          <p:cNvPr id="32" name="Shape 27"/>
          <p:cNvSpPr/>
          <p:nvPr/>
        </p:nvSpPr>
        <p:spPr>
          <a:xfrm>
            <a:off x="6000750" y="5257800"/>
            <a:ext cx="5657850" cy="990570"/>
          </a:xfrm>
          <a:prstGeom prst="roundRect">
            <a:avLst>
              <a:gd name="adj" fmla="val 12923"/>
            </a:avLst>
          </a:prstGeom>
          <a:solidFill>
            <a:srgbClr val="FFFFFF">
              <a:alpha val="9000"/>
            </a:srgbClr>
          </a:solidFill>
          <a:ln w="9525">
            <a:solidFill>
              <a:srgbClr val="FFFFFF">
                <a:alpha val="14000"/>
              </a:srgbClr>
            </a:solidFill>
            <a:prstDash val="solid"/>
          </a:ln>
        </p:spPr>
      </p:sp>
      <p:sp>
        <p:nvSpPr>
          <p:cNvPr id="33" name="Text 28"/>
          <p:cNvSpPr txBox="1"/>
          <p:nvPr/>
        </p:nvSpPr>
        <p:spPr>
          <a:xfrm>
            <a:off x="6191220" y="5353080"/>
            <a:ext cx="5295930" cy="819120"/>
          </a:xfrm>
          <a:prstGeom prst="rect">
            <a:avLst/>
          </a:prstGeom>
          <a:noFill/>
          <a:ln/>
        </p:spPr>
        <p:txBody>
          <a:bodyPr wrap="square" lIns="0" tIns="0" rIns="0" bIns="0" rtlCol="0" anchor="t"/>
          <a:lstStyle/>
          <a:p>
            <a:pPr algn="l" indent="0" marL="0">
              <a:lnSpc>
                <a:spcPct val="108000"/>
              </a:lnSpc>
              <a:buNone/>
            </a:pPr>
            <a:r>
              <a:rPr lang="en-US" sz="1300" i="1" dirty="0">
                <a:solidFill>
                  <a:schemeClr val="bg1"/>
                </a:solidFill>
              </a:rPr>
              <a:t>«Шығыс Еуропаны билеген — Хартлендті билейді; Хартлендті билеген — Әлемдік аралды билейді; Әлемдік аралды билеген — бүкіл әлемді билейді»</a:t>
            </a:r>
            <a:endParaRPr lang="en-US" sz="1300" dirty="0"/>
          </a:p>
          <a:p>
            <a:pPr algn="l" indent="0" marL="0">
              <a:lnSpc>
                <a:spcPct val="108000"/>
              </a:lnSpc>
              <a:buNone/>
            </a:pPr>
            <a:r>
              <a:rPr lang="en-US" sz="1100" b="1" dirty="0">
                <a:solidFill>
                  <a:srgbClr val="C9C2EC"/>
                </a:solidFill>
              </a:rPr>
              <a:t>— Х. Маккиндер, 1919</a:t>
            </a:r>
            <a:endParaRPr lang="en-US" sz="1300" dirty="0"/>
          </a:p>
        </p:txBody>
      </p:sp>
      <p:sp>
        <p:nvSpPr>
          <p:cNvPr id="25" name="Slide Number Placeholder 0"/>
          <p:cNvSpPr>
            <a:spLocks noGrp="1"/>
          </p:cNvSpPr>
          <p:nvPr>
            <p:ph type="sldNum" sz="quarter" idx="4294967295"/>
          </p:nvPr>
        </p:nvSpPr>
        <p:spPr>
          <a:xfrm>
            <a:off x="10953780" y="6515100"/>
            <a:ext cx="7619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C9C2E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33370" y="800100"/>
            <a:ext cx="5143500" cy="876270"/>
          </a:xfrm>
          <a:prstGeom prst="rect">
            <a:avLst/>
          </a:prstGeom>
          <a:noFill/>
          <a:ln/>
        </p:spPr>
        <p:txBody>
          <a:bodyPr wrap="square" lIns="0" tIns="0" rIns="0" bIns="0" rtlCol="0" anchor="t"/>
          <a:lstStyle/>
          <a:p>
            <a:pPr algn="l" indent="0" marL="0">
              <a:lnSpc>
                <a:spcPct val="95000"/>
              </a:lnSpc>
              <a:buNone/>
            </a:pPr>
            <a:r>
              <a:rPr lang="en-US" sz="2800" b="1" dirty="0">
                <a:solidFill>
                  <a:schemeClr val="bg1"/>
                </a:solidFill>
              </a:rPr>
              <a:t>Неміс континенттік мектебі</a:t>
            </a:r>
            <a:endParaRPr lang="en-US" sz="2800" dirty="0"/>
          </a:p>
        </p:txBody>
      </p:sp>
      <p:sp>
        <p:nvSpPr>
          <p:cNvPr id="4" name="Tag"/>
          <p:cNvSpPr/>
          <p:nvPr/>
        </p:nvSpPr>
        <p:spPr>
          <a:xfrm>
            <a:off x="533370" y="419070"/>
            <a:ext cx="1000171" cy="285750"/>
          </a:xfrm>
          <a:prstGeom prst="roundRect">
            <a:avLst>
              <a:gd name="adj" fmla="val 50000"/>
            </a:avLst>
          </a:prstGeom>
          <a:solidFill>
            <a:schemeClr val="accent2"/>
          </a:solidFill>
          <a:ln/>
        </p:spPr>
        <p:txBody>
          <a:bodyPr wrap="square" lIns="0" tIns="0" rIns="0" bIns="0" rtlCol="0" anchor="ctr"/>
          <a:lstStyle/>
          <a:p>
            <a:pPr algn="ctr" indent="0" marL="0">
              <a:lnSpc>
                <a:spcPct val="100000"/>
              </a:lnSpc>
              <a:buNone/>
            </a:pPr>
            <a:r>
              <a:rPr lang="en-US" sz="1100" b="1" spc="150" kern="0" dirty="0">
                <a:solidFill>
                  <a:schemeClr val="bg1"/>
                </a:solidFill>
              </a:rPr>
              <a:t>2-МЕКТЕП</a:t>
            </a:r>
            <a:endParaRPr lang="en-US" sz="1100" dirty="0"/>
          </a:p>
        </p:txBody>
      </p:sp>
      <p:sp>
        <p:nvSpPr>
          <p:cNvPr id="5" name="Text 2"/>
          <p:cNvSpPr txBox="1"/>
          <p:nvPr/>
        </p:nvSpPr>
        <p:spPr>
          <a:xfrm>
            <a:off x="533370" y="1714500"/>
            <a:ext cx="5143500" cy="209580"/>
          </a:xfrm>
          <a:prstGeom prst="rect">
            <a:avLst/>
          </a:prstGeom>
          <a:noFill/>
          <a:ln/>
        </p:spPr>
        <p:txBody>
          <a:bodyPr wrap="square" lIns="0" tIns="0" rIns="0" bIns="0" rtlCol="0" anchor="t"/>
          <a:lstStyle/>
          <a:p>
            <a:pPr algn="l" indent="0" marL="0">
              <a:lnSpc>
                <a:spcPct val="105000"/>
              </a:lnSpc>
              <a:buNone/>
            </a:pPr>
            <a:r>
              <a:rPr lang="en-US" sz="1200" b="1" dirty="0">
                <a:solidFill>
                  <a:srgbClr val="C9C2EC"/>
                </a:solidFill>
              </a:rPr>
              <a:t>Германия · Швеция · 1897–1945 · Мемлекет — тірі организм</a:t>
            </a:r>
            <a:endParaRPr lang="en-US" sz="1200" dirty="0"/>
          </a:p>
        </p:txBody>
      </p:sp>
      <p:sp>
        <p:nvSpPr>
          <p:cNvPr id="6" name="Card Фридрих Ратцель"/>
          <p:cNvSpPr/>
          <p:nvPr/>
        </p:nvSpPr>
        <p:spPr>
          <a:xfrm>
            <a:off x="533370" y="20192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7" name="Text 4"/>
          <p:cNvSpPr/>
          <p:nvPr/>
        </p:nvSpPr>
        <p:spPr>
          <a:xfrm>
            <a:off x="666780" y="2228850"/>
            <a:ext cx="495330" cy="495330"/>
          </a:xfrm>
          <a:prstGeom prst="ellipse">
            <a:avLst/>
          </a:prstGeom>
          <a:solidFill>
            <a:schemeClr val="accent2"/>
          </a:solidFill>
          <a:ln/>
        </p:spPr>
        <p:txBody>
          <a:bodyPr wrap="square" lIns="0" tIns="0" rIns="0" bIns="0" rtlCol="0" anchor="ctr"/>
          <a:lstStyle/>
          <a:p>
            <a:pPr algn="ctr" indent="0" marL="0">
              <a:lnSpc>
                <a:spcPct val="100000"/>
              </a:lnSpc>
              <a:buNone/>
            </a:pPr>
            <a:r>
              <a:rPr lang="en-US" sz="1400" b="1" dirty="0">
                <a:solidFill>
                  <a:schemeClr val="bg1"/>
                </a:solidFill>
              </a:rPr>
              <a:t>ФР</a:t>
            </a:r>
            <a:endParaRPr lang="en-US" sz="1400" dirty="0"/>
          </a:p>
        </p:txBody>
      </p:sp>
      <p:sp>
        <p:nvSpPr>
          <p:cNvPr id="8" name="Text 5"/>
          <p:cNvSpPr txBox="1"/>
          <p:nvPr/>
        </p:nvSpPr>
        <p:spPr>
          <a:xfrm>
            <a:off x="1295430" y="21050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Фридрих Ратцель</a:t>
            </a:r>
            <a:pPr algn="l" indent="0" marL="0">
              <a:lnSpc>
                <a:spcPct val="105000"/>
              </a:lnSpc>
              <a:buNone/>
            </a:pPr>
            <a:r>
              <a:rPr lang="en-US" sz="1100" dirty="0">
                <a:solidFill>
                  <a:srgbClr val="C9C2EC"/>
                </a:solidFill>
              </a:rPr>
              <a:t>   1844–1904</a:t>
            </a:r>
            <a:endParaRPr lang="en-US" sz="1400" dirty="0"/>
          </a:p>
        </p:txBody>
      </p:sp>
      <p:sp>
        <p:nvSpPr>
          <p:cNvPr id="9" name="Text 6"/>
          <p:cNvSpPr txBox="1"/>
          <p:nvPr/>
        </p:nvSpPr>
        <p:spPr>
          <a:xfrm>
            <a:off x="1295430" y="23336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«Саяси география», 1897</a:t>
            </a:r>
            <a:endParaRPr lang="en-US" sz="1150" dirty="0"/>
          </a:p>
        </p:txBody>
      </p:sp>
      <p:sp>
        <p:nvSpPr>
          <p:cNvPr id="10" name="Text 7"/>
          <p:cNvSpPr txBox="1"/>
          <p:nvPr/>
        </p:nvSpPr>
        <p:spPr>
          <a:xfrm>
            <a:off x="1295430" y="25241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Мемлекет тірі ағза сияқты өседі; «өмір сүру кеңістігі» (Lebensraum) ұғымы</a:t>
            </a:r>
            <a:endParaRPr lang="en-US" sz="1200" dirty="0"/>
          </a:p>
        </p:txBody>
      </p:sp>
      <p:sp>
        <p:nvSpPr>
          <p:cNvPr id="11" name="Card Рудольф Челлен"/>
          <p:cNvSpPr/>
          <p:nvPr/>
        </p:nvSpPr>
        <p:spPr>
          <a:xfrm>
            <a:off x="533370" y="30479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12" name="Text 9"/>
          <p:cNvSpPr/>
          <p:nvPr/>
        </p:nvSpPr>
        <p:spPr>
          <a:xfrm>
            <a:off x="666780" y="3257550"/>
            <a:ext cx="495330" cy="495330"/>
          </a:xfrm>
          <a:prstGeom prst="ellipse">
            <a:avLst/>
          </a:prstGeom>
          <a:solidFill>
            <a:schemeClr val="accent2"/>
          </a:solidFill>
          <a:ln/>
        </p:spPr>
        <p:txBody>
          <a:bodyPr wrap="square" lIns="0" tIns="0" rIns="0" bIns="0" rtlCol="0" anchor="ctr"/>
          <a:lstStyle/>
          <a:p>
            <a:pPr algn="ctr" indent="0" marL="0">
              <a:lnSpc>
                <a:spcPct val="100000"/>
              </a:lnSpc>
              <a:buNone/>
            </a:pPr>
            <a:r>
              <a:rPr lang="en-US" sz="1400" b="1" dirty="0">
                <a:solidFill>
                  <a:schemeClr val="bg1"/>
                </a:solidFill>
              </a:rPr>
              <a:t>РЧ</a:t>
            </a:r>
            <a:endParaRPr lang="en-US" sz="1400" dirty="0"/>
          </a:p>
        </p:txBody>
      </p:sp>
      <p:sp>
        <p:nvSpPr>
          <p:cNvPr id="13" name="Text 10"/>
          <p:cNvSpPr txBox="1"/>
          <p:nvPr/>
        </p:nvSpPr>
        <p:spPr>
          <a:xfrm>
            <a:off x="1295430" y="31337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Рудольф Челлен</a:t>
            </a:r>
            <a:pPr algn="l" indent="0" marL="0">
              <a:lnSpc>
                <a:spcPct val="105000"/>
              </a:lnSpc>
              <a:buNone/>
            </a:pPr>
            <a:r>
              <a:rPr lang="en-US" sz="1100" dirty="0">
                <a:solidFill>
                  <a:srgbClr val="C9C2EC"/>
                </a:solidFill>
              </a:rPr>
              <a:t>   1864–1922</a:t>
            </a:r>
            <a:endParaRPr lang="en-US" sz="1400" dirty="0"/>
          </a:p>
        </p:txBody>
      </p:sp>
      <p:sp>
        <p:nvSpPr>
          <p:cNvPr id="14" name="Text 11"/>
          <p:cNvSpPr txBox="1"/>
          <p:nvPr/>
        </p:nvSpPr>
        <p:spPr>
          <a:xfrm>
            <a:off x="1295430" y="33623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«Мемлекет — өмір формасы», 1916</a:t>
            </a:r>
            <a:endParaRPr lang="en-US" sz="1150" dirty="0"/>
          </a:p>
        </p:txBody>
      </p:sp>
      <p:sp>
        <p:nvSpPr>
          <p:cNvPr id="15" name="Text 12"/>
          <p:cNvSpPr txBox="1"/>
          <p:nvPr/>
        </p:nvSpPr>
        <p:spPr>
          <a:xfrm>
            <a:off x="1295430" y="35528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«Геосаясат» терминінің авторы; мемлекетті биологиялық тұтастық ретінде қарады</a:t>
            </a:r>
            <a:endParaRPr lang="en-US" sz="1200" dirty="0"/>
          </a:p>
        </p:txBody>
      </p:sp>
      <p:sp>
        <p:nvSpPr>
          <p:cNvPr id="16" name="Card Карл Хаусхофер"/>
          <p:cNvSpPr/>
          <p:nvPr/>
        </p:nvSpPr>
        <p:spPr>
          <a:xfrm>
            <a:off x="533370" y="40766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17" name="Text 14"/>
          <p:cNvSpPr/>
          <p:nvPr/>
        </p:nvSpPr>
        <p:spPr>
          <a:xfrm>
            <a:off x="666780" y="4286250"/>
            <a:ext cx="495330" cy="495330"/>
          </a:xfrm>
          <a:prstGeom prst="ellipse">
            <a:avLst/>
          </a:prstGeom>
          <a:solidFill>
            <a:schemeClr val="accent2"/>
          </a:solidFill>
          <a:ln/>
        </p:spPr>
        <p:txBody>
          <a:bodyPr wrap="square" lIns="0" tIns="0" rIns="0" bIns="0" rtlCol="0" anchor="ctr"/>
          <a:lstStyle/>
          <a:p>
            <a:pPr algn="ctr" indent="0" marL="0">
              <a:lnSpc>
                <a:spcPct val="100000"/>
              </a:lnSpc>
              <a:buNone/>
            </a:pPr>
            <a:r>
              <a:rPr lang="en-US" sz="1400" b="1" dirty="0">
                <a:solidFill>
                  <a:schemeClr val="bg1"/>
                </a:solidFill>
              </a:rPr>
              <a:t>КХ</a:t>
            </a:r>
            <a:endParaRPr lang="en-US" sz="1400" dirty="0"/>
          </a:p>
        </p:txBody>
      </p:sp>
      <p:sp>
        <p:nvSpPr>
          <p:cNvPr id="18" name="Text 15"/>
          <p:cNvSpPr txBox="1"/>
          <p:nvPr/>
        </p:nvSpPr>
        <p:spPr>
          <a:xfrm>
            <a:off x="1295430" y="41624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Карл Хаусхофер</a:t>
            </a:r>
            <a:pPr algn="l" indent="0" marL="0">
              <a:lnSpc>
                <a:spcPct val="105000"/>
              </a:lnSpc>
              <a:buNone/>
            </a:pPr>
            <a:r>
              <a:rPr lang="en-US" sz="1100" dirty="0">
                <a:solidFill>
                  <a:srgbClr val="C9C2EC"/>
                </a:solidFill>
              </a:rPr>
              <a:t>   1869–1946</a:t>
            </a:r>
            <a:endParaRPr lang="en-US" sz="1400" dirty="0"/>
          </a:p>
        </p:txBody>
      </p:sp>
      <p:sp>
        <p:nvSpPr>
          <p:cNvPr id="19" name="Text 16"/>
          <p:cNvSpPr txBox="1"/>
          <p:nvPr/>
        </p:nvSpPr>
        <p:spPr>
          <a:xfrm>
            <a:off x="1295430" y="43910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«Геосаясат журналы», 1924</a:t>
            </a:r>
            <a:endParaRPr lang="en-US" sz="1150" dirty="0"/>
          </a:p>
        </p:txBody>
      </p:sp>
      <p:sp>
        <p:nvSpPr>
          <p:cNvPr id="20" name="Text 17"/>
          <p:cNvSpPr txBox="1"/>
          <p:nvPr/>
        </p:nvSpPr>
        <p:spPr>
          <a:xfrm>
            <a:off x="1295430" y="45815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Әлемді </a:t>
            </a:r>
            <a:pPr algn="l" indent="0" marL="0">
              <a:lnSpc>
                <a:spcPct val="100000"/>
              </a:lnSpc>
              <a:buNone/>
            </a:pPr>
            <a:r>
              <a:rPr lang="en-US" sz="1200" b="1" dirty="0">
                <a:solidFill>
                  <a:schemeClr val="bg1"/>
                </a:solidFill>
              </a:rPr>
              <a:t>пан-аймақтарға</a:t>
            </a:r>
            <a:pPr algn="l" indent="0" marL="0">
              <a:lnSpc>
                <a:spcPct val="100000"/>
              </a:lnSpc>
              <a:buNone/>
            </a:pPr>
            <a:r>
              <a:rPr lang="en-US" sz="1200" dirty="0">
                <a:solidFill>
                  <a:schemeClr val="bg1"/>
                </a:solidFill>
              </a:rPr>
              <a:t> бөлу; Берлин–Мәскеу–Токио континенттік блогы</a:t>
            </a:r>
            <a:endParaRPr lang="en-US" sz="1200" dirty="0"/>
          </a:p>
        </p:txBody>
      </p:sp>
      <p:sp>
        <p:nvSpPr>
          <p:cNvPr id="21" name="Shape 18"/>
          <p:cNvSpPr/>
          <p:nvPr/>
        </p:nvSpPr>
        <p:spPr>
          <a:xfrm>
            <a:off x="533370" y="5162520"/>
            <a:ext cx="5143500" cy="1066830"/>
          </a:xfrm>
          <a:prstGeom prst="roundRect">
            <a:avLst>
              <a:gd name="adj" fmla="val 12000"/>
            </a:avLst>
          </a:prstGeom>
          <a:solidFill>
            <a:srgbClr val="FFFFFF">
              <a:alpha val="5000"/>
            </a:srgbClr>
          </a:solidFill>
          <a:ln w="9525">
            <a:solidFill>
              <a:srgbClr val="FFFFFF">
                <a:alpha val="35000"/>
              </a:srgbClr>
            </a:solidFill>
            <a:prstDash val="dash"/>
          </a:ln>
        </p:spPr>
      </p:sp>
      <p:sp>
        <p:nvSpPr>
          <p:cNvPr id="22" name="Text 19"/>
          <p:cNvSpPr txBox="1"/>
          <p:nvPr/>
        </p:nvSpPr>
        <p:spPr>
          <a:xfrm>
            <a:off x="685800" y="5257800"/>
            <a:ext cx="4838730" cy="895380"/>
          </a:xfrm>
          <a:prstGeom prst="rect">
            <a:avLst/>
          </a:prstGeom>
          <a:noFill/>
          <a:ln/>
        </p:spPr>
        <p:txBody>
          <a:bodyPr wrap="square" lIns="0" tIns="0" rIns="0" bIns="0" rtlCol="0" anchor="t"/>
          <a:lstStyle/>
          <a:p>
            <a:pPr algn="l" indent="0" marL="0">
              <a:lnSpc>
                <a:spcPct val="105000"/>
              </a:lnSpc>
              <a:buNone/>
            </a:pPr>
            <a:r>
              <a:rPr lang="en-US" sz="1200" dirty="0">
                <a:solidFill>
                  <a:schemeClr val="bg1"/>
                </a:solidFill>
              </a:rPr>
              <a:t>🔑 </a:t>
            </a:r>
            <a:pPr algn="l" indent="0" marL="0">
              <a:lnSpc>
                <a:spcPct val="105000"/>
              </a:lnSpc>
              <a:buNone/>
            </a:pPr>
            <a:r>
              <a:rPr lang="en-US" sz="1200" b="1" dirty="0">
                <a:solidFill>
                  <a:srgbClr val="FFD76A"/>
                </a:solidFill>
              </a:rPr>
              <a:t>Негізгі идея: </a:t>
            </a:r>
            <a:pPr algn="l" indent="0" marL="0">
              <a:lnSpc>
                <a:spcPct val="105000"/>
              </a:lnSpc>
              <a:buNone/>
            </a:pPr>
            <a:r>
              <a:rPr lang="en-US" sz="1200" dirty="0">
                <a:solidFill>
                  <a:schemeClr val="bg1"/>
                </a:solidFill>
              </a:rPr>
              <a:t>Географиялық орта мемлекеттің дамуын анықтайды (географиялық детерминизм); күшті мемлекет өз кеңістігін кеңейтуге табиғи түрде ұмтылады.</a:t>
            </a:r>
            <a:endParaRPr lang="en-US" sz="1200" dirty="0"/>
          </a:p>
        </p:txBody>
      </p:sp>
      <p:sp>
        <p:nvSpPr>
          <p:cNvPr id="23" name="Shape 20"/>
          <p:cNvSpPr/>
          <p:nvPr/>
        </p:nvSpPr>
        <p:spPr>
          <a:xfrm>
            <a:off x="6000750" y="419070"/>
            <a:ext cx="5657850" cy="3009930"/>
          </a:xfrm>
          <a:prstGeom prst="roundRect">
            <a:avLst>
              <a:gd name="adj" fmla="val 4253"/>
            </a:avLst>
          </a:prstGeom>
          <a:solidFill>
            <a:srgbClr val="FFFFFF">
              <a:alpha val="4000"/>
            </a:srgbClr>
          </a:solidFill>
          <a:ln w="9525">
            <a:solidFill>
              <a:srgbClr val="FFFFFF">
                <a:alpha val="14000"/>
              </a:srgbClr>
            </a:solidFill>
            <a:prstDash val="solid"/>
          </a:ln>
        </p:spPr>
      </p:sp>
      <p:pic>
        <p:nvPicPr>
          <p:cNvPr id="24" name="Image 0" descr="Хаусхофердің пан-аймақтар картасы">    </p:cNvPr>
          <p:cNvPicPr>
            <a:picLocks noChangeAspect="1"/>
          </p:cNvPicPr>
          <p:nvPr/>
        </p:nvPicPr>
        <p:blipFill>
          <a:blip r:embed="rId2"/>
          <a:stretch>
            <a:fillRect/>
          </a:stretch>
        </p:blipFill>
        <p:spPr>
          <a:xfrm>
            <a:off x="6038880" y="476220"/>
            <a:ext cx="5581680" cy="2886121"/>
          </a:xfrm>
          <a:prstGeom prst="rect">
            <a:avLst/>
          </a:prstGeom>
        </p:spPr>
      </p:pic>
      <p:sp>
        <p:nvSpPr>
          <p:cNvPr id="25" name="Shape 21"/>
          <p:cNvSpPr/>
          <p:nvPr/>
        </p:nvSpPr>
        <p:spPr>
          <a:xfrm>
            <a:off x="6038880" y="3543300"/>
            <a:ext cx="133320" cy="133320"/>
          </a:xfrm>
          <a:prstGeom prst="roundRect">
            <a:avLst>
              <a:gd name="adj" fmla="val 20576"/>
            </a:avLst>
          </a:prstGeom>
          <a:solidFill>
            <a:srgbClr val="4F8BFF"/>
          </a:solidFill>
          <a:ln/>
        </p:spPr>
      </p:sp>
      <p:sp>
        <p:nvSpPr>
          <p:cNvPr id="26" name="Text 22"/>
          <p:cNvSpPr txBox="1"/>
          <p:nvPr/>
        </p:nvSpPr>
        <p:spPr>
          <a:xfrm>
            <a:off x="6248370" y="3514771"/>
            <a:ext cx="116202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Пан-Америка</a:t>
            </a:r>
            <a:endParaRPr lang="en-US" sz="1100" dirty="0"/>
          </a:p>
        </p:txBody>
      </p:sp>
      <p:sp>
        <p:nvSpPr>
          <p:cNvPr id="27" name="Shape 23"/>
          <p:cNvSpPr/>
          <p:nvPr/>
        </p:nvSpPr>
        <p:spPr>
          <a:xfrm>
            <a:off x="7200900" y="3543300"/>
            <a:ext cx="133320" cy="133320"/>
          </a:xfrm>
          <a:prstGeom prst="roundRect">
            <a:avLst>
              <a:gd name="adj" fmla="val 20576"/>
            </a:avLst>
          </a:prstGeom>
          <a:solidFill>
            <a:srgbClr val="2AD4C4"/>
          </a:solidFill>
          <a:ln/>
        </p:spPr>
      </p:sp>
      <p:sp>
        <p:nvSpPr>
          <p:cNvPr id="28" name="Text 24"/>
          <p:cNvSpPr txBox="1"/>
          <p:nvPr/>
        </p:nvSpPr>
        <p:spPr>
          <a:xfrm>
            <a:off x="7410480" y="3514771"/>
            <a:ext cx="101919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Еурафрика</a:t>
            </a:r>
            <a:endParaRPr lang="en-US" sz="1100" dirty="0"/>
          </a:p>
        </p:txBody>
      </p:sp>
      <p:sp>
        <p:nvSpPr>
          <p:cNvPr id="29" name="Shape 25"/>
          <p:cNvSpPr/>
          <p:nvPr/>
        </p:nvSpPr>
        <p:spPr>
          <a:xfrm>
            <a:off x="8220090" y="3543300"/>
            <a:ext cx="133320" cy="133320"/>
          </a:xfrm>
          <a:prstGeom prst="roundRect">
            <a:avLst>
              <a:gd name="adj" fmla="val 20576"/>
            </a:avLst>
          </a:prstGeom>
          <a:solidFill>
            <a:srgbClr val="FF3D7F"/>
          </a:solidFill>
          <a:ln/>
        </p:spPr>
      </p:sp>
      <p:sp>
        <p:nvSpPr>
          <p:cNvPr id="30" name="Text 26"/>
          <p:cNvSpPr txBox="1"/>
          <p:nvPr/>
        </p:nvSpPr>
        <p:spPr>
          <a:xfrm>
            <a:off x="8429671" y="3514771"/>
            <a:ext cx="101919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Пан-Ресей</a:t>
            </a:r>
            <a:endParaRPr lang="en-US" sz="1100" dirty="0"/>
          </a:p>
        </p:txBody>
      </p:sp>
      <p:sp>
        <p:nvSpPr>
          <p:cNvPr id="31" name="Shape 27"/>
          <p:cNvSpPr/>
          <p:nvPr/>
        </p:nvSpPr>
        <p:spPr>
          <a:xfrm>
            <a:off x="9239280" y="3543300"/>
            <a:ext cx="133320" cy="133320"/>
          </a:xfrm>
          <a:prstGeom prst="roundRect">
            <a:avLst>
              <a:gd name="adj" fmla="val 20576"/>
            </a:avLst>
          </a:prstGeom>
          <a:solidFill>
            <a:srgbClr val="FFB020"/>
          </a:solidFill>
          <a:ln/>
        </p:spPr>
      </p:sp>
      <p:sp>
        <p:nvSpPr>
          <p:cNvPr id="32" name="Text 28"/>
          <p:cNvSpPr txBox="1"/>
          <p:nvPr/>
        </p:nvSpPr>
        <p:spPr>
          <a:xfrm>
            <a:off x="9448770" y="3514771"/>
            <a:ext cx="109536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Шығыс Азия</a:t>
            </a:r>
            <a:endParaRPr lang="en-US" sz="1100" dirty="0"/>
          </a:p>
        </p:txBody>
      </p:sp>
      <p:sp>
        <p:nvSpPr>
          <p:cNvPr id="33" name="Shape 29"/>
          <p:cNvSpPr/>
          <p:nvPr/>
        </p:nvSpPr>
        <p:spPr>
          <a:xfrm>
            <a:off x="6000750" y="3848070"/>
            <a:ext cx="2762220" cy="1619220"/>
          </a:xfrm>
          <a:prstGeom prst="roundRect">
            <a:avLst>
              <a:gd name="adj" fmla="val 7906"/>
            </a:avLst>
          </a:prstGeom>
          <a:solidFill>
            <a:srgbClr val="1FBF7F">
              <a:alpha val="30000"/>
            </a:srgbClr>
          </a:solidFill>
          <a:ln w="9525">
            <a:solidFill>
              <a:srgbClr val="FFFFFF">
                <a:alpha val="15000"/>
              </a:srgbClr>
            </a:solidFill>
            <a:prstDash val="solid"/>
          </a:ln>
        </p:spPr>
      </p:sp>
      <p:sp>
        <p:nvSpPr>
          <p:cNvPr id="34" name="Text 30"/>
          <p:cNvSpPr txBox="1"/>
          <p:nvPr/>
        </p:nvSpPr>
        <p:spPr>
          <a:xfrm>
            <a:off x="6172200" y="3981480"/>
            <a:ext cx="2438430" cy="1390620"/>
          </a:xfrm>
          <a:prstGeom prst="rect">
            <a:avLst/>
          </a:prstGeom>
          <a:noFill/>
          <a:ln/>
        </p:spPr>
        <p:txBody>
          <a:bodyPr wrap="square" lIns="0" tIns="0" rIns="0" bIns="0" rtlCol="0" anchor="t"/>
          <a:lstStyle/>
          <a:p>
            <a:pPr algn="l" indent="0" marL="0">
              <a:lnSpc>
                <a:spcPct val="108000"/>
              </a:lnSpc>
              <a:buNone/>
            </a:pPr>
            <a:r>
              <a:rPr lang="en-US" sz="1500" b="1" dirty="0">
                <a:solidFill>
                  <a:schemeClr val="bg1"/>
                </a:solidFill>
              </a:rPr>
              <a:t>✓ Үлесі</a:t>
            </a:r>
            <a:endParaRPr lang="en-US" sz="1300" dirty="0"/>
          </a:p>
          <a:p>
            <a:pPr algn="l" indent="0" marL="0">
              <a:lnSpc>
                <a:spcPct val="108000"/>
              </a:lnSpc>
              <a:buNone/>
            </a:pPr>
            <a:r>
              <a:rPr lang="en-US" sz="1300" dirty="0">
                <a:solidFill>
                  <a:schemeClr val="bg1"/>
                </a:solidFill>
              </a:rPr>
              <a:t>Кеңістікті саясаттың белсенді факторы ретінде жүйелі түрде алғаш зерттеді</a:t>
            </a:r>
            <a:endParaRPr lang="en-US" sz="1300" dirty="0"/>
          </a:p>
        </p:txBody>
      </p:sp>
      <p:sp>
        <p:nvSpPr>
          <p:cNvPr id="35" name="Shape 31"/>
          <p:cNvSpPr/>
          <p:nvPr/>
        </p:nvSpPr>
        <p:spPr>
          <a:xfrm>
            <a:off x="8896380" y="3848070"/>
            <a:ext cx="2762220" cy="1619220"/>
          </a:xfrm>
          <a:prstGeom prst="roundRect">
            <a:avLst>
              <a:gd name="adj" fmla="val 7906"/>
            </a:avLst>
          </a:prstGeom>
          <a:solidFill>
            <a:srgbClr val="FF512F">
              <a:alpha val="35000"/>
            </a:srgbClr>
          </a:solidFill>
          <a:ln w="9525">
            <a:solidFill>
              <a:srgbClr val="FFFFFF">
                <a:alpha val="15000"/>
              </a:srgbClr>
            </a:solidFill>
            <a:prstDash val="solid"/>
          </a:ln>
        </p:spPr>
      </p:sp>
      <p:sp>
        <p:nvSpPr>
          <p:cNvPr id="36" name="Text 32"/>
          <p:cNvSpPr txBox="1"/>
          <p:nvPr/>
        </p:nvSpPr>
        <p:spPr>
          <a:xfrm>
            <a:off x="9067830" y="3981480"/>
            <a:ext cx="2438430" cy="1390620"/>
          </a:xfrm>
          <a:prstGeom prst="rect">
            <a:avLst/>
          </a:prstGeom>
          <a:noFill/>
          <a:ln/>
        </p:spPr>
        <p:txBody>
          <a:bodyPr wrap="square" lIns="0" tIns="0" rIns="0" bIns="0" rtlCol="0" anchor="t"/>
          <a:lstStyle/>
          <a:p>
            <a:pPr algn="l" indent="0" marL="0">
              <a:lnSpc>
                <a:spcPct val="108000"/>
              </a:lnSpc>
              <a:buNone/>
            </a:pPr>
            <a:r>
              <a:rPr lang="en-US" sz="1500" b="1" dirty="0">
                <a:solidFill>
                  <a:schemeClr val="bg1"/>
                </a:solidFill>
              </a:rPr>
              <a:t>✗ Сын</a:t>
            </a:r>
            <a:endParaRPr lang="en-US" sz="1300" dirty="0"/>
          </a:p>
          <a:p>
            <a:pPr algn="l" indent="0" marL="0">
              <a:lnSpc>
                <a:spcPct val="108000"/>
              </a:lnSpc>
              <a:buNone/>
            </a:pPr>
            <a:r>
              <a:rPr lang="en-US" sz="1300" dirty="0">
                <a:solidFill>
                  <a:schemeClr val="bg1"/>
                </a:solidFill>
              </a:rPr>
              <a:t>Ұғымдары нацистік экспансияны ақтауға пайдаланылды — соғыстан кейін геосаясат ұзақ уақыт «тыйым салынған ғылымға» айналды</a:t>
            </a:r>
            <a:endParaRPr lang="en-US" sz="1300" dirty="0"/>
          </a:p>
        </p:txBody>
      </p:sp>
      <p:sp>
        <p:nvSpPr>
          <p:cNvPr id="25" name="Slide Number Placeholder 0"/>
          <p:cNvSpPr>
            <a:spLocks noGrp="1"/>
          </p:cNvSpPr>
          <p:nvPr>
            <p:ph type="sldNum" sz="quarter" idx="4294967295"/>
          </p:nvPr>
        </p:nvSpPr>
        <p:spPr>
          <a:xfrm>
            <a:off x="10953780" y="6515100"/>
            <a:ext cx="7619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C9C2E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33370" y="800100"/>
            <a:ext cx="5143500" cy="876270"/>
          </a:xfrm>
          <a:prstGeom prst="rect">
            <a:avLst/>
          </a:prstGeom>
          <a:noFill/>
          <a:ln/>
        </p:spPr>
        <p:txBody>
          <a:bodyPr wrap="square" lIns="0" tIns="0" rIns="0" bIns="0" rtlCol="0" anchor="t"/>
          <a:lstStyle/>
          <a:p>
            <a:pPr algn="l" indent="0" marL="0">
              <a:lnSpc>
                <a:spcPct val="95000"/>
              </a:lnSpc>
              <a:buNone/>
            </a:pPr>
            <a:r>
              <a:rPr lang="en-US" sz="2800" b="1" dirty="0">
                <a:solidFill>
                  <a:schemeClr val="bg1"/>
                </a:solidFill>
              </a:rPr>
              <a:t>Француз мектебі: поссибилизм</a:t>
            </a:r>
            <a:endParaRPr lang="en-US" sz="2800" dirty="0"/>
          </a:p>
        </p:txBody>
      </p:sp>
      <p:sp>
        <p:nvSpPr>
          <p:cNvPr id="4" name="Tag"/>
          <p:cNvSpPr/>
          <p:nvPr/>
        </p:nvSpPr>
        <p:spPr>
          <a:xfrm>
            <a:off x="533370" y="419070"/>
            <a:ext cx="1000171" cy="285750"/>
          </a:xfrm>
          <a:prstGeom prst="roundRect">
            <a:avLst>
              <a:gd name="adj" fmla="val 50000"/>
            </a:avLst>
          </a:prstGeom>
          <a:solidFill>
            <a:schemeClr val="accent3"/>
          </a:solidFill>
          <a:ln/>
        </p:spPr>
        <p:txBody>
          <a:bodyPr wrap="square" lIns="0" tIns="0" rIns="0" bIns="0" rtlCol="0" anchor="ctr"/>
          <a:lstStyle/>
          <a:p>
            <a:pPr algn="ctr" indent="0" marL="0">
              <a:lnSpc>
                <a:spcPct val="100000"/>
              </a:lnSpc>
              <a:buNone/>
            </a:pPr>
            <a:r>
              <a:rPr lang="en-US" sz="1100" b="1" spc="150" kern="0" dirty="0">
                <a:solidFill>
                  <a:schemeClr val="bg1"/>
                </a:solidFill>
              </a:rPr>
              <a:t>3-МЕКТЕП</a:t>
            </a:r>
            <a:endParaRPr lang="en-US" sz="1100" dirty="0"/>
          </a:p>
        </p:txBody>
      </p:sp>
      <p:sp>
        <p:nvSpPr>
          <p:cNvPr id="5" name="Text 2"/>
          <p:cNvSpPr txBox="1"/>
          <p:nvPr/>
        </p:nvSpPr>
        <p:spPr>
          <a:xfrm>
            <a:off x="533370" y="1714500"/>
            <a:ext cx="5143500" cy="209580"/>
          </a:xfrm>
          <a:prstGeom prst="rect">
            <a:avLst/>
          </a:prstGeom>
          <a:noFill/>
          <a:ln/>
        </p:spPr>
        <p:txBody>
          <a:bodyPr wrap="square" lIns="0" tIns="0" rIns="0" bIns="0" rtlCol="0" anchor="t"/>
          <a:lstStyle/>
          <a:p>
            <a:pPr algn="l" indent="0" marL="0">
              <a:lnSpc>
                <a:spcPct val="105000"/>
              </a:lnSpc>
              <a:buNone/>
            </a:pPr>
            <a:r>
              <a:rPr lang="en-US" sz="1200" b="1" dirty="0">
                <a:solidFill>
                  <a:srgbClr val="C9C2EC"/>
                </a:solidFill>
              </a:rPr>
              <a:t>Франция · 1900–бүгін · Табиғат мүмкіндік береді, адам таңдайды</a:t>
            </a:r>
            <a:endParaRPr lang="en-US" sz="1200" dirty="0"/>
          </a:p>
        </p:txBody>
      </p:sp>
      <p:sp>
        <p:nvSpPr>
          <p:cNvPr id="6" name="Card Поль Видаль де ла Блаш"/>
          <p:cNvSpPr/>
          <p:nvPr/>
        </p:nvSpPr>
        <p:spPr>
          <a:xfrm>
            <a:off x="533370" y="20192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7" name="Text 4"/>
          <p:cNvSpPr/>
          <p:nvPr/>
        </p:nvSpPr>
        <p:spPr>
          <a:xfrm>
            <a:off x="666780" y="2228850"/>
            <a:ext cx="495330" cy="495330"/>
          </a:xfrm>
          <a:prstGeom prst="ellipse">
            <a:avLst/>
          </a:prstGeom>
          <a:solidFill>
            <a:schemeClr val="accent3"/>
          </a:solidFill>
          <a:ln/>
        </p:spPr>
        <p:txBody>
          <a:bodyPr wrap="square" lIns="0" tIns="0" rIns="0" bIns="0" rtlCol="0" anchor="ctr"/>
          <a:lstStyle/>
          <a:p>
            <a:pPr algn="ctr" indent="0" marL="0">
              <a:lnSpc>
                <a:spcPct val="100000"/>
              </a:lnSpc>
              <a:buNone/>
            </a:pPr>
            <a:r>
              <a:rPr lang="en-US" sz="1400" b="1" dirty="0">
                <a:solidFill>
                  <a:schemeClr val="bg1"/>
                </a:solidFill>
              </a:rPr>
              <a:t>ВБ</a:t>
            </a:r>
            <a:endParaRPr lang="en-US" sz="1400" dirty="0"/>
          </a:p>
        </p:txBody>
      </p:sp>
      <p:sp>
        <p:nvSpPr>
          <p:cNvPr id="8" name="Text 5"/>
          <p:cNvSpPr txBox="1"/>
          <p:nvPr/>
        </p:nvSpPr>
        <p:spPr>
          <a:xfrm>
            <a:off x="1295430" y="21050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Поль Видаль де ла Блаш</a:t>
            </a:r>
            <a:pPr algn="l" indent="0" marL="0">
              <a:lnSpc>
                <a:spcPct val="105000"/>
              </a:lnSpc>
              <a:buNone/>
            </a:pPr>
            <a:r>
              <a:rPr lang="en-US" sz="1100" dirty="0">
                <a:solidFill>
                  <a:srgbClr val="C9C2EC"/>
                </a:solidFill>
              </a:rPr>
              <a:t>   1845–1918</a:t>
            </a:r>
            <a:endParaRPr lang="en-US" sz="1400" dirty="0"/>
          </a:p>
        </p:txBody>
      </p:sp>
      <p:sp>
        <p:nvSpPr>
          <p:cNvPr id="9" name="Text 6"/>
          <p:cNvSpPr txBox="1"/>
          <p:nvPr/>
        </p:nvSpPr>
        <p:spPr>
          <a:xfrm>
            <a:off x="1295430" y="23336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«Адам географиясының негіздері», 1922</a:t>
            </a:r>
            <a:endParaRPr lang="en-US" sz="1150" dirty="0"/>
          </a:p>
        </p:txBody>
      </p:sp>
      <p:sp>
        <p:nvSpPr>
          <p:cNvPr id="10" name="Text 7"/>
          <p:cNvSpPr txBox="1"/>
          <p:nvPr/>
        </p:nvSpPr>
        <p:spPr>
          <a:xfrm>
            <a:off x="1295430" y="25241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Поссибилизм: орта тағдырды анықтамайды; шешуші рөл — адамның «өмір салтында» (genre de vie)</a:t>
            </a:r>
            <a:endParaRPr lang="en-US" sz="1200" dirty="0"/>
          </a:p>
        </p:txBody>
      </p:sp>
      <p:sp>
        <p:nvSpPr>
          <p:cNvPr id="11" name="Card Жак Ансель"/>
          <p:cNvSpPr/>
          <p:nvPr/>
        </p:nvSpPr>
        <p:spPr>
          <a:xfrm>
            <a:off x="533370" y="30479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12" name="Text 9"/>
          <p:cNvSpPr/>
          <p:nvPr/>
        </p:nvSpPr>
        <p:spPr>
          <a:xfrm>
            <a:off x="666780" y="3257550"/>
            <a:ext cx="495330" cy="495330"/>
          </a:xfrm>
          <a:prstGeom prst="ellipse">
            <a:avLst/>
          </a:prstGeom>
          <a:solidFill>
            <a:schemeClr val="accent3"/>
          </a:solidFill>
          <a:ln/>
        </p:spPr>
        <p:txBody>
          <a:bodyPr wrap="square" lIns="0" tIns="0" rIns="0" bIns="0" rtlCol="0" anchor="ctr"/>
          <a:lstStyle/>
          <a:p>
            <a:pPr algn="ctr" indent="0" marL="0">
              <a:lnSpc>
                <a:spcPct val="100000"/>
              </a:lnSpc>
              <a:buNone/>
            </a:pPr>
            <a:r>
              <a:rPr lang="en-US" sz="1400" b="1" dirty="0">
                <a:solidFill>
                  <a:schemeClr val="bg1"/>
                </a:solidFill>
              </a:rPr>
              <a:t>ЖА</a:t>
            </a:r>
            <a:endParaRPr lang="en-US" sz="1400" dirty="0"/>
          </a:p>
        </p:txBody>
      </p:sp>
      <p:sp>
        <p:nvSpPr>
          <p:cNvPr id="13" name="Text 10"/>
          <p:cNvSpPr txBox="1"/>
          <p:nvPr/>
        </p:nvSpPr>
        <p:spPr>
          <a:xfrm>
            <a:off x="1295430" y="31337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Жак Ансель</a:t>
            </a:r>
            <a:pPr algn="l" indent="0" marL="0">
              <a:lnSpc>
                <a:spcPct val="105000"/>
              </a:lnSpc>
              <a:buNone/>
            </a:pPr>
            <a:r>
              <a:rPr lang="en-US" sz="1100" dirty="0">
                <a:solidFill>
                  <a:srgbClr val="C9C2EC"/>
                </a:solidFill>
              </a:rPr>
              <a:t>   1879–1943</a:t>
            </a:r>
            <a:endParaRPr lang="en-US" sz="1400" dirty="0"/>
          </a:p>
        </p:txBody>
      </p:sp>
      <p:sp>
        <p:nvSpPr>
          <p:cNvPr id="14" name="Text 11"/>
          <p:cNvSpPr txBox="1"/>
          <p:nvPr/>
        </p:nvSpPr>
        <p:spPr>
          <a:xfrm>
            <a:off x="1295430" y="33623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«Шекаралар географиясы», 1938</a:t>
            </a:r>
            <a:endParaRPr lang="en-US" sz="1150" dirty="0"/>
          </a:p>
        </p:txBody>
      </p:sp>
      <p:sp>
        <p:nvSpPr>
          <p:cNvPr id="15" name="Text 12"/>
          <p:cNvSpPr txBox="1"/>
          <p:nvPr/>
        </p:nvSpPr>
        <p:spPr>
          <a:xfrm>
            <a:off x="1295430" y="35528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Шекара — тұрақты сызық емес, күштер тепе-теңдігінің уақытша көрінісі</a:t>
            </a:r>
            <a:endParaRPr lang="en-US" sz="1200" dirty="0"/>
          </a:p>
        </p:txBody>
      </p:sp>
      <p:sp>
        <p:nvSpPr>
          <p:cNvPr id="16" name="Card Ив Лакост"/>
          <p:cNvSpPr/>
          <p:nvPr/>
        </p:nvSpPr>
        <p:spPr>
          <a:xfrm>
            <a:off x="533370" y="40766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17" name="Text 14"/>
          <p:cNvSpPr/>
          <p:nvPr/>
        </p:nvSpPr>
        <p:spPr>
          <a:xfrm>
            <a:off x="666780" y="4286250"/>
            <a:ext cx="495330" cy="495330"/>
          </a:xfrm>
          <a:prstGeom prst="ellipse">
            <a:avLst/>
          </a:prstGeom>
          <a:solidFill>
            <a:schemeClr val="accent3"/>
          </a:solidFill>
          <a:ln/>
        </p:spPr>
        <p:txBody>
          <a:bodyPr wrap="square" lIns="0" tIns="0" rIns="0" bIns="0" rtlCol="0" anchor="ctr"/>
          <a:lstStyle/>
          <a:p>
            <a:pPr algn="ctr" indent="0" marL="0">
              <a:lnSpc>
                <a:spcPct val="100000"/>
              </a:lnSpc>
              <a:buNone/>
            </a:pPr>
            <a:r>
              <a:rPr lang="en-US" sz="1400" b="1" dirty="0">
                <a:solidFill>
                  <a:schemeClr val="bg1"/>
                </a:solidFill>
              </a:rPr>
              <a:t>ИЛ</a:t>
            </a:r>
            <a:endParaRPr lang="en-US" sz="1400" dirty="0"/>
          </a:p>
        </p:txBody>
      </p:sp>
      <p:sp>
        <p:nvSpPr>
          <p:cNvPr id="18" name="Text 15"/>
          <p:cNvSpPr txBox="1"/>
          <p:nvPr/>
        </p:nvSpPr>
        <p:spPr>
          <a:xfrm>
            <a:off x="1295430" y="41624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Ив Лакост</a:t>
            </a:r>
            <a:pPr algn="l" indent="0" marL="0">
              <a:lnSpc>
                <a:spcPct val="105000"/>
              </a:lnSpc>
              <a:buNone/>
            </a:pPr>
            <a:r>
              <a:rPr lang="en-US" sz="1100" dirty="0">
                <a:solidFill>
                  <a:srgbClr val="C9C2EC"/>
                </a:solidFill>
              </a:rPr>
              <a:t>   1929 ж.т.</a:t>
            </a:r>
            <a:endParaRPr lang="en-US" sz="1400" dirty="0"/>
          </a:p>
        </p:txBody>
      </p:sp>
      <p:sp>
        <p:nvSpPr>
          <p:cNvPr id="19" name="Text 16"/>
          <p:cNvSpPr txBox="1"/>
          <p:nvPr/>
        </p:nvSpPr>
        <p:spPr>
          <a:xfrm>
            <a:off x="1295430" y="43910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«Hérodote» журналы, 1976</a:t>
            </a:r>
            <a:endParaRPr lang="en-US" sz="1150" dirty="0"/>
          </a:p>
        </p:txBody>
      </p:sp>
      <p:sp>
        <p:nvSpPr>
          <p:cNvPr id="20" name="Text 17"/>
          <p:cNvSpPr txBox="1"/>
          <p:nvPr/>
        </p:nvSpPr>
        <p:spPr>
          <a:xfrm>
            <a:off x="1295430" y="45815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«География ең алдымен соғыс жүргізуге қызмет етеді» — геосаясатты қайта жаңғыртты</a:t>
            </a:r>
            <a:endParaRPr lang="en-US" sz="1200" dirty="0"/>
          </a:p>
        </p:txBody>
      </p:sp>
      <p:sp>
        <p:nvSpPr>
          <p:cNvPr id="21" name="Shape 18"/>
          <p:cNvSpPr/>
          <p:nvPr/>
        </p:nvSpPr>
        <p:spPr>
          <a:xfrm>
            <a:off x="533370" y="5162520"/>
            <a:ext cx="5143500" cy="1066830"/>
          </a:xfrm>
          <a:prstGeom prst="roundRect">
            <a:avLst>
              <a:gd name="adj" fmla="val 12000"/>
            </a:avLst>
          </a:prstGeom>
          <a:solidFill>
            <a:srgbClr val="FFFFFF">
              <a:alpha val="5000"/>
            </a:srgbClr>
          </a:solidFill>
          <a:ln w="9525">
            <a:solidFill>
              <a:srgbClr val="FFFFFF">
                <a:alpha val="35000"/>
              </a:srgbClr>
            </a:solidFill>
            <a:prstDash val="dash"/>
          </a:ln>
        </p:spPr>
      </p:sp>
      <p:sp>
        <p:nvSpPr>
          <p:cNvPr id="22" name="Text 19"/>
          <p:cNvSpPr txBox="1"/>
          <p:nvPr/>
        </p:nvSpPr>
        <p:spPr>
          <a:xfrm>
            <a:off x="685800" y="5257800"/>
            <a:ext cx="4838730" cy="895380"/>
          </a:xfrm>
          <a:prstGeom prst="rect">
            <a:avLst/>
          </a:prstGeom>
          <a:noFill/>
          <a:ln/>
        </p:spPr>
        <p:txBody>
          <a:bodyPr wrap="square" lIns="0" tIns="0" rIns="0" bIns="0" rtlCol="0" anchor="t"/>
          <a:lstStyle/>
          <a:p>
            <a:pPr algn="l" indent="0" marL="0">
              <a:lnSpc>
                <a:spcPct val="105000"/>
              </a:lnSpc>
              <a:buNone/>
            </a:pPr>
            <a:r>
              <a:rPr lang="en-US" sz="1200" dirty="0">
                <a:solidFill>
                  <a:schemeClr val="bg1"/>
                </a:solidFill>
              </a:rPr>
              <a:t>🔑 </a:t>
            </a:r>
            <a:pPr algn="l" indent="0" marL="0">
              <a:lnSpc>
                <a:spcPct val="105000"/>
              </a:lnSpc>
              <a:buNone/>
            </a:pPr>
            <a:r>
              <a:rPr lang="en-US" sz="1200" b="1" dirty="0">
                <a:solidFill>
                  <a:srgbClr val="FFD76A"/>
                </a:solidFill>
              </a:rPr>
              <a:t>Негізгі идея: </a:t>
            </a:r>
            <a:pPr algn="l" indent="0" marL="0">
              <a:lnSpc>
                <a:spcPct val="105000"/>
              </a:lnSpc>
              <a:buNone/>
            </a:pPr>
            <a:r>
              <a:rPr lang="en-US" sz="1200" dirty="0">
                <a:solidFill>
                  <a:schemeClr val="bg1"/>
                </a:solidFill>
              </a:rPr>
              <a:t>География — «мүмкіндіктер мәзірі». Саясатты түсіну үшін аймақтың тарихын, мәдениетін және адамдардың кеңістік туралы түсініктерін (représentations) зерттеу қажет.</a:t>
            </a:r>
            <a:endParaRPr lang="en-US" sz="1200" dirty="0"/>
          </a:p>
        </p:txBody>
      </p:sp>
      <p:pic>
        <p:nvPicPr>
          <p:cNvPr id="23" name="Image 0" descr="Франция картасы — аймақтар мозаикасы">    </p:cNvPr>
          <p:cNvPicPr>
            <a:picLocks noChangeAspect="1"/>
          </p:cNvPicPr>
          <p:nvPr/>
        </p:nvPicPr>
        <p:blipFill>
          <a:blip r:embed="rId2"/>
          <a:stretch>
            <a:fillRect/>
          </a:stretch>
        </p:blipFill>
        <p:spPr>
          <a:xfrm>
            <a:off x="6667530" y="419070"/>
            <a:ext cx="3905220" cy="3905220"/>
          </a:xfrm>
          <a:prstGeom prst="rect">
            <a:avLst/>
          </a:prstGeom>
        </p:spPr>
      </p:pic>
      <p:sp>
        <p:nvSpPr>
          <p:cNvPr id="24" name="Shape 20"/>
          <p:cNvSpPr/>
          <p:nvPr/>
        </p:nvSpPr>
        <p:spPr>
          <a:xfrm>
            <a:off x="6000750" y="666780"/>
            <a:ext cx="2038380" cy="533370"/>
          </a:xfrm>
          <a:prstGeom prst="roundRect">
            <a:avLst>
              <a:gd name="adj" fmla="val 24001"/>
            </a:avLst>
          </a:prstGeom>
          <a:solidFill>
            <a:srgbClr val="140A3C">
              <a:alpha val="90000"/>
            </a:srgbClr>
          </a:solidFill>
          <a:ln w="19050">
            <a:solidFill>
              <a:srgbClr val="FC6767"/>
            </a:solidFill>
            <a:prstDash val="solid"/>
          </a:ln>
        </p:spPr>
      </p:sp>
      <p:sp>
        <p:nvSpPr>
          <p:cNvPr id="25" name="Text 21"/>
          <p:cNvSpPr txBox="1"/>
          <p:nvPr/>
        </p:nvSpPr>
        <p:spPr>
          <a:xfrm>
            <a:off x="6115050" y="742950"/>
            <a:ext cx="1866930" cy="400050"/>
          </a:xfrm>
          <a:prstGeom prst="rect">
            <a:avLst/>
          </a:prstGeom>
          <a:noFill/>
          <a:ln/>
        </p:spPr>
        <p:txBody>
          <a:bodyPr wrap="square" lIns="0" tIns="0" rIns="0" bIns="0" rtlCol="0" anchor="t"/>
          <a:lstStyle/>
          <a:p>
            <a:pPr algn="l" indent="0" marL="0">
              <a:lnSpc>
                <a:spcPct val="105000"/>
              </a:lnSpc>
              <a:buNone/>
            </a:pPr>
            <a:r>
              <a:rPr lang="en-US" sz="1300" b="1" dirty="0">
                <a:solidFill>
                  <a:schemeClr val="bg1"/>
                </a:solidFill>
              </a:rPr>
              <a:t>🌄 Табиғи орта</a:t>
            </a:r>
            <a:endParaRPr lang="en-US" sz="1400" dirty="0"/>
          </a:p>
          <a:p>
            <a:pPr algn="l" indent="0" marL="0">
              <a:lnSpc>
                <a:spcPct val="105000"/>
              </a:lnSpc>
              <a:buNone/>
            </a:pPr>
            <a:r>
              <a:rPr lang="en-US" sz="1100" dirty="0">
                <a:solidFill>
                  <a:srgbClr val="C9C2EC"/>
                </a:solidFill>
              </a:rPr>
              <a:t>мүмкіндіктер жиынтығы</a:t>
            </a:r>
            <a:endParaRPr lang="en-US" sz="1400" dirty="0"/>
          </a:p>
        </p:txBody>
      </p:sp>
      <p:sp>
        <p:nvSpPr>
          <p:cNvPr id="26" name="Shape 22"/>
          <p:cNvSpPr/>
          <p:nvPr/>
        </p:nvSpPr>
        <p:spPr>
          <a:xfrm>
            <a:off x="9620220" y="1809780"/>
            <a:ext cx="2038380" cy="533370"/>
          </a:xfrm>
          <a:prstGeom prst="roundRect">
            <a:avLst>
              <a:gd name="adj" fmla="val 24001"/>
            </a:avLst>
          </a:prstGeom>
          <a:solidFill>
            <a:srgbClr val="140A3C">
              <a:alpha val="90000"/>
            </a:srgbClr>
          </a:solidFill>
          <a:ln w="19050">
            <a:solidFill>
              <a:srgbClr val="FC6767"/>
            </a:solidFill>
            <a:prstDash val="solid"/>
          </a:ln>
        </p:spPr>
      </p:sp>
      <p:sp>
        <p:nvSpPr>
          <p:cNvPr id="27" name="Text 23"/>
          <p:cNvSpPr txBox="1"/>
          <p:nvPr/>
        </p:nvSpPr>
        <p:spPr>
          <a:xfrm>
            <a:off x="9734520" y="1885950"/>
            <a:ext cx="1866930" cy="400050"/>
          </a:xfrm>
          <a:prstGeom prst="rect">
            <a:avLst/>
          </a:prstGeom>
          <a:noFill/>
          <a:ln/>
        </p:spPr>
        <p:txBody>
          <a:bodyPr wrap="square" lIns="0" tIns="0" rIns="0" bIns="0" rtlCol="0" anchor="t"/>
          <a:lstStyle/>
          <a:p>
            <a:pPr algn="l" indent="0" marL="0">
              <a:lnSpc>
                <a:spcPct val="105000"/>
              </a:lnSpc>
              <a:buNone/>
            </a:pPr>
            <a:r>
              <a:rPr lang="en-US" sz="1300" b="1" dirty="0">
                <a:solidFill>
                  <a:schemeClr val="bg1"/>
                </a:solidFill>
              </a:rPr>
              <a:t>👥 Адам</a:t>
            </a:r>
            <a:endParaRPr lang="en-US" sz="1400" dirty="0"/>
          </a:p>
          <a:p>
            <a:pPr algn="l" indent="0" marL="0">
              <a:lnSpc>
                <a:spcPct val="105000"/>
              </a:lnSpc>
              <a:buNone/>
            </a:pPr>
            <a:r>
              <a:rPr lang="en-US" sz="1100" dirty="0">
                <a:solidFill>
                  <a:srgbClr val="C9C2EC"/>
                </a:solidFill>
              </a:rPr>
              <a:t>таңдау мен еңбек</a:t>
            </a:r>
            <a:endParaRPr lang="en-US" sz="1400" dirty="0"/>
          </a:p>
        </p:txBody>
      </p:sp>
      <p:sp>
        <p:nvSpPr>
          <p:cNvPr id="28" name="Shape 24"/>
          <p:cNvSpPr/>
          <p:nvPr/>
        </p:nvSpPr>
        <p:spPr>
          <a:xfrm>
            <a:off x="6096030" y="3619470"/>
            <a:ext cx="2038380" cy="533370"/>
          </a:xfrm>
          <a:prstGeom prst="roundRect">
            <a:avLst>
              <a:gd name="adj" fmla="val 24001"/>
            </a:avLst>
          </a:prstGeom>
          <a:solidFill>
            <a:srgbClr val="140A3C">
              <a:alpha val="90000"/>
            </a:srgbClr>
          </a:solidFill>
          <a:ln w="19050">
            <a:solidFill>
              <a:srgbClr val="FC6767"/>
            </a:solidFill>
            <a:prstDash val="solid"/>
          </a:ln>
        </p:spPr>
      </p:sp>
      <p:sp>
        <p:nvSpPr>
          <p:cNvPr id="29" name="Text 25"/>
          <p:cNvSpPr txBox="1"/>
          <p:nvPr/>
        </p:nvSpPr>
        <p:spPr>
          <a:xfrm>
            <a:off x="6210330" y="3695730"/>
            <a:ext cx="1866930" cy="400050"/>
          </a:xfrm>
          <a:prstGeom prst="rect">
            <a:avLst/>
          </a:prstGeom>
          <a:noFill/>
          <a:ln/>
        </p:spPr>
        <p:txBody>
          <a:bodyPr wrap="square" lIns="0" tIns="0" rIns="0" bIns="0" rtlCol="0" anchor="t"/>
          <a:lstStyle/>
          <a:p>
            <a:pPr algn="l" indent="0" marL="0">
              <a:lnSpc>
                <a:spcPct val="105000"/>
              </a:lnSpc>
              <a:buNone/>
            </a:pPr>
            <a:r>
              <a:rPr lang="en-US" sz="1300" b="1" dirty="0">
                <a:solidFill>
                  <a:schemeClr val="bg1"/>
                </a:solidFill>
              </a:rPr>
              <a:t>🏘️ Аймақ (pays)</a:t>
            </a:r>
            <a:endParaRPr lang="en-US" sz="1400" dirty="0"/>
          </a:p>
          <a:p>
            <a:pPr algn="l" indent="0" marL="0">
              <a:lnSpc>
                <a:spcPct val="105000"/>
              </a:lnSpc>
              <a:buNone/>
            </a:pPr>
            <a:r>
              <a:rPr lang="en-US" sz="1100" dirty="0">
                <a:solidFill>
                  <a:srgbClr val="C9C2EC"/>
                </a:solidFill>
              </a:rPr>
              <a:t>тарих пен мәдениет жемісі</a:t>
            </a:r>
            <a:endParaRPr lang="en-US" sz="1400" dirty="0"/>
          </a:p>
        </p:txBody>
      </p:sp>
      <p:sp>
        <p:nvSpPr>
          <p:cNvPr id="30" name="Shape 26"/>
          <p:cNvSpPr/>
          <p:nvPr/>
        </p:nvSpPr>
        <p:spPr>
          <a:xfrm>
            <a:off x="6000750" y="4514850"/>
            <a:ext cx="2571750" cy="990570"/>
          </a:xfrm>
          <a:prstGeom prst="roundRect">
            <a:avLst>
              <a:gd name="adj" fmla="val 12923"/>
            </a:avLst>
          </a:prstGeom>
          <a:solidFill>
            <a:srgbClr val="FFFFFF">
              <a:alpha val="9000"/>
            </a:srgbClr>
          </a:solidFill>
          <a:ln w="9525">
            <a:solidFill>
              <a:srgbClr val="FFFFFF">
                <a:alpha val="14000"/>
              </a:srgbClr>
            </a:solidFill>
            <a:prstDash val="solid"/>
          </a:ln>
        </p:spPr>
      </p:sp>
      <p:sp>
        <p:nvSpPr>
          <p:cNvPr id="31" name="Text 27"/>
          <p:cNvSpPr txBox="1"/>
          <p:nvPr/>
        </p:nvSpPr>
        <p:spPr>
          <a:xfrm>
            <a:off x="6134070" y="4629150"/>
            <a:ext cx="2324130" cy="800100"/>
          </a:xfrm>
          <a:prstGeom prst="rect">
            <a:avLst/>
          </a:prstGeom>
          <a:noFill/>
          <a:ln/>
        </p:spPr>
        <p:txBody>
          <a:bodyPr wrap="square" lIns="0" tIns="0" rIns="0" bIns="0" rtlCol="0" anchor="t"/>
          <a:lstStyle/>
          <a:p>
            <a:pPr algn="l" indent="0" marL="0">
              <a:lnSpc>
                <a:spcPct val="108000"/>
              </a:lnSpc>
              <a:buNone/>
            </a:pPr>
            <a:r>
              <a:rPr lang="en-US" sz="1400" b="1" dirty="0">
                <a:solidFill>
                  <a:srgbClr val="FFD76A"/>
                </a:solidFill>
              </a:rPr>
              <a:t>Неміс детерминизмі</a:t>
            </a:r>
            <a:endParaRPr lang="en-US" sz="1300" dirty="0"/>
          </a:p>
          <a:p>
            <a:pPr algn="l" indent="0" marL="0">
              <a:lnSpc>
                <a:spcPct val="108000"/>
              </a:lnSpc>
              <a:buNone/>
            </a:pPr>
            <a:r>
              <a:rPr lang="en-US" sz="1300" dirty="0">
                <a:solidFill>
                  <a:schemeClr val="bg1"/>
                </a:solidFill>
              </a:rPr>
              <a:t>«Кеңістік мемлекеттің тағдырын анықтайды»</a:t>
            </a:r>
            <a:endParaRPr lang="en-US" sz="1300" dirty="0"/>
          </a:p>
        </p:txBody>
      </p:sp>
      <p:sp>
        <p:nvSpPr>
          <p:cNvPr id="32" name="Shape 28"/>
          <p:cNvSpPr/>
          <p:nvPr/>
        </p:nvSpPr>
        <p:spPr>
          <a:xfrm>
            <a:off x="9086850" y="4514850"/>
            <a:ext cx="2571750" cy="990570"/>
          </a:xfrm>
          <a:prstGeom prst="roundRect">
            <a:avLst>
              <a:gd name="adj" fmla="val 12923"/>
            </a:avLst>
          </a:prstGeom>
          <a:solidFill>
            <a:srgbClr val="FFFFFF">
              <a:alpha val="9000"/>
            </a:srgbClr>
          </a:solidFill>
          <a:ln w="9525">
            <a:solidFill>
              <a:srgbClr val="FFFFFF">
                <a:alpha val="14000"/>
              </a:srgbClr>
            </a:solidFill>
            <a:prstDash val="solid"/>
          </a:ln>
        </p:spPr>
      </p:sp>
      <p:sp>
        <p:nvSpPr>
          <p:cNvPr id="33" name="Text 29"/>
          <p:cNvSpPr txBox="1"/>
          <p:nvPr/>
        </p:nvSpPr>
        <p:spPr>
          <a:xfrm>
            <a:off x="9220170" y="4629150"/>
            <a:ext cx="2324130" cy="800100"/>
          </a:xfrm>
          <a:prstGeom prst="rect">
            <a:avLst/>
          </a:prstGeom>
          <a:noFill/>
          <a:ln/>
        </p:spPr>
        <p:txBody>
          <a:bodyPr wrap="square" lIns="0" tIns="0" rIns="0" bIns="0" rtlCol="0" anchor="t"/>
          <a:lstStyle/>
          <a:p>
            <a:pPr algn="l" indent="0" marL="0">
              <a:lnSpc>
                <a:spcPct val="108000"/>
              </a:lnSpc>
              <a:buNone/>
            </a:pPr>
            <a:r>
              <a:rPr lang="en-US" sz="1400" b="1" dirty="0">
                <a:solidFill>
                  <a:srgbClr val="FFD76A"/>
                </a:solidFill>
              </a:rPr>
              <a:t>Француз поссибилизмі</a:t>
            </a:r>
            <a:endParaRPr lang="en-US" sz="1300" dirty="0"/>
          </a:p>
          <a:p>
            <a:pPr algn="l" indent="0" marL="0">
              <a:lnSpc>
                <a:spcPct val="108000"/>
              </a:lnSpc>
              <a:buNone/>
            </a:pPr>
            <a:r>
              <a:rPr lang="en-US" sz="1300" dirty="0">
                <a:solidFill>
                  <a:schemeClr val="bg1"/>
                </a:solidFill>
              </a:rPr>
              <a:t>«Кеңістік тек мүмкіндік береді — шешімді адам қабылдайды»</a:t>
            </a:r>
            <a:endParaRPr lang="en-US" sz="1300" dirty="0"/>
          </a:p>
        </p:txBody>
      </p:sp>
      <p:sp>
        <p:nvSpPr>
          <p:cNvPr id="34" name="Text 30"/>
          <p:cNvSpPr txBox="1"/>
          <p:nvPr/>
        </p:nvSpPr>
        <p:spPr>
          <a:xfrm>
            <a:off x="8572500" y="4819620"/>
            <a:ext cx="514350" cy="381030"/>
          </a:xfrm>
          <a:prstGeom prst="rect">
            <a:avLst/>
          </a:prstGeom>
          <a:noFill/>
          <a:ln/>
        </p:spPr>
        <p:txBody>
          <a:bodyPr wrap="square" lIns="0" tIns="0" rIns="0" bIns="0" rtlCol="0" anchor="ctr"/>
          <a:lstStyle/>
          <a:p>
            <a:pPr algn="ctr" indent="0" marL="0">
              <a:lnSpc>
                <a:spcPct val="105000"/>
              </a:lnSpc>
              <a:buNone/>
            </a:pPr>
            <a:r>
              <a:rPr lang="en-US" sz="2200" b="1" dirty="0">
                <a:solidFill>
                  <a:srgbClr val="FC6767"/>
                </a:solidFill>
              </a:rPr>
              <a:t>VS</a:t>
            </a:r>
            <a:endParaRPr lang="en-US" sz="2200" dirty="0"/>
          </a:p>
        </p:txBody>
      </p:sp>
      <p:sp>
        <p:nvSpPr>
          <p:cNvPr id="25" name="Slide Number Placeholder 0"/>
          <p:cNvSpPr>
            <a:spLocks noGrp="1"/>
          </p:cNvSpPr>
          <p:nvPr>
            <p:ph type="sldNum" sz="quarter" idx="4294967295"/>
          </p:nvPr>
        </p:nvSpPr>
        <p:spPr>
          <a:xfrm>
            <a:off x="10953780" y="6515100"/>
            <a:ext cx="7619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C9C2E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33370" y="800100"/>
            <a:ext cx="5143500" cy="876270"/>
          </a:xfrm>
          <a:prstGeom prst="rect">
            <a:avLst/>
          </a:prstGeom>
          <a:noFill/>
          <a:ln/>
        </p:spPr>
        <p:txBody>
          <a:bodyPr wrap="square" lIns="0" tIns="0" rIns="0" bIns="0" rtlCol="0" anchor="t"/>
          <a:lstStyle/>
          <a:p>
            <a:pPr algn="l" indent="0" marL="0">
              <a:lnSpc>
                <a:spcPct val="95000"/>
              </a:lnSpc>
              <a:buNone/>
            </a:pPr>
            <a:r>
              <a:rPr lang="en-US" sz="2800" b="1" dirty="0">
                <a:solidFill>
                  <a:schemeClr val="bg1"/>
                </a:solidFill>
              </a:rPr>
              <a:t>Ресей еуразиялық мектебі</a:t>
            </a:r>
            <a:endParaRPr lang="en-US" sz="2800" dirty="0"/>
          </a:p>
        </p:txBody>
      </p:sp>
      <p:sp>
        <p:nvSpPr>
          <p:cNvPr id="4" name="Tag"/>
          <p:cNvSpPr/>
          <p:nvPr/>
        </p:nvSpPr>
        <p:spPr>
          <a:xfrm>
            <a:off x="533370" y="419070"/>
            <a:ext cx="1000171" cy="285750"/>
          </a:xfrm>
          <a:prstGeom prst="roundRect">
            <a:avLst>
              <a:gd name="adj" fmla="val 50000"/>
            </a:avLst>
          </a:prstGeom>
          <a:solidFill>
            <a:schemeClr val="accent4"/>
          </a:solidFill>
          <a:ln/>
        </p:spPr>
        <p:txBody>
          <a:bodyPr wrap="square" lIns="0" tIns="0" rIns="0" bIns="0" rtlCol="0" anchor="ctr"/>
          <a:lstStyle/>
          <a:p>
            <a:pPr algn="ctr" indent="0" marL="0">
              <a:lnSpc>
                <a:spcPct val="100000"/>
              </a:lnSpc>
              <a:buNone/>
            </a:pPr>
            <a:r>
              <a:rPr lang="en-US" sz="1100" b="1" spc="150" kern="0" dirty="0">
                <a:solidFill>
                  <a:schemeClr val="bg1"/>
                </a:solidFill>
              </a:rPr>
              <a:t>4-МЕКТЕП</a:t>
            </a:r>
            <a:endParaRPr lang="en-US" sz="1100" dirty="0"/>
          </a:p>
        </p:txBody>
      </p:sp>
      <p:sp>
        <p:nvSpPr>
          <p:cNvPr id="5" name="Text 2"/>
          <p:cNvSpPr txBox="1"/>
          <p:nvPr/>
        </p:nvSpPr>
        <p:spPr>
          <a:xfrm>
            <a:off x="533370" y="1714500"/>
            <a:ext cx="5143500" cy="209580"/>
          </a:xfrm>
          <a:prstGeom prst="rect">
            <a:avLst/>
          </a:prstGeom>
          <a:noFill/>
          <a:ln/>
        </p:spPr>
        <p:txBody>
          <a:bodyPr wrap="square" lIns="0" tIns="0" rIns="0" bIns="0" rtlCol="0" anchor="t"/>
          <a:lstStyle/>
          <a:p>
            <a:pPr algn="l" indent="0" marL="0">
              <a:lnSpc>
                <a:spcPct val="105000"/>
              </a:lnSpc>
              <a:buNone/>
            </a:pPr>
            <a:r>
              <a:rPr lang="en-US" sz="1200" b="1" dirty="0">
                <a:solidFill>
                  <a:srgbClr val="C9C2EC"/>
                </a:solidFill>
              </a:rPr>
              <a:t>Эмиграция (1920 ж.) · КСРО · Ресей · Еуразия — ерекше өркениет</a:t>
            </a:r>
            <a:endParaRPr lang="en-US" sz="1200" dirty="0"/>
          </a:p>
        </p:txBody>
      </p:sp>
      <p:sp>
        <p:nvSpPr>
          <p:cNvPr id="6" name="Card Пётр Савицкий"/>
          <p:cNvSpPr/>
          <p:nvPr/>
        </p:nvSpPr>
        <p:spPr>
          <a:xfrm>
            <a:off x="533370" y="20192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7" name="Text 4"/>
          <p:cNvSpPr/>
          <p:nvPr/>
        </p:nvSpPr>
        <p:spPr>
          <a:xfrm>
            <a:off x="666780" y="2228850"/>
            <a:ext cx="495330" cy="495330"/>
          </a:xfrm>
          <a:prstGeom prst="ellipse">
            <a:avLst/>
          </a:prstGeom>
          <a:solidFill>
            <a:schemeClr val="accent4"/>
          </a:solidFill>
          <a:ln/>
        </p:spPr>
        <p:txBody>
          <a:bodyPr wrap="square" lIns="0" tIns="0" rIns="0" bIns="0" rtlCol="0" anchor="ctr"/>
          <a:lstStyle/>
          <a:p>
            <a:pPr algn="ctr" indent="0" marL="0">
              <a:lnSpc>
                <a:spcPct val="100000"/>
              </a:lnSpc>
              <a:buNone/>
            </a:pPr>
            <a:r>
              <a:rPr lang="en-US" sz="1400" b="1" dirty="0">
                <a:solidFill>
                  <a:schemeClr val="bg1"/>
                </a:solidFill>
              </a:rPr>
              <a:t>ПС</a:t>
            </a:r>
            <a:endParaRPr lang="en-US" sz="1400" dirty="0"/>
          </a:p>
        </p:txBody>
      </p:sp>
      <p:sp>
        <p:nvSpPr>
          <p:cNvPr id="8" name="Text 5"/>
          <p:cNvSpPr txBox="1"/>
          <p:nvPr/>
        </p:nvSpPr>
        <p:spPr>
          <a:xfrm>
            <a:off x="1295430" y="21050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Пётр Савицкий</a:t>
            </a:r>
            <a:pPr algn="l" indent="0" marL="0">
              <a:lnSpc>
                <a:spcPct val="105000"/>
              </a:lnSpc>
              <a:buNone/>
            </a:pPr>
            <a:r>
              <a:rPr lang="en-US" sz="1100" dirty="0">
                <a:solidFill>
                  <a:srgbClr val="C9C2EC"/>
                </a:solidFill>
              </a:rPr>
              <a:t>   1895–1968</a:t>
            </a:r>
            <a:endParaRPr lang="en-US" sz="1400" dirty="0"/>
          </a:p>
        </p:txBody>
      </p:sp>
      <p:sp>
        <p:nvSpPr>
          <p:cNvPr id="9" name="Text 6"/>
          <p:cNvSpPr txBox="1"/>
          <p:nvPr/>
        </p:nvSpPr>
        <p:spPr>
          <a:xfrm>
            <a:off x="1295430" y="23336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«Еуразияшылдық», 1925</a:t>
            </a:r>
            <a:endParaRPr lang="en-US" sz="1150" dirty="0"/>
          </a:p>
        </p:txBody>
      </p:sp>
      <p:sp>
        <p:nvSpPr>
          <p:cNvPr id="10" name="Text 7"/>
          <p:cNvSpPr txBox="1"/>
          <p:nvPr/>
        </p:nvSpPr>
        <p:spPr>
          <a:xfrm>
            <a:off x="1295430" y="25241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Ресей-Еуразия — Еуропа да, Азия да емес, дербес «даму орны» (месторазвитие)</a:t>
            </a:r>
            <a:endParaRPr lang="en-US" sz="1200" dirty="0"/>
          </a:p>
        </p:txBody>
      </p:sp>
      <p:sp>
        <p:nvSpPr>
          <p:cNvPr id="11" name="Card Лев Гумилёв"/>
          <p:cNvSpPr/>
          <p:nvPr/>
        </p:nvSpPr>
        <p:spPr>
          <a:xfrm>
            <a:off x="533370" y="30479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12" name="Text 9"/>
          <p:cNvSpPr/>
          <p:nvPr/>
        </p:nvSpPr>
        <p:spPr>
          <a:xfrm>
            <a:off x="666780" y="3257550"/>
            <a:ext cx="495330" cy="495330"/>
          </a:xfrm>
          <a:prstGeom prst="ellipse">
            <a:avLst/>
          </a:prstGeom>
          <a:solidFill>
            <a:schemeClr val="accent4"/>
          </a:solidFill>
          <a:ln/>
        </p:spPr>
        <p:txBody>
          <a:bodyPr wrap="square" lIns="0" tIns="0" rIns="0" bIns="0" rtlCol="0" anchor="ctr"/>
          <a:lstStyle/>
          <a:p>
            <a:pPr algn="ctr" indent="0" marL="0">
              <a:lnSpc>
                <a:spcPct val="100000"/>
              </a:lnSpc>
              <a:buNone/>
            </a:pPr>
            <a:r>
              <a:rPr lang="en-US" sz="1400" b="1" dirty="0">
                <a:solidFill>
                  <a:schemeClr val="bg1"/>
                </a:solidFill>
              </a:rPr>
              <a:t>ЛГ</a:t>
            </a:r>
            <a:endParaRPr lang="en-US" sz="1400" dirty="0"/>
          </a:p>
        </p:txBody>
      </p:sp>
      <p:sp>
        <p:nvSpPr>
          <p:cNvPr id="13" name="Text 10"/>
          <p:cNvSpPr txBox="1"/>
          <p:nvPr/>
        </p:nvSpPr>
        <p:spPr>
          <a:xfrm>
            <a:off x="1295430" y="31337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Лев Гумилёв</a:t>
            </a:r>
            <a:pPr algn="l" indent="0" marL="0">
              <a:lnSpc>
                <a:spcPct val="105000"/>
              </a:lnSpc>
              <a:buNone/>
            </a:pPr>
            <a:r>
              <a:rPr lang="en-US" sz="1100" dirty="0">
                <a:solidFill>
                  <a:srgbClr val="C9C2EC"/>
                </a:solidFill>
              </a:rPr>
              <a:t>   1912–1992</a:t>
            </a:r>
            <a:endParaRPr lang="en-US" sz="1400" dirty="0"/>
          </a:p>
        </p:txBody>
      </p:sp>
      <p:sp>
        <p:nvSpPr>
          <p:cNvPr id="14" name="Text 11"/>
          <p:cNvSpPr txBox="1"/>
          <p:nvPr/>
        </p:nvSpPr>
        <p:spPr>
          <a:xfrm>
            <a:off x="1295430" y="33623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«Этногенез және Жер биосферасы», 1989</a:t>
            </a:r>
            <a:endParaRPr lang="en-US" sz="1150" dirty="0"/>
          </a:p>
        </p:txBody>
      </p:sp>
      <p:sp>
        <p:nvSpPr>
          <p:cNvPr id="15" name="Text 12"/>
          <p:cNvSpPr txBox="1"/>
          <p:nvPr/>
        </p:nvSpPr>
        <p:spPr>
          <a:xfrm>
            <a:off x="1295430" y="35528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Пассионарлық теориясы; Ұлы Дала көшпелілерінің тарихи рөлін қайта бағалады</a:t>
            </a:r>
            <a:endParaRPr lang="en-US" sz="1200" dirty="0"/>
          </a:p>
        </p:txBody>
      </p:sp>
      <p:sp>
        <p:nvSpPr>
          <p:cNvPr id="16" name="Card Александр Дугин"/>
          <p:cNvSpPr/>
          <p:nvPr/>
        </p:nvSpPr>
        <p:spPr>
          <a:xfrm>
            <a:off x="533370" y="40766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17" name="Text 14"/>
          <p:cNvSpPr/>
          <p:nvPr/>
        </p:nvSpPr>
        <p:spPr>
          <a:xfrm>
            <a:off x="666780" y="4286250"/>
            <a:ext cx="495330" cy="495330"/>
          </a:xfrm>
          <a:prstGeom prst="ellipse">
            <a:avLst/>
          </a:prstGeom>
          <a:solidFill>
            <a:schemeClr val="accent4"/>
          </a:solidFill>
          <a:ln/>
        </p:spPr>
        <p:txBody>
          <a:bodyPr wrap="square" lIns="0" tIns="0" rIns="0" bIns="0" rtlCol="0" anchor="ctr"/>
          <a:lstStyle/>
          <a:p>
            <a:pPr algn="ctr" indent="0" marL="0">
              <a:lnSpc>
                <a:spcPct val="100000"/>
              </a:lnSpc>
              <a:buNone/>
            </a:pPr>
            <a:r>
              <a:rPr lang="en-US" sz="1400" b="1" dirty="0">
                <a:solidFill>
                  <a:schemeClr val="bg1"/>
                </a:solidFill>
              </a:rPr>
              <a:t>АД</a:t>
            </a:r>
            <a:endParaRPr lang="en-US" sz="1400" dirty="0"/>
          </a:p>
        </p:txBody>
      </p:sp>
      <p:sp>
        <p:nvSpPr>
          <p:cNvPr id="18" name="Text 15"/>
          <p:cNvSpPr txBox="1"/>
          <p:nvPr/>
        </p:nvSpPr>
        <p:spPr>
          <a:xfrm>
            <a:off x="1295430" y="41624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Александр Дугин</a:t>
            </a:r>
            <a:pPr algn="l" indent="0" marL="0">
              <a:lnSpc>
                <a:spcPct val="105000"/>
              </a:lnSpc>
              <a:buNone/>
            </a:pPr>
            <a:r>
              <a:rPr lang="en-US" sz="1100" dirty="0">
                <a:solidFill>
                  <a:srgbClr val="C9C2EC"/>
                </a:solidFill>
              </a:rPr>
              <a:t>   1962 ж.т.</a:t>
            </a:r>
            <a:endParaRPr lang="en-US" sz="1400" dirty="0"/>
          </a:p>
        </p:txBody>
      </p:sp>
      <p:sp>
        <p:nvSpPr>
          <p:cNvPr id="19" name="Text 16"/>
          <p:cNvSpPr txBox="1"/>
          <p:nvPr/>
        </p:nvSpPr>
        <p:spPr>
          <a:xfrm>
            <a:off x="1295430" y="43910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«Геосаясат негіздері», 1997</a:t>
            </a:r>
            <a:endParaRPr lang="en-US" sz="1150" dirty="0"/>
          </a:p>
        </p:txBody>
      </p:sp>
      <p:sp>
        <p:nvSpPr>
          <p:cNvPr id="20" name="Text 17"/>
          <p:cNvSpPr txBox="1"/>
          <p:nvPr/>
        </p:nvSpPr>
        <p:spPr>
          <a:xfrm>
            <a:off x="1295430" y="45815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Неоеуразияшылдық: Құрлық пен Теңіздің «мәңгілік күресі», көпполюсті әлем</a:t>
            </a:r>
            <a:endParaRPr lang="en-US" sz="1200" dirty="0"/>
          </a:p>
        </p:txBody>
      </p:sp>
      <p:sp>
        <p:nvSpPr>
          <p:cNvPr id="21" name="Shape 18"/>
          <p:cNvSpPr/>
          <p:nvPr/>
        </p:nvSpPr>
        <p:spPr>
          <a:xfrm>
            <a:off x="533370" y="5162520"/>
            <a:ext cx="5143500" cy="1066830"/>
          </a:xfrm>
          <a:prstGeom prst="roundRect">
            <a:avLst>
              <a:gd name="adj" fmla="val 12000"/>
            </a:avLst>
          </a:prstGeom>
          <a:solidFill>
            <a:srgbClr val="FFFFFF">
              <a:alpha val="5000"/>
            </a:srgbClr>
          </a:solidFill>
          <a:ln w="9525">
            <a:solidFill>
              <a:srgbClr val="FFFFFF">
                <a:alpha val="35000"/>
              </a:srgbClr>
            </a:solidFill>
            <a:prstDash val="dash"/>
          </a:ln>
        </p:spPr>
      </p:sp>
      <p:sp>
        <p:nvSpPr>
          <p:cNvPr id="22" name="Text 19"/>
          <p:cNvSpPr txBox="1"/>
          <p:nvPr/>
        </p:nvSpPr>
        <p:spPr>
          <a:xfrm>
            <a:off x="685800" y="5257800"/>
            <a:ext cx="4838730" cy="895380"/>
          </a:xfrm>
          <a:prstGeom prst="rect">
            <a:avLst/>
          </a:prstGeom>
          <a:noFill/>
          <a:ln/>
        </p:spPr>
        <p:txBody>
          <a:bodyPr wrap="square" lIns="0" tIns="0" rIns="0" bIns="0" rtlCol="0" anchor="t"/>
          <a:lstStyle/>
          <a:p>
            <a:pPr algn="l" indent="0" marL="0">
              <a:lnSpc>
                <a:spcPct val="105000"/>
              </a:lnSpc>
              <a:buNone/>
            </a:pPr>
            <a:r>
              <a:rPr lang="en-US" sz="1200" dirty="0">
                <a:solidFill>
                  <a:schemeClr val="bg1"/>
                </a:solidFill>
              </a:rPr>
              <a:t>🔑 </a:t>
            </a:r>
            <a:pPr algn="l" indent="0" marL="0">
              <a:lnSpc>
                <a:spcPct val="105000"/>
              </a:lnSpc>
              <a:buNone/>
            </a:pPr>
            <a:r>
              <a:rPr lang="en-US" sz="1200" b="1" dirty="0">
                <a:solidFill>
                  <a:srgbClr val="FFD76A"/>
                </a:solidFill>
              </a:rPr>
              <a:t>Негізгі идея: </a:t>
            </a:r>
            <a:pPr algn="l" indent="0" marL="0">
              <a:lnSpc>
                <a:spcPct val="105000"/>
              </a:lnSpc>
              <a:buNone/>
            </a:pPr>
            <a:r>
              <a:rPr lang="en-US" sz="1200" dirty="0">
                <a:solidFill>
                  <a:schemeClr val="bg1"/>
                </a:solidFill>
              </a:rPr>
              <a:t>Славян, түркі және моңғол халықтары — біртұтас тарихи-мәдени кеңістік. Еуразияның табиғи шекаралары оның халықтарының ортақ тағдырын қалыптастырады.</a:t>
            </a:r>
            <a:endParaRPr lang="en-US" sz="1200" dirty="0"/>
          </a:p>
        </p:txBody>
      </p:sp>
      <p:pic>
        <p:nvPicPr>
          <p:cNvPr id="23" name="Image 0" descr="Еуразия глобусы, Қазақстан белгіленген">    </p:cNvPr>
          <p:cNvPicPr>
            <a:picLocks noChangeAspect="1"/>
          </p:cNvPicPr>
          <p:nvPr/>
        </p:nvPicPr>
        <p:blipFill>
          <a:blip r:embed="rId2"/>
          <a:stretch>
            <a:fillRect/>
          </a:stretch>
        </p:blipFill>
        <p:spPr>
          <a:xfrm>
            <a:off x="6000750" y="457200"/>
            <a:ext cx="2857500" cy="2857500"/>
          </a:xfrm>
          <a:prstGeom prst="rect">
            <a:avLst/>
          </a:prstGeom>
        </p:spPr>
      </p:pic>
      <p:pic>
        <p:nvPicPr>
          <p:cNvPr id="24" name="Image 1" descr="Ұлы Дала">    </p:cNvPr>
          <p:cNvPicPr>
            <a:picLocks noChangeAspect="1"/>
          </p:cNvPicPr>
          <p:nvPr/>
        </p:nvPicPr>
        <p:blipFill>
          <a:blip r:embed="rId3"/>
          <a:srcRect l="0" r="0" t="0" b="0"/>
          <a:stretch/>
        </p:blipFill>
        <p:spPr>
          <a:xfrm>
            <a:off x="9010680" y="457200"/>
            <a:ext cx="2647920" cy="2857500"/>
          </a:xfrm>
          <a:prstGeom prst="rect">
            <a:avLst/>
          </a:prstGeom>
        </p:spPr>
      </p:pic>
      <p:sp>
        <p:nvSpPr>
          <p:cNvPr id="25" name="Shape 20"/>
          <p:cNvSpPr/>
          <p:nvPr/>
        </p:nvSpPr>
        <p:spPr>
          <a:xfrm>
            <a:off x="6000750" y="3486150"/>
            <a:ext cx="5657850" cy="2000250"/>
          </a:xfrm>
          <a:prstGeom prst="roundRect">
            <a:avLst>
              <a:gd name="adj" fmla="val 6400"/>
            </a:avLst>
          </a:prstGeom>
          <a:solidFill>
            <a:srgbClr val="00AFCA">
              <a:alpha val="32000"/>
            </a:srgbClr>
          </a:solidFill>
          <a:ln w="9525">
            <a:solidFill>
              <a:srgbClr val="FFFFFF">
                <a:alpha val="20000"/>
              </a:srgbClr>
            </a:solidFill>
            <a:prstDash val="solid"/>
          </a:ln>
        </p:spPr>
      </p:sp>
      <p:sp>
        <p:nvSpPr>
          <p:cNvPr id="26" name="Text 21"/>
          <p:cNvSpPr txBox="1"/>
          <p:nvPr/>
        </p:nvSpPr>
        <p:spPr>
          <a:xfrm>
            <a:off x="6210330" y="3619470"/>
            <a:ext cx="5257800" cy="1752630"/>
          </a:xfrm>
          <a:prstGeom prst="rect">
            <a:avLst/>
          </a:prstGeom>
          <a:noFill/>
          <a:ln/>
        </p:spPr>
        <p:txBody>
          <a:bodyPr wrap="square" lIns="0" tIns="0" rIns="0" bIns="0" rtlCol="0" anchor="t"/>
          <a:lstStyle/>
          <a:p>
            <a:pPr algn="l" indent="0" marL="0">
              <a:lnSpc>
                <a:spcPct val="110000"/>
              </a:lnSpc>
              <a:buNone/>
            </a:pPr>
            <a:r>
              <a:rPr lang="en-US" sz="1600" b="1" dirty="0">
                <a:solidFill>
                  <a:schemeClr val="bg1"/>
                </a:solidFill>
              </a:rPr>
              <a:t>Қазақстан байланысы</a:t>
            </a:r>
            <a:endParaRPr lang="en-US" sz="1350" dirty="0"/>
          </a:p>
          <a:p>
            <a:pPr algn="l" indent="0" marL="0">
              <a:lnSpc>
                <a:spcPct val="110000"/>
              </a:lnSpc>
              <a:buNone/>
            </a:pPr>
            <a:r>
              <a:rPr lang="en-US" sz="1350" dirty="0">
                <a:solidFill>
                  <a:schemeClr val="bg1"/>
                </a:solidFill>
              </a:rPr>
              <a:t>Астанадағы Л.Н. Гумилёв атындағы Еуразия ұлттық университеті; 1994 жылы ұсынылған Еуразиялық одақ идеясы — </a:t>
            </a:r>
            <a:pPr algn="l" indent="0" marL="0">
              <a:lnSpc>
                <a:spcPct val="110000"/>
              </a:lnSpc>
              <a:buNone/>
            </a:pPr>
            <a:r>
              <a:rPr lang="en-US" sz="1350" b="1" dirty="0">
                <a:solidFill>
                  <a:schemeClr val="bg1"/>
                </a:solidFill>
              </a:rPr>
              <a:t>прагматикалық, экономикалық</a:t>
            </a:r>
            <a:pPr algn="l" indent="0" marL="0">
              <a:lnSpc>
                <a:spcPct val="110000"/>
              </a:lnSpc>
              <a:buNone/>
            </a:pPr>
            <a:r>
              <a:rPr lang="en-US" sz="1350" dirty="0">
                <a:solidFill>
                  <a:schemeClr val="bg1"/>
                </a:solidFill>
              </a:rPr>
              <a:t> еуразияшылдық. Оның нәтижесі — 2015 жылы құрылған </a:t>
            </a:r>
            <a:pPr algn="l" indent="0" marL="0">
              <a:lnSpc>
                <a:spcPct val="110000"/>
              </a:lnSpc>
              <a:buNone/>
            </a:pPr>
            <a:r>
              <a:rPr lang="en-US" sz="1350" b="1" dirty="0">
                <a:solidFill>
                  <a:schemeClr val="bg1"/>
                </a:solidFill>
              </a:rPr>
              <a:t>Еуразиялық экономикалық одақ</a:t>
            </a:r>
            <a:pPr algn="l" indent="0" marL="0">
              <a:lnSpc>
                <a:spcPct val="110000"/>
              </a:lnSpc>
              <a:buNone/>
            </a:pPr>
            <a:r>
              <a:rPr lang="en-US" sz="1350" dirty="0">
                <a:solidFill>
                  <a:schemeClr val="bg1"/>
                </a:solidFill>
              </a:rPr>
              <a:t>. Қазақстандық тәсіл идеологиядан гөрі өзара тиімді ынтымақтастыққа негізделеді.</a:t>
            </a:r>
            <a:endParaRPr lang="en-US" sz="1350" dirty="0"/>
          </a:p>
        </p:txBody>
      </p:sp>
      <p:sp>
        <p:nvSpPr>
          <p:cNvPr id="25" name="Slide Number Placeholder 0"/>
          <p:cNvSpPr>
            <a:spLocks noGrp="1"/>
          </p:cNvSpPr>
          <p:nvPr>
            <p:ph type="sldNum" sz="quarter" idx="4294967295"/>
          </p:nvPr>
        </p:nvSpPr>
        <p:spPr>
          <a:xfrm>
            <a:off x="10953780" y="6515100"/>
            <a:ext cx="7619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C9C2E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33370" y="800100"/>
            <a:ext cx="5143500" cy="876270"/>
          </a:xfrm>
          <a:prstGeom prst="rect">
            <a:avLst/>
          </a:prstGeom>
          <a:noFill/>
          <a:ln/>
        </p:spPr>
        <p:txBody>
          <a:bodyPr wrap="square" lIns="0" tIns="0" rIns="0" bIns="0" rtlCol="0" anchor="t"/>
          <a:lstStyle/>
          <a:p>
            <a:pPr algn="l" indent="0" marL="0">
              <a:lnSpc>
                <a:spcPct val="95000"/>
              </a:lnSpc>
              <a:buNone/>
            </a:pPr>
            <a:r>
              <a:rPr lang="en-US" sz="2800" b="1" dirty="0">
                <a:solidFill>
                  <a:schemeClr val="bg1"/>
                </a:solidFill>
              </a:rPr>
              <a:t>Американ постбиполярлық мектебі</a:t>
            </a:r>
            <a:endParaRPr lang="en-US" sz="2800" dirty="0"/>
          </a:p>
        </p:txBody>
      </p:sp>
      <p:sp>
        <p:nvSpPr>
          <p:cNvPr id="4" name="Tag"/>
          <p:cNvSpPr/>
          <p:nvPr/>
        </p:nvSpPr>
        <p:spPr>
          <a:xfrm>
            <a:off x="533370" y="419070"/>
            <a:ext cx="1000171" cy="285750"/>
          </a:xfrm>
          <a:prstGeom prst="roundRect">
            <a:avLst>
              <a:gd name="adj" fmla="val 50000"/>
            </a:avLst>
          </a:prstGeom>
          <a:solidFill>
            <a:schemeClr val="accent5"/>
          </a:solidFill>
          <a:ln/>
        </p:spPr>
        <p:txBody>
          <a:bodyPr wrap="square" lIns="0" tIns="0" rIns="0" bIns="0" rtlCol="0" anchor="ctr"/>
          <a:lstStyle/>
          <a:p>
            <a:pPr algn="ctr" indent="0" marL="0">
              <a:lnSpc>
                <a:spcPct val="100000"/>
              </a:lnSpc>
              <a:buNone/>
            </a:pPr>
            <a:r>
              <a:rPr lang="en-US" sz="1100" b="1" spc="150" kern="0" dirty="0">
                <a:solidFill>
                  <a:schemeClr val="bg1"/>
                </a:solidFill>
              </a:rPr>
              <a:t>5-МЕКТЕП</a:t>
            </a:r>
            <a:endParaRPr lang="en-US" sz="1100" dirty="0"/>
          </a:p>
        </p:txBody>
      </p:sp>
      <p:sp>
        <p:nvSpPr>
          <p:cNvPr id="5" name="Text 2"/>
          <p:cNvSpPr txBox="1"/>
          <p:nvPr/>
        </p:nvSpPr>
        <p:spPr>
          <a:xfrm>
            <a:off x="533370" y="1714500"/>
            <a:ext cx="5143500" cy="209580"/>
          </a:xfrm>
          <a:prstGeom prst="rect">
            <a:avLst/>
          </a:prstGeom>
          <a:noFill/>
          <a:ln/>
        </p:spPr>
        <p:txBody>
          <a:bodyPr wrap="square" lIns="0" tIns="0" rIns="0" bIns="0" rtlCol="0" anchor="t"/>
          <a:lstStyle/>
          <a:p>
            <a:pPr algn="l" indent="0" marL="0">
              <a:lnSpc>
                <a:spcPct val="105000"/>
              </a:lnSpc>
              <a:buNone/>
            </a:pPr>
            <a:r>
              <a:rPr lang="en-US" sz="1200" b="1" dirty="0">
                <a:solidFill>
                  <a:srgbClr val="C9C2EC"/>
                </a:solidFill>
              </a:rPr>
              <a:t>АҚШ · 1990 жылдардан кейін · Қырғи-қабақ соғыстан кейінгі әлемдік тәртіп</a:t>
            </a:r>
            <a:endParaRPr lang="en-US" sz="1200" dirty="0"/>
          </a:p>
        </p:txBody>
      </p:sp>
      <p:sp>
        <p:nvSpPr>
          <p:cNvPr id="6" name="Card Збигнев Бжезинский"/>
          <p:cNvSpPr/>
          <p:nvPr/>
        </p:nvSpPr>
        <p:spPr>
          <a:xfrm>
            <a:off x="533370" y="20192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7" name="Text 4"/>
          <p:cNvSpPr/>
          <p:nvPr/>
        </p:nvSpPr>
        <p:spPr>
          <a:xfrm>
            <a:off x="666780" y="2228850"/>
            <a:ext cx="495330" cy="495330"/>
          </a:xfrm>
          <a:prstGeom prst="ellipse">
            <a:avLst/>
          </a:prstGeom>
          <a:solidFill>
            <a:schemeClr val="accent5"/>
          </a:solidFill>
          <a:ln/>
        </p:spPr>
        <p:txBody>
          <a:bodyPr wrap="square" lIns="0" tIns="0" rIns="0" bIns="0" rtlCol="0" anchor="ctr"/>
          <a:lstStyle/>
          <a:p>
            <a:pPr algn="ctr" indent="0" marL="0">
              <a:lnSpc>
                <a:spcPct val="100000"/>
              </a:lnSpc>
              <a:buNone/>
            </a:pPr>
            <a:r>
              <a:rPr lang="en-US" sz="1400" b="1" dirty="0">
                <a:solidFill>
                  <a:schemeClr val="bg1"/>
                </a:solidFill>
              </a:rPr>
              <a:t>ЗБ</a:t>
            </a:r>
            <a:endParaRPr lang="en-US" sz="1400" dirty="0"/>
          </a:p>
        </p:txBody>
      </p:sp>
      <p:sp>
        <p:nvSpPr>
          <p:cNvPr id="8" name="Text 5"/>
          <p:cNvSpPr txBox="1"/>
          <p:nvPr/>
        </p:nvSpPr>
        <p:spPr>
          <a:xfrm>
            <a:off x="1295430" y="21050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Збигнев Бжезинский</a:t>
            </a:r>
            <a:pPr algn="l" indent="0" marL="0">
              <a:lnSpc>
                <a:spcPct val="105000"/>
              </a:lnSpc>
              <a:buNone/>
            </a:pPr>
            <a:r>
              <a:rPr lang="en-US" sz="1100" dirty="0">
                <a:solidFill>
                  <a:srgbClr val="C9C2EC"/>
                </a:solidFill>
              </a:rPr>
              <a:t>   1928–2017</a:t>
            </a:r>
            <a:endParaRPr lang="en-US" sz="1400" dirty="0"/>
          </a:p>
        </p:txBody>
      </p:sp>
      <p:sp>
        <p:nvSpPr>
          <p:cNvPr id="9" name="Text 6"/>
          <p:cNvSpPr txBox="1"/>
          <p:nvPr/>
        </p:nvSpPr>
        <p:spPr>
          <a:xfrm>
            <a:off x="1295430" y="23336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«Ұлы шахмат тақтасы», 1997</a:t>
            </a:r>
            <a:endParaRPr lang="en-US" sz="1150" dirty="0"/>
          </a:p>
        </p:txBody>
      </p:sp>
      <p:sp>
        <p:nvSpPr>
          <p:cNvPr id="10" name="Text 7"/>
          <p:cNvSpPr txBox="1"/>
          <p:nvPr/>
        </p:nvSpPr>
        <p:spPr>
          <a:xfrm>
            <a:off x="1295430" y="25241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Еуразия — әлемдік үстемдіктің басты «тақтасы»; Орталық Азия мен Кавказ — «Еуразиялық Балқан»</a:t>
            </a:r>
            <a:endParaRPr lang="en-US" sz="1200" dirty="0"/>
          </a:p>
        </p:txBody>
      </p:sp>
      <p:sp>
        <p:nvSpPr>
          <p:cNvPr id="11" name="Card Сэмюэл Хантингтон"/>
          <p:cNvSpPr/>
          <p:nvPr/>
        </p:nvSpPr>
        <p:spPr>
          <a:xfrm>
            <a:off x="533370" y="30479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12" name="Text 9"/>
          <p:cNvSpPr/>
          <p:nvPr/>
        </p:nvSpPr>
        <p:spPr>
          <a:xfrm>
            <a:off x="666780" y="3257550"/>
            <a:ext cx="495330" cy="495330"/>
          </a:xfrm>
          <a:prstGeom prst="ellipse">
            <a:avLst/>
          </a:prstGeom>
          <a:solidFill>
            <a:schemeClr val="accent5"/>
          </a:solidFill>
          <a:ln/>
        </p:spPr>
        <p:txBody>
          <a:bodyPr wrap="square" lIns="0" tIns="0" rIns="0" bIns="0" rtlCol="0" anchor="ctr"/>
          <a:lstStyle/>
          <a:p>
            <a:pPr algn="ctr" indent="0" marL="0">
              <a:lnSpc>
                <a:spcPct val="100000"/>
              </a:lnSpc>
              <a:buNone/>
            </a:pPr>
            <a:r>
              <a:rPr lang="en-US" sz="1400" b="1" dirty="0">
                <a:solidFill>
                  <a:schemeClr val="bg1"/>
                </a:solidFill>
              </a:rPr>
              <a:t>СХ</a:t>
            </a:r>
            <a:endParaRPr lang="en-US" sz="1400" dirty="0"/>
          </a:p>
        </p:txBody>
      </p:sp>
      <p:sp>
        <p:nvSpPr>
          <p:cNvPr id="13" name="Text 10"/>
          <p:cNvSpPr txBox="1"/>
          <p:nvPr/>
        </p:nvSpPr>
        <p:spPr>
          <a:xfrm>
            <a:off x="1295430" y="31337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Сэмюэл Хантингтон</a:t>
            </a:r>
            <a:pPr algn="l" indent="0" marL="0">
              <a:lnSpc>
                <a:spcPct val="105000"/>
              </a:lnSpc>
              <a:buNone/>
            </a:pPr>
            <a:r>
              <a:rPr lang="en-US" sz="1100" dirty="0">
                <a:solidFill>
                  <a:srgbClr val="C9C2EC"/>
                </a:solidFill>
              </a:rPr>
              <a:t>   1927–2008</a:t>
            </a:r>
            <a:endParaRPr lang="en-US" sz="1400" dirty="0"/>
          </a:p>
        </p:txBody>
      </p:sp>
      <p:sp>
        <p:nvSpPr>
          <p:cNvPr id="14" name="Text 11"/>
          <p:cNvSpPr txBox="1"/>
          <p:nvPr/>
        </p:nvSpPr>
        <p:spPr>
          <a:xfrm>
            <a:off x="1295430" y="33623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«Өркениеттер қақтығысы», 1993/1996</a:t>
            </a:r>
            <a:endParaRPr lang="en-US" sz="1150" dirty="0"/>
          </a:p>
        </p:txBody>
      </p:sp>
      <p:sp>
        <p:nvSpPr>
          <p:cNvPr id="15" name="Text 12"/>
          <p:cNvSpPr txBox="1"/>
          <p:nvPr/>
        </p:nvSpPr>
        <p:spPr>
          <a:xfrm>
            <a:off x="1295430" y="35528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Болашақ қақтығыстардың басты көзі — идеология емес, өркениеттік айырмашылықтар</a:t>
            </a:r>
            <a:endParaRPr lang="en-US" sz="1200" dirty="0"/>
          </a:p>
        </p:txBody>
      </p:sp>
      <p:sp>
        <p:nvSpPr>
          <p:cNvPr id="16" name="Card Фрэнсис Фукуяма"/>
          <p:cNvSpPr/>
          <p:nvPr/>
        </p:nvSpPr>
        <p:spPr>
          <a:xfrm>
            <a:off x="533370" y="40766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17" name="Text 14"/>
          <p:cNvSpPr/>
          <p:nvPr/>
        </p:nvSpPr>
        <p:spPr>
          <a:xfrm>
            <a:off x="666780" y="4286250"/>
            <a:ext cx="495330" cy="495330"/>
          </a:xfrm>
          <a:prstGeom prst="ellipse">
            <a:avLst/>
          </a:prstGeom>
          <a:solidFill>
            <a:schemeClr val="accent5"/>
          </a:solidFill>
          <a:ln/>
        </p:spPr>
        <p:txBody>
          <a:bodyPr wrap="square" lIns="0" tIns="0" rIns="0" bIns="0" rtlCol="0" anchor="ctr"/>
          <a:lstStyle/>
          <a:p>
            <a:pPr algn="ctr" indent="0" marL="0">
              <a:lnSpc>
                <a:spcPct val="100000"/>
              </a:lnSpc>
              <a:buNone/>
            </a:pPr>
            <a:r>
              <a:rPr lang="en-US" sz="1400" b="1" dirty="0">
                <a:solidFill>
                  <a:schemeClr val="bg1"/>
                </a:solidFill>
              </a:rPr>
              <a:t>ФФ</a:t>
            </a:r>
            <a:endParaRPr lang="en-US" sz="1400" dirty="0"/>
          </a:p>
        </p:txBody>
      </p:sp>
      <p:sp>
        <p:nvSpPr>
          <p:cNvPr id="18" name="Text 15"/>
          <p:cNvSpPr txBox="1"/>
          <p:nvPr/>
        </p:nvSpPr>
        <p:spPr>
          <a:xfrm>
            <a:off x="1295430" y="41624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Фрэнсис Фукуяма</a:t>
            </a:r>
            <a:pPr algn="l" indent="0" marL="0">
              <a:lnSpc>
                <a:spcPct val="105000"/>
              </a:lnSpc>
              <a:buNone/>
            </a:pPr>
            <a:r>
              <a:rPr lang="en-US" sz="1100" dirty="0">
                <a:solidFill>
                  <a:srgbClr val="C9C2EC"/>
                </a:solidFill>
              </a:rPr>
              <a:t>   1952 ж.т.</a:t>
            </a:r>
            <a:endParaRPr lang="en-US" sz="1400" dirty="0"/>
          </a:p>
        </p:txBody>
      </p:sp>
      <p:sp>
        <p:nvSpPr>
          <p:cNvPr id="19" name="Text 16"/>
          <p:cNvSpPr txBox="1"/>
          <p:nvPr/>
        </p:nvSpPr>
        <p:spPr>
          <a:xfrm>
            <a:off x="1295430" y="43910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«Тарихтың соңы», 1989/1992</a:t>
            </a:r>
            <a:endParaRPr lang="en-US" sz="1150" dirty="0"/>
          </a:p>
        </p:txBody>
      </p:sp>
      <p:sp>
        <p:nvSpPr>
          <p:cNvPr id="20" name="Text 17"/>
          <p:cNvSpPr txBox="1"/>
          <p:nvPr/>
        </p:nvSpPr>
        <p:spPr>
          <a:xfrm>
            <a:off x="1295430" y="45815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Либералды демократияның жеңісі — Хантингтонға қарсы оптимистік балама</a:t>
            </a:r>
            <a:endParaRPr lang="en-US" sz="1200" dirty="0"/>
          </a:p>
        </p:txBody>
      </p:sp>
      <p:sp>
        <p:nvSpPr>
          <p:cNvPr id="21" name="Shape 18"/>
          <p:cNvSpPr/>
          <p:nvPr/>
        </p:nvSpPr>
        <p:spPr>
          <a:xfrm>
            <a:off x="533370" y="5162520"/>
            <a:ext cx="5143500" cy="1066830"/>
          </a:xfrm>
          <a:prstGeom prst="roundRect">
            <a:avLst>
              <a:gd name="adj" fmla="val 12000"/>
            </a:avLst>
          </a:prstGeom>
          <a:solidFill>
            <a:srgbClr val="FFFFFF">
              <a:alpha val="5000"/>
            </a:srgbClr>
          </a:solidFill>
          <a:ln w="9525">
            <a:solidFill>
              <a:srgbClr val="FFFFFF">
                <a:alpha val="35000"/>
              </a:srgbClr>
            </a:solidFill>
            <a:prstDash val="dash"/>
          </a:ln>
        </p:spPr>
      </p:sp>
      <p:sp>
        <p:nvSpPr>
          <p:cNvPr id="22" name="Text 19"/>
          <p:cNvSpPr txBox="1"/>
          <p:nvPr/>
        </p:nvSpPr>
        <p:spPr>
          <a:xfrm>
            <a:off x="685800" y="5257800"/>
            <a:ext cx="4838730" cy="895380"/>
          </a:xfrm>
          <a:prstGeom prst="rect">
            <a:avLst/>
          </a:prstGeom>
          <a:noFill/>
          <a:ln/>
        </p:spPr>
        <p:txBody>
          <a:bodyPr wrap="square" lIns="0" tIns="0" rIns="0" bIns="0" rtlCol="0" anchor="t"/>
          <a:lstStyle/>
          <a:p>
            <a:pPr algn="l" indent="0" marL="0">
              <a:lnSpc>
                <a:spcPct val="105000"/>
              </a:lnSpc>
              <a:buNone/>
            </a:pPr>
            <a:r>
              <a:rPr lang="en-US" sz="1200" dirty="0">
                <a:solidFill>
                  <a:schemeClr val="bg1"/>
                </a:solidFill>
              </a:rPr>
              <a:t>🔑 </a:t>
            </a:r>
            <a:pPr algn="l" indent="0" marL="0">
              <a:lnSpc>
                <a:spcPct val="105000"/>
              </a:lnSpc>
              <a:buNone/>
            </a:pPr>
            <a:r>
              <a:rPr lang="en-US" sz="1200" b="1" dirty="0">
                <a:solidFill>
                  <a:srgbClr val="FFD76A"/>
                </a:solidFill>
              </a:rPr>
              <a:t>Негізгі идея: </a:t>
            </a:r>
            <a:pPr algn="l" indent="0" marL="0">
              <a:lnSpc>
                <a:spcPct val="105000"/>
              </a:lnSpc>
              <a:buNone/>
            </a:pPr>
            <a:r>
              <a:rPr lang="en-US" sz="1200" dirty="0">
                <a:solidFill>
                  <a:schemeClr val="bg1"/>
                </a:solidFill>
              </a:rPr>
              <a:t>Қырғи-қабақ соғыстан кейін АҚШ жаһандық көшбасшылығын сақтау үшін Еуразияда бірде-бір бәсекелес державаның үстемдігіне жол бермеуі тиіс.</a:t>
            </a:r>
            <a:endParaRPr lang="en-US" sz="1200" dirty="0"/>
          </a:p>
        </p:txBody>
      </p:sp>
      <p:sp>
        <p:nvSpPr>
          <p:cNvPr id="23" name="Shape 20"/>
          <p:cNvSpPr/>
          <p:nvPr/>
        </p:nvSpPr>
        <p:spPr>
          <a:xfrm>
            <a:off x="6000750" y="419070"/>
            <a:ext cx="5657850" cy="3009930"/>
          </a:xfrm>
          <a:prstGeom prst="roundRect">
            <a:avLst>
              <a:gd name="adj" fmla="val 4253"/>
            </a:avLst>
          </a:prstGeom>
          <a:solidFill>
            <a:srgbClr val="FFFFFF">
              <a:alpha val="4000"/>
            </a:srgbClr>
          </a:solidFill>
          <a:ln w="9525">
            <a:solidFill>
              <a:srgbClr val="FFFFFF">
                <a:alpha val="14000"/>
              </a:srgbClr>
            </a:solidFill>
            <a:prstDash val="solid"/>
          </a:ln>
        </p:spPr>
      </p:sp>
      <p:pic>
        <p:nvPicPr>
          <p:cNvPr id="24" name="Image 0" descr="Хантингтон бойынша өркениеттер картасы">    </p:cNvPr>
          <p:cNvPicPr>
            <a:picLocks noChangeAspect="1"/>
          </p:cNvPicPr>
          <p:nvPr/>
        </p:nvPicPr>
        <p:blipFill>
          <a:blip r:embed="rId2"/>
          <a:stretch>
            <a:fillRect/>
          </a:stretch>
        </p:blipFill>
        <p:spPr>
          <a:xfrm>
            <a:off x="6038880" y="476220"/>
            <a:ext cx="5581680" cy="2886121"/>
          </a:xfrm>
          <a:prstGeom prst="rect">
            <a:avLst/>
          </a:prstGeom>
        </p:spPr>
      </p:pic>
      <p:sp>
        <p:nvSpPr>
          <p:cNvPr id="25" name="Shape 21"/>
          <p:cNvSpPr/>
          <p:nvPr/>
        </p:nvSpPr>
        <p:spPr>
          <a:xfrm>
            <a:off x="6038880" y="3543300"/>
            <a:ext cx="133320" cy="133320"/>
          </a:xfrm>
          <a:prstGeom prst="roundRect">
            <a:avLst>
              <a:gd name="adj" fmla="val 20576"/>
            </a:avLst>
          </a:prstGeom>
          <a:solidFill>
            <a:srgbClr val="4F8BFF"/>
          </a:solidFill>
          <a:ln/>
        </p:spPr>
      </p:sp>
      <p:sp>
        <p:nvSpPr>
          <p:cNvPr id="26" name="Text 22"/>
          <p:cNvSpPr txBox="1"/>
          <p:nvPr/>
        </p:nvSpPr>
        <p:spPr>
          <a:xfrm>
            <a:off x="6248370" y="3514771"/>
            <a:ext cx="73344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Батыс</a:t>
            </a:r>
            <a:endParaRPr lang="en-US" sz="1100" dirty="0"/>
          </a:p>
        </p:txBody>
      </p:sp>
      <p:sp>
        <p:nvSpPr>
          <p:cNvPr id="27" name="Shape 23"/>
          <p:cNvSpPr/>
          <p:nvPr/>
        </p:nvSpPr>
        <p:spPr>
          <a:xfrm>
            <a:off x="6772321" y="3543300"/>
            <a:ext cx="133320" cy="133320"/>
          </a:xfrm>
          <a:prstGeom prst="roundRect">
            <a:avLst>
              <a:gd name="adj" fmla="val 20576"/>
            </a:avLst>
          </a:prstGeom>
          <a:solidFill>
            <a:srgbClr val="A35CFF"/>
          </a:solidFill>
          <a:ln/>
        </p:spPr>
      </p:sp>
      <p:sp>
        <p:nvSpPr>
          <p:cNvPr id="28" name="Text 24"/>
          <p:cNvSpPr txBox="1"/>
          <p:nvPr/>
        </p:nvSpPr>
        <p:spPr>
          <a:xfrm>
            <a:off x="6981810" y="3514771"/>
            <a:ext cx="138111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Православиелік</a:t>
            </a:r>
            <a:endParaRPr lang="en-US" sz="1100" dirty="0"/>
          </a:p>
        </p:txBody>
      </p:sp>
      <p:sp>
        <p:nvSpPr>
          <p:cNvPr id="29" name="Shape 25"/>
          <p:cNvSpPr/>
          <p:nvPr/>
        </p:nvSpPr>
        <p:spPr>
          <a:xfrm>
            <a:off x="8153430" y="3543300"/>
            <a:ext cx="133320" cy="133320"/>
          </a:xfrm>
          <a:prstGeom prst="roundRect">
            <a:avLst>
              <a:gd name="adj" fmla="val 20576"/>
            </a:avLst>
          </a:prstGeom>
          <a:solidFill>
            <a:srgbClr val="2AD4A0"/>
          </a:solidFill>
          <a:ln/>
        </p:spPr>
      </p:sp>
      <p:sp>
        <p:nvSpPr>
          <p:cNvPr id="30" name="Text 26"/>
          <p:cNvSpPr txBox="1"/>
          <p:nvPr/>
        </p:nvSpPr>
        <p:spPr>
          <a:xfrm>
            <a:off x="8362920" y="3514771"/>
            <a:ext cx="95253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Исламдық</a:t>
            </a:r>
            <a:endParaRPr lang="en-US" sz="1100" dirty="0"/>
          </a:p>
        </p:txBody>
      </p:sp>
      <p:sp>
        <p:nvSpPr>
          <p:cNvPr id="31" name="Shape 27"/>
          <p:cNvSpPr/>
          <p:nvPr/>
        </p:nvSpPr>
        <p:spPr>
          <a:xfrm>
            <a:off x="9105870" y="3543300"/>
            <a:ext cx="133320" cy="133320"/>
          </a:xfrm>
          <a:prstGeom prst="roundRect">
            <a:avLst>
              <a:gd name="adj" fmla="val 20576"/>
            </a:avLst>
          </a:prstGeom>
          <a:solidFill>
            <a:srgbClr val="FF4D4D"/>
          </a:solidFill>
          <a:ln/>
        </p:spPr>
      </p:sp>
      <p:sp>
        <p:nvSpPr>
          <p:cNvPr id="32" name="Text 28"/>
          <p:cNvSpPr txBox="1"/>
          <p:nvPr/>
        </p:nvSpPr>
        <p:spPr>
          <a:xfrm>
            <a:off x="9315450" y="3514771"/>
            <a:ext cx="80961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Синдік</a:t>
            </a:r>
            <a:endParaRPr lang="en-US" sz="1100" dirty="0"/>
          </a:p>
        </p:txBody>
      </p:sp>
      <p:sp>
        <p:nvSpPr>
          <p:cNvPr id="33" name="Shape 29"/>
          <p:cNvSpPr/>
          <p:nvPr/>
        </p:nvSpPr>
        <p:spPr>
          <a:xfrm>
            <a:off x="9915571" y="3543300"/>
            <a:ext cx="133320" cy="133320"/>
          </a:xfrm>
          <a:prstGeom prst="roundRect">
            <a:avLst>
              <a:gd name="adj" fmla="val 20576"/>
            </a:avLst>
          </a:prstGeom>
          <a:solidFill>
            <a:srgbClr val="FF8A00"/>
          </a:solidFill>
          <a:ln/>
        </p:spPr>
      </p:sp>
      <p:sp>
        <p:nvSpPr>
          <p:cNvPr id="34" name="Text 30"/>
          <p:cNvSpPr txBox="1"/>
          <p:nvPr/>
        </p:nvSpPr>
        <p:spPr>
          <a:xfrm>
            <a:off x="10125060" y="3514771"/>
            <a:ext cx="66678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Үнді</a:t>
            </a:r>
            <a:endParaRPr lang="en-US" sz="1100" dirty="0"/>
          </a:p>
        </p:txBody>
      </p:sp>
      <p:sp>
        <p:nvSpPr>
          <p:cNvPr id="35" name="Shape 31"/>
          <p:cNvSpPr/>
          <p:nvPr/>
        </p:nvSpPr>
        <p:spPr>
          <a:xfrm>
            <a:off x="6038880" y="3790920"/>
            <a:ext cx="133320" cy="133320"/>
          </a:xfrm>
          <a:prstGeom prst="roundRect">
            <a:avLst>
              <a:gd name="adj" fmla="val 20576"/>
            </a:avLst>
          </a:prstGeom>
          <a:solidFill>
            <a:srgbClr val="FFD23F"/>
          </a:solidFill>
          <a:ln/>
        </p:spPr>
      </p:sp>
      <p:sp>
        <p:nvSpPr>
          <p:cNvPr id="36" name="Text 32"/>
          <p:cNvSpPr txBox="1"/>
          <p:nvPr/>
        </p:nvSpPr>
        <p:spPr>
          <a:xfrm>
            <a:off x="6248370" y="3762390"/>
            <a:ext cx="95253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Буддалық</a:t>
            </a:r>
            <a:endParaRPr lang="en-US" sz="1100" dirty="0"/>
          </a:p>
        </p:txBody>
      </p:sp>
      <p:sp>
        <p:nvSpPr>
          <p:cNvPr id="37" name="Shape 33"/>
          <p:cNvSpPr/>
          <p:nvPr/>
        </p:nvSpPr>
        <p:spPr>
          <a:xfrm>
            <a:off x="6991320" y="3790920"/>
            <a:ext cx="133320" cy="133320"/>
          </a:xfrm>
          <a:prstGeom prst="roundRect">
            <a:avLst>
              <a:gd name="adj" fmla="val 20576"/>
            </a:avLst>
          </a:prstGeom>
          <a:solidFill>
            <a:srgbClr val="FF5FB7"/>
          </a:solidFill>
          <a:ln/>
        </p:spPr>
      </p:sp>
      <p:sp>
        <p:nvSpPr>
          <p:cNvPr id="38" name="Text 34"/>
          <p:cNvSpPr txBox="1"/>
          <p:nvPr/>
        </p:nvSpPr>
        <p:spPr>
          <a:xfrm>
            <a:off x="7200900" y="3762390"/>
            <a:ext cx="73344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Жапон</a:t>
            </a:r>
            <a:endParaRPr lang="en-US" sz="1100" dirty="0"/>
          </a:p>
        </p:txBody>
      </p:sp>
      <p:sp>
        <p:nvSpPr>
          <p:cNvPr id="39" name="Shape 35"/>
          <p:cNvSpPr/>
          <p:nvPr/>
        </p:nvSpPr>
        <p:spPr>
          <a:xfrm>
            <a:off x="7724760" y="3790920"/>
            <a:ext cx="133320" cy="133320"/>
          </a:xfrm>
          <a:prstGeom prst="roundRect">
            <a:avLst>
              <a:gd name="adj" fmla="val 20576"/>
            </a:avLst>
          </a:prstGeom>
          <a:solidFill>
            <a:srgbClr val="00C2FF"/>
          </a:solidFill>
          <a:ln/>
        </p:spPr>
      </p:sp>
      <p:sp>
        <p:nvSpPr>
          <p:cNvPr id="40" name="Text 36"/>
          <p:cNvSpPr txBox="1"/>
          <p:nvPr/>
        </p:nvSpPr>
        <p:spPr>
          <a:xfrm>
            <a:off x="7934340" y="3762390"/>
            <a:ext cx="144777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Латын Америкасы</a:t>
            </a:r>
            <a:endParaRPr lang="en-US" sz="1100" dirty="0"/>
          </a:p>
        </p:txBody>
      </p:sp>
      <p:sp>
        <p:nvSpPr>
          <p:cNvPr id="41" name="Shape 37"/>
          <p:cNvSpPr/>
          <p:nvPr/>
        </p:nvSpPr>
        <p:spPr>
          <a:xfrm>
            <a:off x="9172621" y="3790920"/>
            <a:ext cx="133320" cy="133320"/>
          </a:xfrm>
          <a:prstGeom prst="roundRect">
            <a:avLst>
              <a:gd name="adj" fmla="val 20576"/>
            </a:avLst>
          </a:prstGeom>
          <a:solidFill>
            <a:srgbClr val="C9A46B"/>
          </a:solidFill>
          <a:ln/>
        </p:spPr>
      </p:sp>
      <p:sp>
        <p:nvSpPr>
          <p:cNvPr id="42" name="Text 38"/>
          <p:cNvSpPr txBox="1"/>
          <p:nvPr/>
        </p:nvSpPr>
        <p:spPr>
          <a:xfrm>
            <a:off x="9382110" y="3762390"/>
            <a:ext cx="101919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Африкалық</a:t>
            </a:r>
            <a:endParaRPr lang="en-US" sz="1100" dirty="0"/>
          </a:p>
        </p:txBody>
      </p:sp>
      <p:sp>
        <p:nvSpPr>
          <p:cNvPr id="43" name="Text 39"/>
          <p:cNvSpPr txBox="1"/>
          <p:nvPr/>
        </p:nvSpPr>
        <p:spPr>
          <a:xfrm>
            <a:off x="6038880" y="4038630"/>
            <a:ext cx="5524530" cy="171450"/>
          </a:xfrm>
          <a:prstGeom prst="rect">
            <a:avLst/>
          </a:prstGeom>
          <a:noFill/>
          <a:ln/>
        </p:spPr>
        <p:txBody>
          <a:bodyPr wrap="square" lIns="0" tIns="0" rIns="0" bIns="0" rtlCol="0" anchor="t"/>
          <a:lstStyle/>
          <a:p>
            <a:pPr algn="l" indent="0" marL="0">
              <a:lnSpc>
                <a:spcPct val="105000"/>
              </a:lnSpc>
              <a:buNone/>
            </a:pPr>
            <a:r>
              <a:rPr lang="en-US" sz="1000" dirty="0">
                <a:solidFill>
                  <a:srgbClr val="C9C2EC"/>
                </a:solidFill>
              </a:rPr>
              <a:t>С. Хантингтон бойынша әлемнің өркениеттік картасы (жеңілдетілген)</a:t>
            </a:r>
            <a:endParaRPr lang="en-US" sz="1000" dirty="0"/>
          </a:p>
        </p:txBody>
      </p:sp>
      <p:sp>
        <p:nvSpPr>
          <p:cNvPr id="44" name="Shape 40"/>
          <p:cNvSpPr/>
          <p:nvPr/>
        </p:nvSpPr>
        <p:spPr>
          <a:xfrm>
            <a:off x="6000750" y="4400550"/>
            <a:ext cx="5657850" cy="876270"/>
          </a:xfrm>
          <a:prstGeom prst="roundRect">
            <a:avLst>
              <a:gd name="adj" fmla="val 14609"/>
            </a:avLst>
          </a:prstGeom>
          <a:solidFill>
            <a:srgbClr val="FFFFFF">
              <a:alpha val="9000"/>
            </a:srgbClr>
          </a:solidFill>
          <a:ln w="9525">
            <a:solidFill>
              <a:srgbClr val="FFFFFF">
                <a:alpha val="14000"/>
              </a:srgbClr>
            </a:solidFill>
            <a:prstDash val="solid"/>
          </a:ln>
        </p:spPr>
      </p:sp>
      <p:sp>
        <p:nvSpPr>
          <p:cNvPr id="45" name="Text 41"/>
          <p:cNvSpPr txBox="1"/>
          <p:nvPr/>
        </p:nvSpPr>
        <p:spPr>
          <a:xfrm>
            <a:off x="6191220" y="4495830"/>
            <a:ext cx="5295930" cy="704820"/>
          </a:xfrm>
          <a:prstGeom prst="rect">
            <a:avLst/>
          </a:prstGeom>
          <a:noFill/>
          <a:ln/>
        </p:spPr>
        <p:txBody>
          <a:bodyPr wrap="square" lIns="0" tIns="0" rIns="0" bIns="0" rtlCol="0" anchor="t"/>
          <a:lstStyle/>
          <a:p>
            <a:pPr algn="l" indent="0" marL="0">
              <a:lnSpc>
                <a:spcPct val="108000"/>
              </a:lnSpc>
              <a:buNone/>
            </a:pPr>
            <a:r>
              <a:rPr lang="en-US" sz="1300" i="1" dirty="0">
                <a:solidFill>
                  <a:schemeClr val="bg1"/>
                </a:solidFill>
              </a:rPr>
              <a:t>«Еуразия — әлемдік басымдық үшін күрес әлі де жүріп жатқан шахмат тақтасы»</a:t>
            </a:r>
            <a:endParaRPr lang="en-US" sz="1300" dirty="0"/>
          </a:p>
          <a:p>
            <a:pPr algn="l" indent="0" marL="0">
              <a:lnSpc>
                <a:spcPct val="108000"/>
              </a:lnSpc>
              <a:buNone/>
            </a:pPr>
            <a:r>
              <a:rPr lang="en-US" sz="1100" b="1" dirty="0">
                <a:solidFill>
                  <a:srgbClr val="C9C2EC"/>
                </a:solidFill>
              </a:rPr>
              <a:t>— З. Бжезинский, 1997</a:t>
            </a:r>
            <a:endParaRPr lang="en-US" sz="1300" dirty="0"/>
          </a:p>
        </p:txBody>
      </p:sp>
      <p:sp>
        <p:nvSpPr>
          <p:cNvPr id="25" name="Slide Number Placeholder 0"/>
          <p:cNvSpPr>
            <a:spLocks noGrp="1"/>
          </p:cNvSpPr>
          <p:nvPr>
            <p:ph type="sldNum" sz="quarter" idx="4294967295"/>
          </p:nvPr>
        </p:nvSpPr>
        <p:spPr>
          <a:xfrm>
            <a:off x="10953780" y="6515100"/>
            <a:ext cx="7619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C9C2E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33370" y="800100"/>
            <a:ext cx="5143500" cy="876270"/>
          </a:xfrm>
          <a:prstGeom prst="rect">
            <a:avLst/>
          </a:prstGeom>
          <a:noFill/>
          <a:ln/>
        </p:spPr>
        <p:txBody>
          <a:bodyPr wrap="square" lIns="0" tIns="0" rIns="0" bIns="0" rtlCol="0" anchor="t"/>
          <a:lstStyle/>
          <a:p>
            <a:pPr algn="l" indent="0" marL="0">
              <a:lnSpc>
                <a:spcPct val="95000"/>
              </a:lnSpc>
              <a:buNone/>
            </a:pPr>
            <a:r>
              <a:rPr lang="en-US" sz="2800" b="1" dirty="0">
                <a:solidFill>
                  <a:schemeClr val="bg1"/>
                </a:solidFill>
              </a:rPr>
              <a:t>Сыни геосаясат</a:t>
            </a:r>
            <a:endParaRPr lang="en-US" sz="2800" dirty="0"/>
          </a:p>
        </p:txBody>
      </p:sp>
      <p:sp>
        <p:nvSpPr>
          <p:cNvPr id="4" name="Tag"/>
          <p:cNvSpPr/>
          <p:nvPr/>
        </p:nvSpPr>
        <p:spPr>
          <a:xfrm>
            <a:off x="533370" y="419070"/>
            <a:ext cx="1000171" cy="285750"/>
          </a:xfrm>
          <a:prstGeom prst="roundRect">
            <a:avLst>
              <a:gd name="adj" fmla="val 50000"/>
            </a:avLst>
          </a:prstGeom>
          <a:solidFill>
            <a:schemeClr val="accent6"/>
          </a:solidFill>
          <a:ln/>
        </p:spPr>
        <p:txBody>
          <a:bodyPr wrap="square" lIns="0" tIns="0" rIns="0" bIns="0" rtlCol="0" anchor="ctr"/>
          <a:lstStyle/>
          <a:p>
            <a:pPr algn="ctr" indent="0" marL="0">
              <a:lnSpc>
                <a:spcPct val="100000"/>
              </a:lnSpc>
              <a:buNone/>
            </a:pPr>
            <a:r>
              <a:rPr lang="en-US" sz="1100" b="1" spc="150" kern="0" dirty="0">
                <a:solidFill>
                  <a:srgbClr val="2A1600"/>
                </a:solidFill>
              </a:rPr>
              <a:t>6-МЕКТЕП</a:t>
            </a:r>
            <a:endParaRPr lang="en-US" sz="1100" dirty="0"/>
          </a:p>
        </p:txBody>
      </p:sp>
      <p:sp>
        <p:nvSpPr>
          <p:cNvPr id="5" name="Text 2"/>
          <p:cNvSpPr txBox="1"/>
          <p:nvPr/>
        </p:nvSpPr>
        <p:spPr>
          <a:xfrm>
            <a:off x="533370" y="1714500"/>
            <a:ext cx="5143500" cy="209580"/>
          </a:xfrm>
          <a:prstGeom prst="rect">
            <a:avLst/>
          </a:prstGeom>
          <a:noFill/>
          <a:ln/>
        </p:spPr>
        <p:txBody>
          <a:bodyPr wrap="square" lIns="0" tIns="0" rIns="0" bIns="0" rtlCol="0" anchor="t"/>
          <a:lstStyle/>
          <a:p>
            <a:pPr algn="l" indent="0" marL="0">
              <a:lnSpc>
                <a:spcPct val="105000"/>
              </a:lnSpc>
              <a:buNone/>
            </a:pPr>
            <a:r>
              <a:rPr lang="en-US" sz="1200" b="1" dirty="0">
                <a:solidFill>
                  <a:srgbClr val="C9C2EC"/>
                </a:solidFill>
              </a:rPr>
              <a:t>1980–1990 ж. · Постструктурализм · Геосаясат — дискурс</a:t>
            </a:r>
            <a:endParaRPr lang="en-US" sz="1200" dirty="0"/>
          </a:p>
        </p:txBody>
      </p:sp>
      <p:sp>
        <p:nvSpPr>
          <p:cNvPr id="6" name="Card Жероид Ó Тоал"/>
          <p:cNvSpPr/>
          <p:nvPr/>
        </p:nvSpPr>
        <p:spPr>
          <a:xfrm>
            <a:off x="533370" y="20192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7" name="Text 4"/>
          <p:cNvSpPr/>
          <p:nvPr/>
        </p:nvSpPr>
        <p:spPr>
          <a:xfrm>
            <a:off x="666780" y="2228850"/>
            <a:ext cx="495330" cy="495330"/>
          </a:xfrm>
          <a:prstGeom prst="ellipse">
            <a:avLst/>
          </a:prstGeom>
          <a:solidFill>
            <a:schemeClr val="accent6"/>
          </a:solidFill>
          <a:ln/>
        </p:spPr>
        <p:txBody>
          <a:bodyPr wrap="square" lIns="0" tIns="0" rIns="0" bIns="0" rtlCol="0" anchor="ctr"/>
          <a:lstStyle/>
          <a:p>
            <a:pPr algn="ctr" indent="0" marL="0">
              <a:lnSpc>
                <a:spcPct val="100000"/>
              </a:lnSpc>
              <a:buNone/>
            </a:pPr>
            <a:r>
              <a:rPr lang="en-US" sz="1400" b="1" dirty="0">
                <a:solidFill>
                  <a:srgbClr val="2A1600"/>
                </a:solidFill>
              </a:rPr>
              <a:t>ЖО</a:t>
            </a:r>
            <a:endParaRPr lang="en-US" sz="1400" dirty="0"/>
          </a:p>
        </p:txBody>
      </p:sp>
      <p:sp>
        <p:nvSpPr>
          <p:cNvPr id="8" name="Text 5"/>
          <p:cNvSpPr txBox="1"/>
          <p:nvPr/>
        </p:nvSpPr>
        <p:spPr>
          <a:xfrm>
            <a:off x="1295430" y="21050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Жероид Ó Тоал</a:t>
            </a:r>
            <a:pPr algn="l" indent="0" marL="0">
              <a:lnSpc>
                <a:spcPct val="105000"/>
              </a:lnSpc>
              <a:buNone/>
            </a:pPr>
            <a:r>
              <a:rPr lang="en-US" sz="1100" dirty="0">
                <a:solidFill>
                  <a:srgbClr val="C9C2EC"/>
                </a:solidFill>
              </a:rPr>
              <a:t>   1962 ж.т.</a:t>
            </a:r>
            <a:endParaRPr lang="en-US" sz="1400" dirty="0"/>
          </a:p>
        </p:txBody>
      </p:sp>
      <p:sp>
        <p:nvSpPr>
          <p:cNvPr id="9" name="Text 6"/>
          <p:cNvSpPr txBox="1"/>
          <p:nvPr/>
        </p:nvSpPr>
        <p:spPr>
          <a:xfrm>
            <a:off x="1295430" y="23336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«Сыни геосаясат», 1996</a:t>
            </a:r>
            <a:endParaRPr lang="en-US" sz="1150" dirty="0"/>
          </a:p>
        </p:txBody>
      </p:sp>
      <p:sp>
        <p:nvSpPr>
          <p:cNvPr id="10" name="Text 7"/>
          <p:cNvSpPr txBox="1"/>
          <p:nvPr/>
        </p:nvSpPr>
        <p:spPr>
          <a:xfrm>
            <a:off x="1295430" y="25241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Геосаясат — объективті шындық емес, билікті ақтайтын саяси дискурс</a:t>
            </a:r>
            <a:endParaRPr lang="en-US" sz="1200" dirty="0"/>
          </a:p>
        </p:txBody>
      </p:sp>
      <p:sp>
        <p:nvSpPr>
          <p:cNvPr id="11" name="Card Джон Агнью"/>
          <p:cNvSpPr/>
          <p:nvPr/>
        </p:nvSpPr>
        <p:spPr>
          <a:xfrm>
            <a:off x="533370" y="30479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12" name="Text 9"/>
          <p:cNvSpPr/>
          <p:nvPr/>
        </p:nvSpPr>
        <p:spPr>
          <a:xfrm>
            <a:off x="666780" y="3257550"/>
            <a:ext cx="495330" cy="495330"/>
          </a:xfrm>
          <a:prstGeom prst="ellipse">
            <a:avLst/>
          </a:prstGeom>
          <a:solidFill>
            <a:schemeClr val="accent6"/>
          </a:solidFill>
          <a:ln/>
        </p:spPr>
        <p:txBody>
          <a:bodyPr wrap="square" lIns="0" tIns="0" rIns="0" bIns="0" rtlCol="0" anchor="ctr"/>
          <a:lstStyle/>
          <a:p>
            <a:pPr algn="ctr" indent="0" marL="0">
              <a:lnSpc>
                <a:spcPct val="100000"/>
              </a:lnSpc>
              <a:buNone/>
            </a:pPr>
            <a:r>
              <a:rPr lang="en-US" sz="1400" b="1" dirty="0">
                <a:solidFill>
                  <a:srgbClr val="2A1600"/>
                </a:solidFill>
              </a:rPr>
              <a:t>ДА</a:t>
            </a:r>
            <a:endParaRPr lang="en-US" sz="1400" dirty="0"/>
          </a:p>
        </p:txBody>
      </p:sp>
      <p:sp>
        <p:nvSpPr>
          <p:cNvPr id="13" name="Text 10"/>
          <p:cNvSpPr txBox="1"/>
          <p:nvPr/>
        </p:nvSpPr>
        <p:spPr>
          <a:xfrm>
            <a:off x="1295430" y="31337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Джон Агнью</a:t>
            </a:r>
            <a:pPr algn="l" indent="0" marL="0">
              <a:lnSpc>
                <a:spcPct val="105000"/>
              </a:lnSpc>
              <a:buNone/>
            </a:pPr>
            <a:r>
              <a:rPr lang="en-US" sz="1100" dirty="0">
                <a:solidFill>
                  <a:srgbClr val="C9C2EC"/>
                </a:solidFill>
              </a:rPr>
              <a:t>   1949 ж.т.</a:t>
            </a:r>
            <a:endParaRPr lang="en-US" sz="1400" dirty="0"/>
          </a:p>
        </p:txBody>
      </p:sp>
      <p:sp>
        <p:nvSpPr>
          <p:cNvPr id="14" name="Text 11"/>
          <p:cNvSpPr txBox="1"/>
          <p:nvPr/>
        </p:nvSpPr>
        <p:spPr>
          <a:xfrm>
            <a:off x="1295430" y="33623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«Геосаясат: әлемдік саясатты қайта қарау», 1998</a:t>
            </a:r>
            <a:endParaRPr lang="en-US" sz="1150" dirty="0"/>
          </a:p>
        </p:txBody>
      </p:sp>
      <p:sp>
        <p:nvSpPr>
          <p:cNvPr id="15" name="Text 12"/>
          <p:cNvSpPr txBox="1"/>
          <p:nvPr/>
        </p:nvSpPr>
        <p:spPr>
          <a:xfrm>
            <a:off x="1295430" y="35528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«Геосаяси қиял» — мемлекеттер әлемді қалай «елестетеді»</a:t>
            </a:r>
            <a:endParaRPr lang="en-US" sz="1200" dirty="0"/>
          </a:p>
        </p:txBody>
      </p:sp>
      <p:sp>
        <p:nvSpPr>
          <p:cNvPr id="16" name="Card Саймон Далби"/>
          <p:cNvSpPr/>
          <p:nvPr/>
        </p:nvSpPr>
        <p:spPr>
          <a:xfrm>
            <a:off x="533370" y="4076670"/>
            <a:ext cx="5143500" cy="933420"/>
          </a:xfrm>
          <a:prstGeom prst="roundRect">
            <a:avLst>
              <a:gd name="adj" fmla="val 13715"/>
            </a:avLst>
          </a:prstGeom>
          <a:solidFill>
            <a:srgbClr val="FFFFFF">
              <a:alpha val="8000"/>
            </a:srgbClr>
          </a:solidFill>
          <a:ln w="9525">
            <a:solidFill>
              <a:srgbClr val="FFFFFF">
                <a:alpha val="14000"/>
              </a:srgbClr>
            </a:solidFill>
            <a:prstDash val="solid"/>
          </a:ln>
        </p:spPr>
      </p:sp>
      <p:sp>
        <p:nvSpPr>
          <p:cNvPr id="17" name="Text 14"/>
          <p:cNvSpPr/>
          <p:nvPr/>
        </p:nvSpPr>
        <p:spPr>
          <a:xfrm>
            <a:off x="666780" y="4286250"/>
            <a:ext cx="495330" cy="495330"/>
          </a:xfrm>
          <a:prstGeom prst="ellipse">
            <a:avLst/>
          </a:prstGeom>
          <a:solidFill>
            <a:schemeClr val="accent6"/>
          </a:solidFill>
          <a:ln/>
        </p:spPr>
        <p:txBody>
          <a:bodyPr wrap="square" lIns="0" tIns="0" rIns="0" bIns="0" rtlCol="0" anchor="ctr"/>
          <a:lstStyle/>
          <a:p>
            <a:pPr algn="ctr" indent="0" marL="0">
              <a:lnSpc>
                <a:spcPct val="100000"/>
              </a:lnSpc>
              <a:buNone/>
            </a:pPr>
            <a:r>
              <a:rPr lang="en-US" sz="1400" b="1" dirty="0">
                <a:solidFill>
                  <a:srgbClr val="2A1600"/>
                </a:solidFill>
              </a:rPr>
              <a:t>СД</a:t>
            </a:r>
            <a:endParaRPr lang="en-US" sz="1400" dirty="0"/>
          </a:p>
        </p:txBody>
      </p:sp>
      <p:sp>
        <p:nvSpPr>
          <p:cNvPr id="18" name="Text 15"/>
          <p:cNvSpPr txBox="1"/>
          <p:nvPr/>
        </p:nvSpPr>
        <p:spPr>
          <a:xfrm>
            <a:off x="1295430" y="4162440"/>
            <a:ext cx="4248120" cy="228600"/>
          </a:xfrm>
          <a:prstGeom prst="rect">
            <a:avLst/>
          </a:prstGeom>
          <a:noFill/>
          <a:ln/>
        </p:spPr>
        <p:txBody>
          <a:bodyPr wrap="square" lIns="0" tIns="0" rIns="0" bIns="0" rtlCol="0" anchor="t"/>
          <a:lstStyle/>
          <a:p>
            <a:pPr algn="l" indent="0" marL="0">
              <a:lnSpc>
                <a:spcPct val="105000"/>
              </a:lnSpc>
              <a:buNone/>
            </a:pPr>
            <a:r>
              <a:rPr lang="en-US" sz="1500" b="1" dirty="0">
                <a:solidFill>
                  <a:schemeClr val="bg1"/>
                </a:solidFill>
              </a:rPr>
              <a:t>Саймон Далби</a:t>
            </a:r>
            <a:pPr algn="l" indent="0" marL="0">
              <a:lnSpc>
                <a:spcPct val="105000"/>
              </a:lnSpc>
              <a:buNone/>
            </a:pPr>
            <a:r>
              <a:rPr lang="en-US" sz="1100" dirty="0">
                <a:solidFill>
                  <a:srgbClr val="C9C2EC"/>
                </a:solidFill>
              </a:rPr>
              <a:t>   1958 ж.т.</a:t>
            </a:r>
            <a:endParaRPr lang="en-US" sz="1400" dirty="0"/>
          </a:p>
        </p:txBody>
      </p:sp>
      <p:sp>
        <p:nvSpPr>
          <p:cNvPr id="19" name="Text 16"/>
          <p:cNvSpPr txBox="1"/>
          <p:nvPr/>
        </p:nvSpPr>
        <p:spPr>
          <a:xfrm>
            <a:off x="1295430" y="4391040"/>
            <a:ext cx="4248120" cy="190470"/>
          </a:xfrm>
          <a:prstGeom prst="rect">
            <a:avLst/>
          </a:prstGeom>
          <a:noFill/>
          <a:ln/>
        </p:spPr>
        <p:txBody>
          <a:bodyPr wrap="square" lIns="0" tIns="0" rIns="0" bIns="0" rtlCol="0" anchor="t"/>
          <a:lstStyle/>
          <a:p>
            <a:pPr algn="l" indent="0" marL="0">
              <a:lnSpc>
                <a:spcPct val="105000"/>
              </a:lnSpc>
              <a:buNone/>
            </a:pPr>
            <a:r>
              <a:rPr lang="en-US" sz="1150" i="1" dirty="0">
                <a:solidFill>
                  <a:srgbClr val="FFD76A"/>
                </a:solidFill>
              </a:rPr>
              <a:t>«Екінші қырғи-қабақ соғысты құру», 1990</a:t>
            </a:r>
            <a:endParaRPr lang="en-US" sz="1150" dirty="0"/>
          </a:p>
        </p:txBody>
      </p:sp>
      <p:sp>
        <p:nvSpPr>
          <p:cNvPr id="20" name="Text 17"/>
          <p:cNvSpPr txBox="1"/>
          <p:nvPr/>
        </p:nvSpPr>
        <p:spPr>
          <a:xfrm>
            <a:off x="1295430" y="4581510"/>
            <a:ext cx="4248120" cy="400050"/>
          </a:xfrm>
          <a:prstGeom prst="rect">
            <a:avLst/>
          </a:prstGeom>
          <a:noFill/>
          <a:ln/>
        </p:spPr>
        <p:txBody>
          <a:bodyPr wrap="square" lIns="0" tIns="0" rIns="0" bIns="0" rtlCol="0" anchor="t"/>
          <a:lstStyle/>
          <a:p>
            <a:pPr algn="l" indent="0" marL="0">
              <a:lnSpc>
                <a:spcPct val="100000"/>
              </a:lnSpc>
              <a:buNone/>
            </a:pPr>
            <a:r>
              <a:rPr lang="en-US" sz="1200" dirty="0">
                <a:solidFill>
                  <a:schemeClr val="bg1"/>
                </a:solidFill>
              </a:rPr>
              <a:t>Қауіп-қатер бейнесі кеңістік арқылы қалай «құрастырылады»</a:t>
            </a:r>
            <a:endParaRPr lang="en-US" sz="1200" dirty="0"/>
          </a:p>
        </p:txBody>
      </p:sp>
      <p:sp>
        <p:nvSpPr>
          <p:cNvPr id="21" name="Shape 18"/>
          <p:cNvSpPr/>
          <p:nvPr/>
        </p:nvSpPr>
        <p:spPr>
          <a:xfrm>
            <a:off x="533370" y="5162520"/>
            <a:ext cx="5143500" cy="1066830"/>
          </a:xfrm>
          <a:prstGeom prst="roundRect">
            <a:avLst>
              <a:gd name="adj" fmla="val 12000"/>
            </a:avLst>
          </a:prstGeom>
          <a:solidFill>
            <a:srgbClr val="FFFFFF">
              <a:alpha val="5000"/>
            </a:srgbClr>
          </a:solidFill>
          <a:ln w="9525">
            <a:solidFill>
              <a:srgbClr val="FFFFFF">
                <a:alpha val="35000"/>
              </a:srgbClr>
            </a:solidFill>
            <a:prstDash val="dash"/>
          </a:ln>
        </p:spPr>
      </p:sp>
      <p:sp>
        <p:nvSpPr>
          <p:cNvPr id="22" name="Text 19"/>
          <p:cNvSpPr txBox="1"/>
          <p:nvPr/>
        </p:nvSpPr>
        <p:spPr>
          <a:xfrm>
            <a:off x="685800" y="5257800"/>
            <a:ext cx="4838730" cy="895380"/>
          </a:xfrm>
          <a:prstGeom prst="rect">
            <a:avLst/>
          </a:prstGeom>
          <a:noFill/>
          <a:ln/>
        </p:spPr>
        <p:txBody>
          <a:bodyPr wrap="square" lIns="0" tIns="0" rIns="0" bIns="0" rtlCol="0" anchor="t"/>
          <a:lstStyle/>
          <a:p>
            <a:pPr algn="l" indent="0" marL="0">
              <a:lnSpc>
                <a:spcPct val="105000"/>
              </a:lnSpc>
              <a:buNone/>
            </a:pPr>
            <a:r>
              <a:rPr lang="en-US" sz="1200" dirty="0">
                <a:solidFill>
                  <a:schemeClr val="bg1"/>
                </a:solidFill>
              </a:rPr>
              <a:t>🔑 </a:t>
            </a:r>
            <a:pPr algn="l" indent="0" marL="0">
              <a:lnSpc>
                <a:spcPct val="105000"/>
              </a:lnSpc>
              <a:buNone/>
            </a:pPr>
            <a:r>
              <a:rPr lang="en-US" sz="1200" b="1" dirty="0">
                <a:solidFill>
                  <a:srgbClr val="FFD76A"/>
                </a:solidFill>
              </a:rPr>
              <a:t>Негізгі идея: </a:t>
            </a:r>
            <a:pPr algn="l" indent="0" marL="0">
              <a:lnSpc>
                <a:spcPct val="105000"/>
              </a:lnSpc>
              <a:buNone/>
            </a:pPr>
            <a:r>
              <a:rPr lang="en-US" sz="1200" dirty="0">
                <a:solidFill>
                  <a:schemeClr val="bg1"/>
                </a:solidFill>
              </a:rPr>
              <a:t>Геосаяси «шындықтар» тілде, карталарда және БАҚ-та құрастырылады. Зерттеушінің міндеті — оларды деконструкциялап, қандай мүддеге қызмет ететінін көрсету.</a:t>
            </a:r>
            <a:endParaRPr lang="en-US" sz="1200" dirty="0"/>
          </a:p>
        </p:txBody>
      </p:sp>
      <p:sp>
        <p:nvSpPr>
          <p:cNvPr id="23" name="Text 20"/>
          <p:cNvSpPr txBox="1"/>
          <p:nvPr/>
        </p:nvSpPr>
        <p:spPr>
          <a:xfrm>
            <a:off x="6000750" y="476220"/>
            <a:ext cx="5657850" cy="228600"/>
          </a:xfrm>
          <a:prstGeom prst="rect">
            <a:avLst/>
          </a:prstGeom>
          <a:noFill/>
          <a:ln/>
        </p:spPr>
        <p:txBody>
          <a:bodyPr wrap="square" lIns="0" tIns="0" rIns="0" bIns="0" rtlCol="0" anchor="t"/>
          <a:lstStyle/>
          <a:p>
            <a:pPr algn="l" indent="0" marL="0">
              <a:lnSpc>
                <a:spcPct val="105000"/>
              </a:lnSpc>
              <a:buNone/>
            </a:pPr>
            <a:r>
              <a:rPr lang="en-US" sz="1300" b="1" spc="100" kern="0" dirty="0">
                <a:solidFill>
                  <a:schemeClr val="bg1"/>
                </a:solidFill>
              </a:rPr>
              <a:t>ГЕОСАЯСИ ДИСКУРСТЫҢ ҮШ ДЕҢГЕЙІ</a:t>
            </a:r>
            <a:endParaRPr lang="en-US" sz="1300" dirty="0"/>
          </a:p>
        </p:txBody>
      </p:sp>
      <p:sp>
        <p:nvSpPr>
          <p:cNvPr id="24" name="Формалды геосаясат"/>
          <p:cNvSpPr/>
          <p:nvPr/>
        </p:nvSpPr>
        <p:spPr>
          <a:xfrm>
            <a:off x="6000750" y="838230"/>
            <a:ext cx="5657850" cy="838230"/>
          </a:xfrm>
          <a:prstGeom prst="roundRect">
            <a:avLst>
              <a:gd name="adj" fmla="val 15272"/>
            </a:avLst>
          </a:prstGeom>
          <a:solidFill>
            <a:srgbClr val="E8742A"/>
          </a:solidFill>
          <a:ln/>
        </p:spPr>
      </p:sp>
      <p:sp>
        <p:nvSpPr>
          <p:cNvPr id="25" name="Text 22"/>
          <p:cNvSpPr txBox="1"/>
          <p:nvPr/>
        </p:nvSpPr>
        <p:spPr>
          <a:xfrm>
            <a:off x="6153180" y="1066830"/>
            <a:ext cx="419070" cy="381030"/>
          </a:xfrm>
          <a:prstGeom prst="rect">
            <a:avLst/>
          </a:prstGeom>
          <a:noFill/>
          <a:ln/>
        </p:spPr>
        <p:txBody>
          <a:bodyPr wrap="square" lIns="0" tIns="0" rIns="0" bIns="0" rtlCol="0" anchor="t"/>
          <a:lstStyle/>
          <a:p>
            <a:pPr algn="l" indent="0" marL="0">
              <a:lnSpc>
                <a:spcPct val="105000"/>
              </a:lnSpc>
              <a:buNone/>
            </a:pPr>
            <a:r>
              <a:rPr lang="en-US" sz="2400" dirty="0">
                <a:solidFill>
                  <a:schemeClr val="bg1"/>
                </a:solidFill>
              </a:rPr>
              <a:t>📚</a:t>
            </a:r>
            <a:endParaRPr lang="en-US" sz="2400" dirty="0"/>
          </a:p>
        </p:txBody>
      </p:sp>
      <p:sp>
        <p:nvSpPr>
          <p:cNvPr id="26" name="Text 23"/>
          <p:cNvSpPr txBox="1"/>
          <p:nvPr/>
        </p:nvSpPr>
        <p:spPr>
          <a:xfrm>
            <a:off x="6667530" y="933420"/>
            <a:ext cx="4838730" cy="666780"/>
          </a:xfrm>
          <a:prstGeom prst="rect">
            <a:avLst/>
          </a:prstGeom>
          <a:noFill/>
          <a:ln/>
        </p:spPr>
        <p:txBody>
          <a:bodyPr wrap="square" lIns="0" tIns="0" rIns="0" bIns="0" rtlCol="0" anchor="ctr"/>
          <a:lstStyle/>
          <a:p>
            <a:pPr algn="l" indent="0" marL="0">
              <a:lnSpc>
                <a:spcPct val="105000"/>
              </a:lnSpc>
              <a:buNone/>
            </a:pPr>
            <a:r>
              <a:rPr lang="en-US" sz="1500" b="1" dirty="0">
                <a:solidFill>
                  <a:schemeClr val="bg1"/>
                </a:solidFill>
              </a:rPr>
              <a:t>Формалды геосаясат</a:t>
            </a:r>
            <a:endParaRPr lang="en-US" sz="1250" dirty="0"/>
          </a:p>
          <a:p>
            <a:pPr algn="l" indent="0" marL="0">
              <a:lnSpc>
                <a:spcPct val="105000"/>
              </a:lnSpc>
              <a:buNone/>
            </a:pPr>
            <a:r>
              <a:rPr lang="en-US" sz="1250" dirty="0">
                <a:solidFill>
                  <a:schemeClr val="bg1"/>
                </a:solidFill>
              </a:rPr>
              <a:t>Ғалымдар, сараптама орталықтары (think tanks), стратегиялық доктриналар</a:t>
            </a:r>
            <a:endParaRPr lang="en-US" sz="1250" dirty="0"/>
          </a:p>
        </p:txBody>
      </p:sp>
      <p:sp>
        <p:nvSpPr>
          <p:cNvPr id="27" name="Практикалық геосаясат"/>
          <p:cNvSpPr/>
          <p:nvPr/>
        </p:nvSpPr>
        <p:spPr>
          <a:xfrm>
            <a:off x="6324630" y="1790670"/>
            <a:ext cx="5333970" cy="838230"/>
          </a:xfrm>
          <a:prstGeom prst="roundRect">
            <a:avLst>
              <a:gd name="adj" fmla="val 15272"/>
            </a:avLst>
          </a:prstGeom>
          <a:solidFill>
            <a:srgbClr val="D24B62"/>
          </a:solidFill>
          <a:ln/>
        </p:spPr>
      </p:sp>
      <p:sp>
        <p:nvSpPr>
          <p:cNvPr id="28" name="Text 25"/>
          <p:cNvSpPr txBox="1"/>
          <p:nvPr/>
        </p:nvSpPr>
        <p:spPr>
          <a:xfrm>
            <a:off x="6476970" y="2019270"/>
            <a:ext cx="419070" cy="381030"/>
          </a:xfrm>
          <a:prstGeom prst="rect">
            <a:avLst/>
          </a:prstGeom>
          <a:noFill/>
          <a:ln/>
        </p:spPr>
        <p:txBody>
          <a:bodyPr wrap="square" lIns="0" tIns="0" rIns="0" bIns="0" rtlCol="0" anchor="t"/>
          <a:lstStyle/>
          <a:p>
            <a:pPr algn="l" indent="0" marL="0">
              <a:lnSpc>
                <a:spcPct val="105000"/>
              </a:lnSpc>
              <a:buNone/>
            </a:pPr>
            <a:r>
              <a:rPr lang="en-US" sz="2400" dirty="0">
                <a:solidFill>
                  <a:schemeClr val="bg1"/>
                </a:solidFill>
              </a:rPr>
              <a:t>🎙️</a:t>
            </a:r>
            <a:endParaRPr lang="en-US" sz="2400" dirty="0"/>
          </a:p>
        </p:txBody>
      </p:sp>
      <p:sp>
        <p:nvSpPr>
          <p:cNvPr id="29" name="Text 26"/>
          <p:cNvSpPr txBox="1"/>
          <p:nvPr/>
        </p:nvSpPr>
        <p:spPr>
          <a:xfrm>
            <a:off x="6991320" y="1885950"/>
            <a:ext cx="4514850" cy="666780"/>
          </a:xfrm>
          <a:prstGeom prst="rect">
            <a:avLst/>
          </a:prstGeom>
          <a:noFill/>
          <a:ln/>
        </p:spPr>
        <p:txBody>
          <a:bodyPr wrap="square" lIns="0" tIns="0" rIns="0" bIns="0" rtlCol="0" anchor="ctr"/>
          <a:lstStyle/>
          <a:p>
            <a:pPr algn="l" indent="0" marL="0">
              <a:lnSpc>
                <a:spcPct val="105000"/>
              </a:lnSpc>
              <a:buNone/>
            </a:pPr>
            <a:r>
              <a:rPr lang="en-US" sz="1500" b="1" dirty="0">
                <a:solidFill>
                  <a:schemeClr val="bg1"/>
                </a:solidFill>
              </a:rPr>
              <a:t>Практикалық геосаясат</a:t>
            </a:r>
            <a:endParaRPr lang="en-US" sz="1250" dirty="0"/>
          </a:p>
          <a:p>
            <a:pPr algn="l" indent="0" marL="0">
              <a:lnSpc>
                <a:spcPct val="105000"/>
              </a:lnSpc>
              <a:buNone/>
            </a:pPr>
            <a:r>
              <a:rPr lang="en-US" sz="1250" dirty="0">
                <a:solidFill>
                  <a:schemeClr val="bg1"/>
                </a:solidFill>
              </a:rPr>
              <a:t>Саясаткерлер мен дипломаттардың сөздері: «зұлымдық осі», «қауіпсіздік белдеуі»</a:t>
            </a:r>
            <a:endParaRPr lang="en-US" sz="1250" dirty="0"/>
          </a:p>
        </p:txBody>
      </p:sp>
      <p:sp>
        <p:nvSpPr>
          <p:cNvPr id="30" name="Танымал геосаясат"/>
          <p:cNvSpPr/>
          <p:nvPr/>
        </p:nvSpPr>
        <p:spPr>
          <a:xfrm>
            <a:off x="6648420" y="2743200"/>
            <a:ext cx="5010180" cy="838230"/>
          </a:xfrm>
          <a:prstGeom prst="roundRect">
            <a:avLst>
              <a:gd name="adj" fmla="val 15272"/>
            </a:avLst>
          </a:prstGeom>
          <a:solidFill>
            <a:srgbClr val="A8357A"/>
          </a:solidFill>
          <a:ln/>
        </p:spPr>
      </p:sp>
      <p:sp>
        <p:nvSpPr>
          <p:cNvPr id="31" name="Text 28"/>
          <p:cNvSpPr txBox="1"/>
          <p:nvPr/>
        </p:nvSpPr>
        <p:spPr>
          <a:xfrm>
            <a:off x="6800850" y="2971800"/>
            <a:ext cx="419070" cy="381030"/>
          </a:xfrm>
          <a:prstGeom prst="rect">
            <a:avLst/>
          </a:prstGeom>
          <a:noFill/>
          <a:ln/>
        </p:spPr>
        <p:txBody>
          <a:bodyPr wrap="square" lIns="0" tIns="0" rIns="0" bIns="0" rtlCol="0" anchor="t"/>
          <a:lstStyle/>
          <a:p>
            <a:pPr algn="l" indent="0" marL="0">
              <a:lnSpc>
                <a:spcPct val="105000"/>
              </a:lnSpc>
              <a:buNone/>
            </a:pPr>
            <a:r>
              <a:rPr lang="en-US" sz="2400" dirty="0">
                <a:solidFill>
                  <a:schemeClr val="bg1"/>
                </a:solidFill>
              </a:rPr>
              <a:t>📺</a:t>
            </a:r>
            <a:endParaRPr lang="en-US" sz="2400" dirty="0"/>
          </a:p>
        </p:txBody>
      </p:sp>
      <p:sp>
        <p:nvSpPr>
          <p:cNvPr id="32" name="Text 29"/>
          <p:cNvSpPr txBox="1"/>
          <p:nvPr/>
        </p:nvSpPr>
        <p:spPr>
          <a:xfrm>
            <a:off x="7315200" y="2838480"/>
            <a:ext cx="4190970" cy="666780"/>
          </a:xfrm>
          <a:prstGeom prst="rect">
            <a:avLst/>
          </a:prstGeom>
          <a:noFill/>
          <a:ln/>
        </p:spPr>
        <p:txBody>
          <a:bodyPr wrap="square" lIns="0" tIns="0" rIns="0" bIns="0" rtlCol="0" anchor="ctr"/>
          <a:lstStyle/>
          <a:p>
            <a:pPr algn="l" indent="0" marL="0">
              <a:lnSpc>
                <a:spcPct val="105000"/>
              </a:lnSpc>
              <a:buNone/>
            </a:pPr>
            <a:r>
              <a:rPr lang="en-US" sz="1500" b="1" dirty="0">
                <a:solidFill>
                  <a:schemeClr val="bg1"/>
                </a:solidFill>
              </a:rPr>
              <a:t>Танымал геосаясат</a:t>
            </a:r>
            <a:endParaRPr lang="en-US" sz="1250" dirty="0"/>
          </a:p>
          <a:p>
            <a:pPr algn="l" indent="0" marL="0">
              <a:lnSpc>
                <a:spcPct val="105000"/>
              </a:lnSpc>
              <a:buNone/>
            </a:pPr>
            <a:r>
              <a:rPr lang="en-US" sz="1250" dirty="0">
                <a:solidFill>
                  <a:schemeClr val="bg1"/>
                </a:solidFill>
              </a:rPr>
              <a:t>БАҚ, кино, комикстер, әлеуметтік желілер арқылы қалыптасатын «жау» мен «дос» бейнесі</a:t>
            </a:r>
            <a:endParaRPr lang="en-US" sz="1250" dirty="0"/>
          </a:p>
        </p:txBody>
      </p:sp>
      <p:sp>
        <p:nvSpPr>
          <p:cNvPr id="33" name="Shape 30"/>
          <p:cNvSpPr/>
          <p:nvPr/>
        </p:nvSpPr>
        <p:spPr>
          <a:xfrm>
            <a:off x="6000750" y="3810030"/>
            <a:ext cx="5657850" cy="1619220"/>
          </a:xfrm>
          <a:prstGeom prst="roundRect">
            <a:avLst>
              <a:gd name="adj" fmla="val 7906"/>
            </a:avLst>
          </a:prstGeom>
          <a:solidFill>
            <a:srgbClr val="FFFFFF">
              <a:alpha val="8000"/>
            </a:srgbClr>
          </a:solidFill>
          <a:ln w="9525">
            <a:solidFill>
              <a:srgbClr val="FFFFFF">
                <a:alpha val="14000"/>
              </a:srgbClr>
            </a:solidFill>
            <a:prstDash val="solid"/>
          </a:ln>
        </p:spPr>
      </p:sp>
      <p:pic>
        <p:nvPicPr>
          <p:cNvPr id="34" name="Image 0" descr="Үлкейткіш әйнек">    </p:cNvPr>
          <p:cNvPicPr>
            <a:picLocks noChangeAspect="1"/>
          </p:cNvPicPr>
          <p:nvPr/>
        </p:nvPicPr>
        <p:blipFill>
          <a:blip r:embed="rId2"/>
          <a:stretch>
            <a:fillRect/>
          </a:stretch>
        </p:blipFill>
        <p:spPr>
          <a:xfrm>
            <a:off x="6191220" y="4000500"/>
            <a:ext cx="1238280" cy="1238280"/>
          </a:xfrm>
          <a:prstGeom prst="rect">
            <a:avLst/>
          </a:prstGeom>
        </p:spPr>
      </p:pic>
      <p:sp>
        <p:nvSpPr>
          <p:cNvPr id="35" name="Text 31"/>
          <p:cNvSpPr txBox="1"/>
          <p:nvPr/>
        </p:nvSpPr>
        <p:spPr>
          <a:xfrm>
            <a:off x="7619970" y="4095780"/>
            <a:ext cx="3848070" cy="1047720"/>
          </a:xfrm>
          <a:prstGeom prst="rect">
            <a:avLst/>
          </a:prstGeom>
          <a:noFill/>
          <a:ln/>
        </p:spPr>
        <p:txBody>
          <a:bodyPr wrap="square" lIns="0" tIns="0" rIns="0" bIns="0" rtlCol="0" anchor="ctr"/>
          <a:lstStyle/>
          <a:p>
            <a:pPr algn="l" indent="0" marL="0">
              <a:lnSpc>
                <a:spcPct val="110000"/>
              </a:lnSpc>
              <a:buNone/>
            </a:pPr>
            <a:r>
              <a:rPr lang="en-US" sz="1500" b="1" dirty="0">
                <a:solidFill>
                  <a:schemeClr val="bg1"/>
                </a:solidFill>
              </a:rPr>
              <a:t>Негізгі сұрақ:</a:t>
            </a:r>
            <a:pPr algn="l" indent="0" marL="0">
              <a:lnSpc>
                <a:spcPct val="110000"/>
              </a:lnSpc>
              <a:buNone/>
            </a:pPr>
            <a:r>
              <a:rPr lang="en-US" sz="1500" dirty="0">
                <a:solidFill>
                  <a:schemeClr val="bg1"/>
                </a:solidFill>
              </a:rPr>
              <a:t> «Кеңістік не айтады?» емес,
</a:t>
            </a:r>
            <a:pPr algn="l" indent="0" marL="0">
              <a:lnSpc>
                <a:spcPct val="110000"/>
              </a:lnSpc>
              <a:buNone/>
            </a:pPr>
            <a:r>
              <a:rPr lang="en-US" sz="1500" b="1" dirty="0">
                <a:solidFill>
                  <a:schemeClr val="bg1"/>
                </a:solidFill>
              </a:rPr>
              <a:t>«Кеңістік туралы кім, не үшін және қалай айтады?»</a:t>
            </a:r>
            <a:endParaRPr lang="en-US" sz="1500" dirty="0"/>
          </a:p>
        </p:txBody>
      </p:sp>
      <p:sp>
        <p:nvSpPr>
          <p:cNvPr id="25" name="Slide Number Placeholder 0"/>
          <p:cNvSpPr>
            <a:spLocks noGrp="1"/>
          </p:cNvSpPr>
          <p:nvPr>
            <p:ph type="sldNum" sz="quarter" idx="4294967295"/>
          </p:nvPr>
        </p:nvSpPr>
        <p:spPr>
          <a:xfrm>
            <a:off x="10953780" y="6515100"/>
            <a:ext cx="7619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C9C2E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33370" y="800100"/>
            <a:ext cx="11125230" cy="533370"/>
          </a:xfrm>
          <a:prstGeom prst="rect">
            <a:avLst/>
          </a:prstGeom>
          <a:noFill/>
          <a:ln/>
        </p:spPr>
        <p:txBody>
          <a:bodyPr wrap="square" lIns="0" tIns="0" rIns="0" bIns="0" rtlCol="0" anchor="t"/>
          <a:lstStyle/>
          <a:p>
            <a:pPr algn="l" indent="0" marL="0">
              <a:buNone/>
            </a:pPr>
            <a:r>
              <a:rPr lang="en-US" sz="3200" b="1" dirty="0">
                <a:solidFill>
                  <a:schemeClr val="bg1"/>
                </a:solidFill>
              </a:rPr>
              <a:t>Геосаяси ойдың эволюциясы</a:t>
            </a:r>
            <a:endParaRPr lang="en-US" sz="3200" dirty="0"/>
          </a:p>
        </p:txBody>
      </p:sp>
      <p:sp>
        <p:nvSpPr>
          <p:cNvPr id="4" name="Tag"/>
          <p:cNvSpPr/>
          <p:nvPr/>
        </p:nvSpPr>
        <p:spPr>
          <a:xfrm>
            <a:off x="533370" y="419070"/>
            <a:ext cx="1457371" cy="285750"/>
          </a:xfrm>
          <a:prstGeom prst="roundRect">
            <a:avLst>
              <a:gd name="adj" fmla="val 50000"/>
            </a:avLst>
          </a:prstGeom>
          <a:solidFill>
            <a:schemeClr val="accent2"/>
          </a:solidFill>
          <a:ln/>
        </p:spPr>
        <p:txBody>
          <a:bodyPr wrap="square" lIns="0" tIns="0" rIns="0" bIns="0" rtlCol="0" anchor="ctr"/>
          <a:lstStyle/>
          <a:p>
            <a:pPr algn="ctr" indent="0" marL="0">
              <a:lnSpc>
                <a:spcPct val="100000"/>
              </a:lnSpc>
              <a:buNone/>
            </a:pPr>
            <a:r>
              <a:rPr lang="en-US" sz="1100" b="1" spc="150" kern="0" dirty="0">
                <a:solidFill>
                  <a:schemeClr val="bg1"/>
                </a:solidFill>
              </a:rPr>
              <a:t>САЛЫСТЫРУ · 1</a:t>
            </a:r>
            <a:endParaRPr lang="en-US" sz="1100" dirty="0"/>
          </a:p>
        </p:txBody>
      </p:sp>
      <p:sp>
        <p:nvSpPr>
          <p:cNvPr id="5" name="Text 2"/>
          <p:cNvSpPr/>
          <p:nvPr/>
        </p:nvSpPr>
        <p:spPr>
          <a:xfrm>
            <a:off x="1028700" y="1428750"/>
            <a:ext cx="4887011" cy="285750"/>
          </a:xfrm>
          <a:prstGeom prst="roundRect">
            <a:avLst>
              <a:gd name="adj" fmla="val 25600"/>
            </a:avLst>
          </a:prstGeom>
          <a:solidFill>
            <a:srgbClr val="24357F"/>
          </a:solidFill>
          <a:ln/>
        </p:spPr>
        <p:txBody>
          <a:bodyPr wrap="square" lIns="127000" tIns="0" rIns="0" bIns="0" rtlCol="0" anchor="ctr"/>
          <a:lstStyle/>
          <a:p>
            <a:pPr algn="l" indent="0" marL="0">
              <a:lnSpc>
                <a:spcPct val="100000"/>
              </a:lnSpc>
              <a:buNone/>
            </a:pPr>
            <a:r>
              <a:rPr lang="en-US" sz="1100" b="1" dirty="0">
                <a:solidFill>
                  <a:schemeClr val="bg1"/>
                </a:solidFill>
              </a:rPr>
              <a:t>Классикалық кезең</a:t>
            </a:r>
            <a:pPr algn="l" indent="0" marL="0">
              <a:lnSpc>
                <a:spcPct val="100000"/>
              </a:lnSpc>
              <a:buNone/>
            </a:pPr>
            <a:r>
              <a:rPr lang="en-US" sz="1100" b="1" dirty="0">
                <a:solidFill>
                  <a:schemeClr val="bg1"/>
                </a:solidFill>
              </a:rPr>
              <a:t>  1890–1945</a:t>
            </a:r>
            <a:endParaRPr lang="en-US" sz="1100" dirty="0"/>
          </a:p>
        </p:txBody>
      </p:sp>
      <p:sp>
        <p:nvSpPr>
          <p:cNvPr id="6" name="Text 3"/>
          <p:cNvSpPr/>
          <p:nvPr/>
        </p:nvSpPr>
        <p:spPr>
          <a:xfrm>
            <a:off x="5953841" y="1428750"/>
            <a:ext cx="3655771" cy="285750"/>
          </a:xfrm>
          <a:prstGeom prst="roundRect">
            <a:avLst>
              <a:gd name="adj" fmla="val 25600"/>
            </a:avLst>
          </a:prstGeom>
          <a:solidFill>
            <a:srgbClr val="4A1F6E"/>
          </a:solidFill>
          <a:ln/>
        </p:spPr>
        <p:txBody>
          <a:bodyPr wrap="square" lIns="127000" tIns="0" rIns="0" bIns="0" rtlCol="0" anchor="ctr"/>
          <a:lstStyle/>
          <a:p>
            <a:pPr algn="l" indent="0" marL="0">
              <a:lnSpc>
                <a:spcPct val="100000"/>
              </a:lnSpc>
              <a:buNone/>
            </a:pPr>
            <a:r>
              <a:rPr lang="en-US" sz="1100" b="1" dirty="0">
                <a:solidFill>
                  <a:schemeClr val="bg1"/>
                </a:solidFill>
              </a:rPr>
              <a:t>«Үнсіздік» және жаңғыру</a:t>
            </a:r>
            <a:pPr algn="l" indent="0" marL="0">
              <a:lnSpc>
                <a:spcPct val="100000"/>
              </a:lnSpc>
              <a:buNone/>
            </a:pPr>
            <a:r>
              <a:rPr lang="en-US" sz="1100" b="1" dirty="0">
                <a:solidFill>
                  <a:schemeClr val="bg1"/>
                </a:solidFill>
              </a:rPr>
              <a:t>  1945–1990</a:t>
            </a:r>
            <a:endParaRPr lang="en-US" sz="1100" dirty="0"/>
          </a:p>
        </p:txBody>
      </p:sp>
      <p:sp>
        <p:nvSpPr>
          <p:cNvPr id="7" name="Text 4"/>
          <p:cNvSpPr/>
          <p:nvPr/>
        </p:nvSpPr>
        <p:spPr>
          <a:xfrm>
            <a:off x="9647652" y="1428750"/>
            <a:ext cx="1439448" cy="285750"/>
          </a:xfrm>
          <a:prstGeom prst="roundRect">
            <a:avLst>
              <a:gd name="adj" fmla="val 25600"/>
            </a:avLst>
          </a:prstGeom>
          <a:solidFill>
            <a:srgbClr val="4B1A9E"/>
          </a:solidFill>
          <a:ln/>
        </p:spPr>
        <p:txBody>
          <a:bodyPr wrap="square" lIns="127000" tIns="0" rIns="0" bIns="0" rtlCol="0" anchor="ctr"/>
          <a:lstStyle/>
          <a:p>
            <a:pPr algn="l" indent="0" marL="0">
              <a:lnSpc>
                <a:spcPct val="100000"/>
              </a:lnSpc>
              <a:buNone/>
            </a:pPr>
            <a:r>
              <a:rPr lang="en-US" sz="1100" b="1" dirty="0">
                <a:solidFill>
                  <a:schemeClr val="bg1"/>
                </a:solidFill>
              </a:rPr>
              <a:t>Жаңа кезең</a:t>
            </a:r>
            <a:pPr algn="l" indent="0" marL="0">
              <a:lnSpc>
                <a:spcPct val="100000"/>
              </a:lnSpc>
              <a:buNone/>
            </a:pPr>
            <a:r>
              <a:rPr lang="en-US" sz="1100" b="1" dirty="0">
                <a:solidFill>
                  <a:schemeClr val="bg1"/>
                </a:solidFill>
              </a:rPr>
              <a:t>  1990+</a:t>
            </a:r>
            <a:endParaRPr lang="en-US" sz="1100" dirty="0"/>
          </a:p>
        </p:txBody>
      </p:sp>
      <p:sp>
        <p:nvSpPr>
          <p:cNvPr id="8" name="Shape 5"/>
          <p:cNvSpPr/>
          <p:nvPr/>
        </p:nvSpPr>
        <p:spPr>
          <a:xfrm>
            <a:off x="1009680" y="3609960"/>
            <a:ext cx="1641714" cy="57150"/>
          </a:xfrm>
          <a:prstGeom prst="rect">
            <a:avLst/>
          </a:prstGeom>
          <a:solidFill>
            <a:schemeClr val="accent1"/>
          </a:solidFill>
          <a:ln/>
        </p:spPr>
      </p:sp>
      <p:sp>
        <p:nvSpPr>
          <p:cNvPr id="9" name="Shape 6"/>
          <p:cNvSpPr/>
          <p:nvPr/>
        </p:nvSpPr>
        <p:spPr>
          <a:xfrm>
            <a:off x="2651394" y="3609960"/>
            <a:ext cx="1641714" cy="57150"/>
          </a:xfrm>
          <a:prstGeom prst="rect">
            <a:avLst/>
          </a:prstGeom>
          <a:solidFill>
            <a:schemeClr val="accent2"/>
          </a:solidFill>
          <a:ln/>
        </p:spPr>
      </p:sp>
      <p:sp>
        <p:nvSpPr>
          <p:cNvPr id="10" name="Shape 7"/>
          <p:cNvSpPr/>
          <p:nvPr/>
        </p:nvSpPr>
        <p:spPr>
          <a:xfrm>
            <a:off x="4293108" y="3609960"/>
            <a:ext cx="1641714" cy="57150"/>
          </a:xfrm>
          <a:prstGeom prst="rect">
            <a:avLst/>
          </a:prstGeom>
          <a:solidFill>
            <a:schemeClr val="accent3"/>
          </a:solidFill>
          <a:ln/>
        </p:spPr>
      </p:sp>
      <p:sp>
        <p:nvSpPr>
          <p:cNvPr id="11" name="Shape 8"/>
          <p:cNvSpPr/>
          <p:nvPr/>
        </p:nvSpPr>
        <p:spPr>
          <a:xfrm>
            <a:off x="5934730" y="3609960"/>
            <a:ext cx="2052096" cy="57150"/>
          </a:xfrm>
          <a:prstGeom prst="rect">
            <a:avLst/>
          </a:prstGeom>
          <a:solidFill>
            <a:schemeClr val="accent4"/>
          </a:solidFill>
          <a:ln/>
        </p:spPr>
      </p:sp>
      <p:sp>
        <p:nvSpPr>
          <p:cNvPr id="12" name="Shape 9"/>
          <p:cNvSpPr/>
          <p:nvPr/>
        </p:nvSpPr>
        <p:spPr>
          <a:xfrm>
            <a:off x="7986918" y="3609960"/>
            <a:ext cx="1641714" cy="57150"/>
          </a:xfrm>
          <a:prstGeom prst="rect">
            <a:avLst/>
          </a:prstGeom>
          <a:solidFill>
            <a:schemeClr val="accent5"/>
          </a:solidFill>
          <a:ln/>
        </p:spPr>
      </p:sp>
      <p:sp>
        <p:nvSpPr>
          <p:cNvPr id="13" name="Shape 10"/>
          <p:cNvSpPr/>
          <p:nvPr/>
        </p:nvSpPr>
        <p:spPr>
          <a:xfrm>
            <a:off x="9628632" y="3609960"/>
            <a:ext cx="1477579" cy="57150"/>
          </a:xfrm>
          <a:prstGeom prst="rect">
            <a:avLst/>
          </a:prstGeom>
          <a:solidFill>
            <a:schemeClr val="accent6"/>
          </a:solidFill>
          <a:ln/>
        </p:spPr>
      </p:sp>
      <p:sp>
        <p:nvSpPr>
          <p:cNvPr id="14" name="Text 11"/>
          <p:cNvSpPr txBox="1"/>
          <p:nvPr/>
        </p:nvSpPr>
        <p:spPr>
          <a:xfrm>
            <a:off x="1134313" y="3733770"/>
            <a:ext cx="571500" cy="171450"/>
          </a:xfrm>
          <a:prstGeom prst="rect">
            <a:avLst/>
          </a:prstGeom>
          <a:noFill/>
          <a:ln/>
        </p:spPr>
        <p:txBody>
          <a:bodyPr wrap="square" lIns="0" tIns="0" rIns="0" bIns="0" rtlCol="0" anchor="t"/>
          <a:lstStyle/>
          <a:p>
            <a:pPr algn="ctr" indent="0" marL="0">
              <a:lnSpc>
                <a:spcPct val="105000"/>
              </a:lnSpc>
              <a:buNone/>
            </a:pPr>
            <a:r>
              <a:rPr lang="en-US" sz="1000" dirty="0">
                <a:solidFill>
                  <a:srgbClr val="C9C2EC"/>
                </a:solidFill>
              </a:rPr>
              <a:t>1890</a:t>
            </a:r>
            <a:endParaRPr lang="en-US" sz="1000" dirty="0"/>
          </a:p>
        </p:txBody>
      </p:sp>
      <p:sp>
        <p:nvSpPr>
          <p:cNvPr id="15" name="Text 12"/>
          <p:cNvSpPr txBox="1"/>
          <p:nvPr/>
        </p:nvSpPr>
        <p:spPr>
          <a:xfrm>
            <a:off x="2776027" y="3733770"/>
            <a:ext cx="571500" cy="171450"/>
          </a:xfrm>
          <a:prstGeom prst="rect">
            <a:avLst/>
          </a:prstGeom>
          <a:noFill/>
          <a:ln/>
        </p:spPr>
        <p:txBody>
          <a:bodyPr wrap="square" lIns="0" tIns="0" rIns="0" bIns="0" rtlCol="0" anchor="t"/>
          <a:lstStyle/>
          <a:p>
            <a:pPr algn="ctr" indent="0" marL="0">
              <a:lnSpc>
                <a:spcPct val="105000"/>
              </a:lnSpc>
              <a:buNone/>
            </a:pPr>
            <a:r>
              <a:rPr lang="en-US" sz="1000" dirty="0">
                <a:solidFill>
                  <a:srgbClr val="C9C2EC"/>
                </a:solidFill>
              </a:rPr>
              <a:t>1910</a:t>
            </a:r>
            <a:endParaRPr lang="en-US" sz="1000" dirty="0"/>
          </a:p>
        </p:txBody>
      </p:sp>
      <p:sp>
        <p:nvSpPr>
          <p:cNvPr id="16" name="Text 13"/>
          <p:cNvSpPr txBox="1"/>
          <p:nvPr/>
        </p:nvSpPr>
        <p:spPr>
          <a:xfrm>
            <a:off x="4417741" y="3733770"/>
            <a:ext cx="571500" cy="171450"/>
          </a:xfrm>
          <a:prstGeom prst="rect">
            <a:avLst/>
          </a:prstGeom>
          <a:noFill/>
          <a:ln/>
        </p:spPr>
        <p:txBody>
          <a:bodyPr wrap="square" lIns="0" tIns="0" rIns="0" bIns="0" rtlCol="0" anchor="t"/>
          <a:lstStyle/>
          <a:p>
            <a:pPr algn="ctr" indent="0" marL="0">
              <a:lnSpc>
                <a:spcPct val="105000"/>
              </a:lnSpc>
              <a:buNone/>
            </a:pPr>
            <a:r>
              <a:rPr lang="en-US" sz="1000" dirty="0">
                <a:solidFill>
                  <a:srgbClr val="C9C2EC"/>
                </a:solidFill>
              </a:rPr>
              <a:t>1930</a:t>
            </a:r>
            <a:endParaRPr lang="en-US" sz="1000" dirty="0"/>
          </a:p>
        </p:txBody>
      </p:sp>
      <p:sp>
        <p:nvSpPr>
          <p:cNvPr id="17" name="Text 14"/>
          <p:cNvSpPr txBox="1"/>
          <p:nvPr/>
        </p:nvSpPr>
        <p:spPr>
          <a:xfrm>
            <a:off x="6059454" y="3733770"/>
            <a:ext cx="571500" cy="171450"/>
          </a:xfrm>
          <a:prstGeom prst="rect">
            <a:avLst/>
          </a:prstGeom>
          <a:noFill/>
          <a:ln/>
        </p:spPr>
        <p:txBody>
          <a:bodyPr wrap="square" lIns="0" tIns="0" rIns="0" bIns="0" rtlCol="0" anchor="t"/>
          <a:lstStyle/>
          <a:p>
            <a:pPr algn="ctr" indent="0" marL="0">
              <a:lnSpc>
                <a:spcPct val="105000"/>
              </a:lnSpc>
              <a:buNone/>
            </a:pPr>
            <a:r>
              <a:rPr lang="en-US" sz="1000" dirty="0">
                <a:solidFill>
                  <a:srgbClr val="C9C2EC"/>
                </a:solidFill>
              </a:rPr>
              <a:t>1950</a:t>
            </a:r>
            <a:endParaRPr lang="en-US" sz="1000" dirty="0"/>
          </a:p>
        </p:txBody>
      </p:sp>
      <p:sp>
        <p:nvSpPr>
          <p:cNvPr id="18" name="Text 15"/>
          <p:cNvSpPr txBox="1"/>
          <p:nvPr/>
        </p:nvSpPr>
        <p:spPr>
          <a:xfrm>
            <a:off x="7701168" y="3733770"/>
            <a:ext cx="571500" cy="171450"/>
          </a:xfrm>
          <a:prstGeom prst="rect">
            <a:avLst/>
          </a:prstGeom>
          <a:noFill/>
          <a:ln/>
        </p:spPr>
        <p:txBody>
          <a:bodyPr wrap="square" lIns="0" tIns="0" rIns="0" bIns="0" rtlCol="0" anchor="t"/>
          <a:lstStyle/>
          <a:p>
            <a:pPr algn="ctr" indent="0" marL="0">
              <a:lnSpc>
                <a:spcPct val="105000"/>
              </a:lnSpc>
              <a:buNone/>
            </a:pPr>
            <a:r>
              <a:rPr lang="en-US" sz="1000" dirty="0">
                <a:solidFill>
                  <a:srgbClr val="C9C2EC"/>
                </a:solidFill>
              </a:rPr>
              <a:t>1970</a:t>
            </a:r>
            <a:endParaRPr lang="en-US" sz="1000" dirty="0"/>
          </a:p>
        </p:txBody>
      </p:sp>
      <p:sp>
        <p:nvSpPr>
          <p:cNvPr id="19" name="Text 16"/>
          <p:cNvSpPr txBox="1"/>
          <p:nvPr/>
        </p:nvSpPr>
        <p:spPr>
          <a:xfrm>
            <a:off x="9342882" y="3733770"/>
            <a:ext cx="571500" cy="171450"/>
          </a:xfrm>
          <a:prstGeom prst="rect">
            <a:avLst/>
          </a:prstGeom>
          <a:noFill/>
          <a:ln/>
        </p:spPr>
        <p:txBody>
          <a:bodyPr wrap="square" lIns="0" tIns="0" rIns="0" bIns="0" rtlCol="0" anchor="t"/>
          <a:lstStyle/>
          <a:p>
            <a:pPr algn="ctr" indent="0" marL="0">
              <a:lnSpc>
                <a:spcPct val="105000"/>
              </a:lnSpc>
              <a:buNone/>
            </a:pPr>
            <a:r>
              <a:rPr lang="en-US" sz="1000" dirty="0">
                <a:solidFill>
                  <a:srgbClr val="C9C2EC"/>
                </a:solidFill>
              </a:rPr>
              <a:t>1990</a:t>
            </a:r>
            <a:endParaRPr lang="en-US" sz="1000" dirty="0"/>
          </a:p>
        </p:txBody>
      </p:sp>
      <p:sp>
        <p:nvSpPr>
          <p:cNvPr id="20" name="Shape 17"/>
          <p:cNvSpPr/>
          <p:nvPr/>
        </p:nvSpPr>
        <p:spPr>
          <a:xfrm>
            <a:off x="1420063" y="2209830"/>
            <a:ext cx="0" cy="1428750"/>
          </a:xfrm>
          <a:prstGeom prst="line">
            <a:avLst/>
          </a:prstGeom>
          <a:noFill/>
          <a:ln w="19050">
            <a:solidFill>
              <a:schemeClr val="accent1"/>
            </a:solidFill>
            <a:prstDash val="solid"/>
          </a:ln>
        </p:spPr>
      </p:sp>
      <p:sp>
        <p:nvSpPr>
          <p:cNvPr id="21" name="Shape 18"/>
          <p:cNvSpPr/>
          <p:nvPr/>
        </p:nvSpPr>
        <p:spPr>
          <a:xfrm>
            <a:off x="1994672" y="3638580"/>
            <a:ext cx="0" cy="904890"/>
          </a:xfrm>
          <a:prstGeom prst="line">
            <a:avLst/>
          </a:prstGeom>
          <a:noFill/>
          <a:ln w="19050">
            <a:solidFill>
              <a:schemeClr val="accent2"/>
            </a:solidFill>
            <a:prstDash val="solid"/>
          </a:ln>
        </p:spPr>
      </p:sp>
      <p:sp>
        <p:nvSpPr>
          <p:cNvPr id="22" name="Shape 19"/>
          <p:cNvSpPr/>
          <p:nvPr/>
        </p:nvSpPr>
        <p:spPr>
          <a:xfrm>
            <a:off x="2196937" y="2733690"/>
            <a:ext cx="0" cy="904890"/>
          </a:xfrm>
          <a:prstGeom prst="line">
            <a:avLst/>
          </a:prstGeom>
          <a:noFill/>
          <a:ln w="19050">
            <a:solidFill>
              <a:schemeClr val="accent2"/>
            </a:solidFill>
            <a:prstDash val="solid"/>
          </a:ln>
        </p:spPr>
      </p:sp>
      <p:sp>
        <p:nvSpPr>
          <p:cNvPr id="23" name="Shape 20"/>
          <p:cNvSpPr/>
          <p:nvPr/>
        </p:nvSpPr>
        <p:spPr>
          <a:xfrm>
            <a:off x="2569281" y="3638580"/>
            <a:ext cx="0" cy="1428750"/>
          </a:xfrm>
          <a:prstGeom prst="line">
            <a:avLst/>
          </a:prstGeom>
          <a:noFill/>
          <a:ln w="19050">
            <a:solidFill>
              <a:schemeClr val="accent1"/>
            </a:solidFill>
            <a:prstDash val="solid"/>
          </a:ln>
        </p:spPr>
      </p:sp>
      <p:sp>
        <p:nvSpPr>
          <p:cNvPr id="24" name="Shape 21"/>
          <p:cNvSpPr/>
          <p:nvPr/>
        </p:nvSpPr>
        <p:spPr>
          <a:xfrm>
            <a:off x="4046769" y="2209830"/>
            <a:ext cx="0" cy="1428750"/>
          </a:xfrm>
          <a:prstGeom prst="line">
            <a:avLst/>
          </a:prstGeom>
          <a:noFill/>
          <a:ln w="19050">
            <a:solidFill>
              <a:schemeClr val="accent3"/>
            </a:solidFill>
            <a:prstDash val="solid"/>
          </a:ln>
        </p:spPr>
      </p:sp>
      <p:sp>
        <p:nvSpPr>
          <p:cNvPr id="25" name="Shape 22"/>
          <p:cNvSpPr/>
          <p:nvPr/>
        </p:nvSpPr>
        <p:spPr>
          <a:xfrm>
            <a:off x="4210995" y="3638580"/>
            <a:ext cx="0" cy="904890"/>
          </a:xfrm>
          <a:prstGeom prst="line">
            <a:avLst/>
          </a:prstGeom>
          <a:noFill/>
          <a:ln w="19050">
            <a:solidFill>
              <a:schemeClr val="accent2"/>
            </a:solidFill>
            <a:prstDash val="solid"/>
          </a:ln>
        </p:spPr>
      </p:sp>
      <p:sp>
        <p:nvSpPr>
          <p:cNvPr id="26" name="Shape 23"/>
          <p:cNvSpPr/>
          <p:nvPr/>
        </p:nvSpPr>
        <p:spPr>
          <a:xfrm>
            <a:off x="4350258" y="2733690"/>
            <a:ext cx="0" cy="904890"/>
          </a:xfrm>
          <a:prstGeom prst="line">
            <a:avLst/>
          </a:prstGeom>
          <a:noFill/>
          <a:ln w="19050">
            <a:solidFill>
              <a:schemeClr val="accent4"/>
            </a:solidFill>
            <a:prstDash val="solid"/>
          </a:ln>
        </p:spPr>
      </p:sp>
      <p:sp>
        <p:nvSpPr>
          <p:cNvPr id="27" name="Shape 24"/>
          <p:cNvSpPr/>
          <p:nvPr/>
        </p:nvSpPr>
        <p:spPr>
          <a:xfrm>
            <a:off x="5852709" y="3638580"/>
            <a:ext cx="0" cy="1428750"/>
          </a:xfrm>
          <a:prstGeom prst="line">
            <a:avLst/>
          </a:prstGeom>
          <a:noFill/>
          <a:ln w="19050">
            <a:solidFill>
              <a:schemeClr val="accent1"/>
            </a:solidFill>
            <a:prstDash val="solid"/>
          </a:ln>
        </p:spPr>
      </p:sp>
      <p:sp>
        <p:nvSpPr>
          <p:cNvPr id="28" name="Shape 25"/>
          <p:cNvSpPr/>
          <p:nvPr/>
        </p:nvSpPr>
        <p:spPr>
          <a:xfrm>
            <a:off x="8479414" y="2209830"/>
            <a:ext cx="0" cy="1428750"/>
          </a:xfrm>
          <a:prstGeom prst="line">
            <a:avLst/>
          </a:prstGeom>
          <a:noFill/>
          <a:ln w="19050">
            <a:solidFill>
              <a:schemeClr val="accent3"/>
            </a:solidFill>
            <a:prstDash val="solid"/>
          </a:ln>
        </p:spPr>
      </p:sp>
      <p:sp>
        <p:nvSpPr>
          <p:cNvPr id="29" name="Shape 26"/>
          <p:cNvSpPr/>
          <p:nvPr/>
        </p:nvSpPr>
        <p:spPr>
          <a:xfrm>
            <a:off x="9546519" y="3638580"/>
            <a:ext cx="0" cy="904890"/>
          </a:xfrm>
          <a:prstGeom prst="line">
            <a:avLst/>
          </a:prstGeom>
          <a:noFill/>
          <a:ln w="19050">
            <a:solidFill>
              <a:schemeClr val="accent4"/>
            </a:solidFill>
            <a:prstDash val="solid"/>
          </a:ln>
        </p:spPr>
      </p:sp>
      <p:sp>
        <p:nvSpPr>
          <p:cNvPr id="30" name="Shape 27"/>
          <p:cNvSpPr/>
          <p:nvPr/>
        </p:nvSpPr>
        <p:spPr>
          <a:xfrm>
            <a:off x="9874880" y="2733690"/>
            <a:ext cx="0" cy="904890"/>
          </a:xfrm>
          <a:prstGeom prst="line">
            <a:avLst/>
          </a:prstGeom>
          <a:noFill/>
          <a:ln w="19050">
            <a:solidFill>
              <a:schemeClr val="accent5"/>
            </a:solidFill>
            <a:prstDash val="solid"/>
          </a:ln>
        </p:spPr>
      </p:sp>
      <p:sp>
        <p:nvSpPr>
          <p:cNvPr id="31" name="Shape 28"/>
          <p:cNvSpPr/>
          <p:nvPr/>
        </p:nvSpPr>
        <p:spPr>
          <a:xfrm>
            <a:off x="10121128" y="3638580"/>
            <a:ext cx="0" cy="1428750"/>
          </a:xfrm>
          <a:prstGeom prst="line">
            <a:avLst/>
          </a:prstGeom>
          <a:noFill/>
          <a:ln w="19050">
            <a:solidFill>
              <a:schemeClr val="accent6"/>
            </a:solidFill>
            <a:prstDash val="solid"/>
          </a:ln>
        </p:spPr>
      </p:sp>
      <p:sp>
        <p:nvSpPr>
          <p:cNvPr id="32" name="Shape 29"/>
          <p:cNvSpPr/>
          <p:nvPr/>
        </p:nvSpPr>
        <p:spPr>
          <a:xfrm>
            <a:off x="10203241" y="2209830"/>
            <a:ext cx="0" cy="1428750"/>
          </a:xfrm>
          <a:prstGeom prst="line">
            <a:avLst/>
          </a:prstGeom>
          <a:noFill/>
          <a:ln w="19050">
            <a:solidFill>
              <a:schemeClr val="accent5"/>
            </a:solidFill>
            <a:prstDash val="solid"/>
          </a:ln>
        </p:spPr>
      </p:sp>
      <p:sp>
        <p:nvSpPr>
          <p:cNvPr id="33" name="Shape 30"/>
          <p:cNvSpPr/>
          <p:nvPr/>
        </p:nvSpPr>
        <p:spPr>
          <a:xfrm>
            <a:off x="10298430" y="3638580"/>
            <a:ext cx="0" cy="1952610"/>
          </a:xfrm>
          <a:prstGeom prst="line">
            <a:avLst/>
          </a:prstGeom>
          <a:noFill/>
          <a:ln w="19050">
            <a:solidFill>
              <a:schemeClr val="accent4"/>
            </a:solidFill>
            <a:prstDash val="solid"/>
          </a:ln>
        </p:spPr>
      </p:sp>
      <p:sp>
        <p:nvSpPr>
          <p:cNvPr id="34" name="1890 Мэхэн"/>
          <p:cNvSpPr/>
          <p:nvPr/>
        </p:nvSpPr>
        <p:spPr>
          <a:xfrm>
            <a:off x="939089" y="1809780"/>
            <a:ext cx="962040" cy="419070"/>
          </a:xfrm>
          <a:prstGeom prst="roundRect">
            <a:avLst>
              <a:gd name="adj" fmla="val 17456"/>
            </a:avLst>
          </a:prstGeom>
          <a:solidFill>
            <a:srgbClr val="140C40"/>
          </a:solidFill>
          <a:ln w="15875">
            <a:solidFill>
              <a:schemeClr val="accent1"/>
            </a:solidFill>
          </a:ln>
        </p:spPr>
        <p:txBody>
          <a:bodyPr wrap="square" lIns="0" tIns="0" rIns="0" bIns="0" rtlCol="0" anchor="ctr"/>
          <a:lstStyle/>
          <a:p>
            <a:pPr algn="ctr" indent="0" marL="0">
              <a:buNone/>
            </a:pPr>
            <a:r>
              <a:rPr lang="en-US" sz="1100" b="1" dirty="0">
                <a:solidFill>
                  <a:schemeClr val="bg1"/>
                </a:solidFill>
              </a:rPr>
              <a:t>1890 Мэхэн</a:t>
            </a:r>
            <a:endParaRPr lang="en-US" sz="1100" dirty="0"/>
          </a:p>
          <a:p>
            <a:pPr algn="ctr" indent="0" marL="0">
              <a:buNone/>
            </a:pPr>
            <a:r>
              <a:rPr lang="en-US" sz="950" dirty="0">
                <a:solidFill>
                  <a:srgbClr val="C9C2EC"/>
                </a:solidFill>
              </a:rPr>
              <a:t>«Теңіз күші»</a:t>
            </a:r>
            <a:endParaRPr lang="en-US" sz="1100" dirty="0"/>
          </a:p>
        </p:txBody>
      </p:sp>
      <p:sp>
        <p:nvSpPr>
          <p:cNvPr id="35" name="Shape 32"/>
          <p:cNvSpPr/>
          <p:nvPr/>
        </p:nvSpPr>
        <p:spPr>
          <a:xfrm>
            <a:off x="1334384" y="3552810"/>
            <a:ext cx="171450" cy="171450"/>
          </a:xfrm>
          <a:prstGeom prst="ellipse">
            <a:avLst/>
          </a:prstGeom>
          <a:solidFill>
            <a:schemeClr val="accent1"/>
          </a:solidFill>
          <a:ln w="25400">
            <a:solidFill>
              <a:srgbClr val="FFFFFF"/>
            </a:solidFill>
            <a:prstDash val="solid"/>
          </a:ln>
        </p:spPr>
      </p:sp>
      <p:sp>
        <p:nvSpPr>
          <p:cNvPr id="36" name="1897 Ратцель"/>
          <p:cNvSpPr/>
          <p:nvPr/>
        </p:nvSpPr>
        <p:spPr>
          <a:xfrm>
            <a:off x="1361267" y="4524360"/>
            <a:ext cx="1266810" cy="419070"/>
          </a:xfrm>
          <a:prstGeom prst="roundRect">
            <a:avLst>
              <a:gd name="adj" fmla="val 17456"/>
            </a:avLst>
          </a:prstGeom>
          <a:solidFill>
            <a:srgbClr val="140C40"/>
          </a:solidFill>
          <a:ln w="15875">
            <a:solidFill>
              <a:schemeClr val="accent2"/>
            </a:solidFill>
          </a:ln>
        </p:spPr>
        <p:txBody>
          <a:bodyPr wrap="square" lIns="0" tIns="0" rIns="0" bIns="0" rtlCol="0" anchor="ctr"/>
          <a:lstStyle/>
          <a:p>
            <a:pPr algn="ctr" indent="0" marL="0">
              <a:buNone/>
            </a:pPr>
            <a:r>
              <a:rPr lang="en-US" sz="1100" b="1" dirty="0">
                <a:solidFill>
                  <a:schemeClr val="bg1"/>
                </a:solidFill>
              </a:rPr>
              <a:t>1897 Ратцель</a:t>
            </a:r>
            <a:endParaRPr lang="en-US" sz="1100" dirty="0"/>
          </a:p>
          <a:p>
            <a:pPr algn="ctr" indent="0" marL="0">
              <a:buNone/>
            </a:pPr>
            <a:r>
              <a:rPr lang="en-US" sz="950" dirty="0">
                <a:solidFill>
                  <a:srgbClr val="C9C2EC"/>
                </a:solidFill>
              </a:rPr>
              <a:t>«Саяси география»</a:t>
            </a:r>
            <a:endParaRPr lang="en-US" sz="1100" dirty="0"/>
          </a:p>
        </p:txBody>
      </p:sp>
      <p:sp>
        <p:nvSpPr>
          <p:cNvPr id="37" name="Shape 34"/>
          <p:cNvSpPr/>
          <p:nvPr/>
        </p:nvSpPr>
        <p:spPr>
          <a:xfrm>
            <a:off x="1908993" y="3552810"/>
            <a:ext cx="171450" cy="171450"/>
          </a:xfrm>
          <a:prstGeom prst="ellipse">
            <a:avLst/>
          </a:prstGeom>
          <a:solidFill>
            <a:schemeClr val="accent2"/>
          </a:solidFill>
          <a:ln w="25400">
            <a:solidFill>
              <a:srgbClr val="FFFFFF"/>
            </a:solidFill>
            <a:prstDash val="solid"/>
          </a:ln>
        </p:spPr>
      </p:sp>
      <p:sp>
        <p:nvSpPr>
          <p:cNvPr id="38" name="1899 Челлен"/>
          <p:cNvSpPr/>
          <p:nvPr/>
        </p:nvSpPr>
        <p:spPr>
          <a:xfrm>
            <a:off x="1501628" y="2333640"/>
            <a:ext cx="1390620" cy="419070"/>
          </a:xfrm>
          <a:prstGeom prst="roundRect">
            <a:avLst>
              <a:gd name="adj" fmla="val 17456"/>
            </a:avLst>
          </a:prstGeom>
          <a:solidFill>
            <a:srgbClr val="140C40"/>
          </a:solidFill>
          <a:ln w="15875">
            <a:solidFill>
              <a:schemeClr val="accent2"/>
            </a:solidFill>
          </a:ln>
        </p:spPr>
        <p:txBody>
          <a:bodyPr wrap="square" lIns="0" tIns="0" rIns="0" bIns="0" rtlCol="0" anchor="ctr"/>
          <a:lstStyle/>
          <a:p>
            <a:pPr algn="ctr" indent="0" marL="0">
              <a:buNone/>
            </a:pPr>
            <a:r>
              <a:rPr lang="en-US" sz="1100" b="1" dirty="0">
                <a:solidFill>
                  <a:schemeClr val="bg1"/>
                </a:solidFill>
              </a:rPr>
              <a:t>1899 Челлен</a:t>
            </a:r>
            <a:endParaRPr lang="en-US" sz="1100" dirty="0"/>
          </a:p>
          <a:p>
            <a:pPr algn="ctr" indent="0" marL="0">
              <a:buNone/>
            </a:pPr>
            <a:r>
              <a:rPr lang="en-US" sz="950" dirty="0">
                <a:solidFill>
                  <a:srgbClr val="C9C2EC"/>
                </a:solidFill>
              </a:rPr>
              <a:t>«геосаясат» термині</a:t>
            </a:r>
            <a:endParaRPr lang="en-US" sz="1100" dirty="0"/>
          </a:p>
        </p:txBody>
      </p:sp>
      <p:sp>
        <p:nvSpPr>
          <p:cNvPr id="39" name="Shape 36"/>
          <p:cNvSpPr/>
          <p:nvPr/>
        </p:nvSpPr>
        <p:spPr>
          <a:xfrm>
            <a:off x="2111258" y="3552810"/>
            <a:ext cx="171450" cy="171450"/>
          </a:xfrm>
          <a:prstGeom prst="ellipse">
            <a:avLst/>
          </a:prstGeom>
          <a:solidFill>
            <a:schemeClr val="accent2"/>
          </a:solidFill>
          <a:ln w="25400">
            <a:solidFill>
              <a:srgbClr val="FFFFFF"/>
            </a:solidFill>
            <a:prstDash val="solid"/>
          </a:ln>
        </p:spPr>
      </p:sp>
      <p:sp>
        <p:nvSpPr>
          <p:cNvPr id="40" name="1904 Маккиндер"/>
          <p:cNvSpPr/>
          <p:nvPr/>
        </p:nvSpPr>
        <p:spPr>
          <a:xfrm>
            <a:off x="1959651" y="5048220"/>
            <a:ext cx="1219170" cy="419070"/>
          </a:xfrm>
          <a:prstGeom prst="roundRect">
            <a:avLst>
              <a:gd name="adj" fmla="val 17456"/>
            </a:avLst>
          </a:prstGeom>
          <a:solidFill>
            <a:srgbClr val="140C40"/>
          </a:solidFill>
          <a:ln w="15875">
            <a:solidFill>
              <a:schemeClr val="accent1"/>
            </a:solidFill>
          </a:ln>
        </p:spPr>
        <p:txBody>
          <a:bodyPr wrap="square" lIns="0" tIns="0" rIns="0" bIns="0" rtlCol="0" anchor="ctr"/>
          <a:lstStyle/>
          <a:p>
            <a:pPr algn="ctr" indent="0" marL="0">
              <a:buNone/>
            </a:pPr>
            <a:r>
              <a:rPr lang="en-US" sz="1100" b="1" dirty="0">
                <a:solidFill>
                  <a:schemeClr val="bg1"/>
                </a:solidFill>
              </a:rPr>
              <a:t>1904 Маккиндер</a:t>
            </a:r>
            <a:endParaRPr lang="en-US" sz="1100" dirty="0"/>
          </a:p>
          <a:p>
            <a:pPr algn="ctr" indent="0" marL="0">
              <a:buNone/>
            </a:pPr>
            <a:r>
              <a:rPr lang="en-US" sz="950" dirty="0">
                <a:solidFill>
                  <a:srgbClr val="C9C2EC"/>
                </a:solidFill>
              </a:rPr>
              <a:t>Хартленд</a:t>
            </a:r>
            <a:endParaRPr lang="en-US" sz="1100" dirty="0"/>
          </a:p>
        </p:txBody>
      </p:sp>
      <p:sp>
        <p:nvSpPr>
          <p:cNvPr id="41" name="Shape 38"/>
          <p:cNvSpPr/>
          <p:nvPr/>
        </p:nvSpPr>
        <p:spPr>
          <a:xfrm>
            <a:off x="2483510" y="3552810"/>
            <a:ext cx="171450" cy="171450"/>
          </a:xfrm>
          <a:prstGeom prst="ellipse">
            <a:avLst/>
          </a:prstGeom>
          <a:solidFill>
            <a:schemeClr val="accent1"/>
          </a:solidFill>
          <a:ln w="25400">
            <a:solidFill>
              <a:srgbClr val="FFFFFF"/>
            </a:solidFill>
            <a:prstDash val="solid"/>
          </a:ln>
        </p:spPr>
      </p:sp>
      <p:sp>
        <p:nvSpPr>
          <p:cNvPr id="42" name="1922 Видаль де ла Блаш"/>
          <p:cNvSpPr/>
          <p:nvPr/>
        </p:nvSpPr>
        <p:spPr>
          <a:xfrm>
            <a:off x="3156234" y="1809780"/>
            <a:ext cx="1781160" cy="419070"/>
          </a:xfrm>
          <a:prstGeom prst="roundRect">
            <a:avLst>
              <a:gd name="adj" fmla="val 17456"/>
            </a:avLst>
          </a:prstGeom>
          <a:solidFill>
            <a:srgbClr val="140C40"/>
          </a:solidFill>
          <a:ln w="15875">
            <a:solidFill>
              <a:schemeClr val="accent3"/>
            </a:solidFill>
          </a:ln>
        </p:spPr>
        <p:txBody>
          <a:bodyPr wrap="square" lIns="0" tIns="0" rIns="0" bIns="0" rtlCol="0" anchor="ctr"/>
          <a:lstStyle/>
          <a:p>
            <a:pPr algn="ctr" indent="0" marL="0">
              <a:buNone/>
            </a:pPr>
            <a:r>
              <a:rPr lang="en-US" sz="1100" b="1" dirty="0">
                <a:solidFill>
                  <a:schemeClr val="bg1"/>
                </a:solidFill>
              </a:rPr>
              <a:t>1922 Видаль де ла Блаш</a:t>
            </a:r>
            <a:endParaRPr lang="en-US" sz="1100" dirty="0"/>
          </a:p>
          <a:p>
            <a:pPr algn="ctr" indent="0" marL="0">
              <a:buNone/>
            </a:pPr>
            <a:r>
              <a:rPr lang="en-US" sz="950" dirty="0">
                <a:solidFill>
                  <a:srgbClr val="C9C2EC"/>
                </a:solidFill>
              </a:rPr>
              <a:t>поссибилизм</a:t>
            </a:r>
            <a:endParaRPr lang="en-US" sz="1100" dirty="0"/>
          </a:p>
        </p:txBody>
      </p:sp>
      <p:sp>
        <p:nvSpPr>
          <p:cNvPr id="43" name="Shape 40"/>
          <p:cNvSpPr/>
          <p:nvPr/>
        </p:nvSpPr>
        <p:spPr>
          <a:xfrm>
            <a:off x="3961089" y="3552810"/>
            <a:ext cx="171450" cy="171450"/>
          </a:xfrm>
          <a:prstGeom prst="ellipse">
            <a:avLst/>
          </a:prstGeom>
          <a:solidFill>
            <a:schemeClr val="accent3"/>
          </a:solidFill>
          <a:ln w="25400">
            <a:solidFill>
              <a:srgbClr val="FFFFFF"/>
            </a:solidFill>
            <a:prstDash val="solid"/>
          </a:ln>
        </p:spPr>
      </p:sp>
      <p:sp>
        <p:nvSpPr>
          <p:cNvPr id="44" name="1924 Хаусхофер"/>
          <p:cNvSpPr/>
          <p:nvPr/>
        </p:nvSpPr>
        <p:spPr>
          <a:xfrm>
            <a:off x="3601364" y="4524360"/>
            <a:ext cx="1219170" cy="419070"/>
          </a:xfrm>
          <a:prstGeom prst="roundRect">
            <a:avLst>
              <a:gd name="adj" fmla="val 17456"/>
            </a:avLst>
          </a:prstGeom>
          <a:solidFill>
            <a:srgbClr val="140C40"/>
          </a:solidFill>
          <a:ln w="15875">
            <a:solidFill>
              <a:schemeClr val="accent2"/>
            </a:solidFill>
          </a:ln>
        </p:spPr>
        <p:txBody>
          <a:bodyPr wrap="square" lIns="0" tIns="0" rIns="0" bIns="0" rtlCol="0" anchor="ctr"/>
          <a:lstStyle/>
          <a:p>
            <a:pPr algn="ctr" indent="0" marL="0">
              <a:buNone/>
            </a:pPr>
            <a:r>
              <a:rPr lang="en-US" sz="1100" b="1" dirty="0">
                <a:solidFill>
                  <a:schemeClr val="bg1"/>
                </a:solidFill>
              </a:rPr>
              <a:t>1924 Хаусхофер</a:t>
            </a:r>
            <a:endParaRPr lang="en-US" sz="1100" dirty="0"/>
          </a:p>
          <a:p>
            <a:pPr algn="ctr" indent="0" marL="0">
              <a:buNone/>
            </a:pPr>
            <a:r>
              <a:rPr lang="en-US" sz="950" dirty="0">
                <a:solidFill>
                  <a:srgbClr val="C9C2EC"/>
                </a:solidFill>
              </a:rPr>
              <a:t>пан-аймақтар</a:t>
            </a:r>
            <a:endParaRPr lang="en-US" sz="1100" dirty="0"/>
          </a:p>
        </p:txBody>
      </p:sp>
      <p:sp>
        <p:nvSpPr>
          <p:cNvPr id="45" name="Shape 42"/>
          <p:cNvSpPr/>
          <p:nvPr/>
        </p:nvSpPr>
        <p:spPr>
          <a:xfrm>
            <a:off x="4125224" y="3552810"/>
            <a:ext cx="171450" cy="171450"/>
          </a:xfrm>
          <a:prstGeom prst="ellipse">
            <a:avLst/>
          </a:prstGeom>
          <a:solidFill>
            <a:schemeClr val="accent2"/>
          </a:solidFill>
          <a:ln w="25400">
            <a:solidFill>
              <a:srgbClr val="FFFFFF"/>
            </a:solidFill>
            <a:prstDash val="solid"/>
          </a:ln>
        </p:spPr>
      </p:sp>
      <p:sp>
        <p:nvSpPr>
          <p:cNvPr id="46" name="1925 Савицкий"/>
          <p:cNvSpPr/>
          <p:nvPr/>
        </p:nvSpPr>
        <p:spPr>
          <a:xfrm>
            <a:off x="3778758" y="2333640"/>
            <a:ext cx="1143000" cy="419070"/>
          </a:xfrm>
          <a:prstGeom prst="roundRect">
            <a:avLst>
              <a:gd name="adj" fmla="val 17456"/>
            </a:avLst>
          </a:prstGeom>
          <a:solidFill>
            <a:srgbClr val="140C40"/>
          </a:solidFill>
          <a:ln w="15875">
            <a:solidFill>
              <a:schemeClr val="accent4"/>
            </a:solidFill>
          </a:ln>
        </p:spPr>
        <p:txBody>
          <a:bodyPr wrap="square" lIns="0" tIns="0" rIns="0" bIns="0" rtlCol="0" anchor="ctr"/>
          <a:lstStyle/>
          <a:p>
            <a:pPr algn="ctr" indent="0" marL="0">
              <a:buNone/>
            </a:pPr>
            <a:r>
              <a:rPr lang="en-US" sz="1100" b="1" dirty="0">
                <a:solidFill>
                  <a:schemeClr val="bg1"/>
                </a:solidFill>
              </a:rPr>
              <a:t>1925 Савицкий</a:t>
            </a:r>
            <a:endParaRPr lang="en-US" sz="1100" dirty="0"/>
          </a:p>
          <a:p>
            <a:pPr algn="ctr" indent="0" marL="0">
              <a:buNone/>
            </a:pPr>
            <a:r>
              <a:rPr lang="en-US" sz="950" dirty="0">
                <a:solidFill>
                  <a:srgbClr val="C9C2EC"/>
                </a:solidFill>
              </a:rPr>
              <a:t>еуразияшылдық</a:t>
            </a:r>
            <a:endParaRPr lang="en-US" sz="1100" dirty="0"/>
          </a:p>
        </p:txBody>
      </p:sp>
      <p:sp>
        <p:nvSpPr>
          <p:cNvPr id="47" name="Shape 44"/>
          <p:cNvSpPr/>
          <p:nvPr/>
        </p:nvSpPr>
        <p:spPr>
          <a:xfrm>
            <a:off x="4264487" y="3552810"/>
            <a:ext cx="171450" cy="171450"/>
          </a:xfrm>
          <a:prstGeom prst="ellipse">
            <a:avLst/>
          </a:prstGeom>
          <a:solidFill>
            <a:schemeClr val="accent4"/>
          </a:solidFill>
          <a:ln w="25400">
            <a:solidFill>
              <a:srgbClr val="FFFFFF"/>
            </a:solidFill>
            <a:prstDash val="solid"/>
          </a:ln>
        </p:spPr>
      </p:sp>
      <p:sp>
        <p:nvSpPr>
          <p:cNvPr id="48" name="1944 Спайкмен"/>
          <p:cNvSpPr/>
          <p:nvPr/>
        </p:nvSpPr>
        <p:spPr>
          <a:xfrm>
            <a:off x="5281209" y="5048220"/>
            <a:ext cx="1143000" cy="419070"/>
          </a:xfrm>
          <a:prstGeom prst="roundRect">
            <a:avLst>
              <a:gd name="adj" fmla="val 17456"/>
            </a:avLst>
          </a:prstGeom>
          <a:solidFill>
            <a:srgbClr val="140C40"/>
          </a:solidFill>
          <a:ln w="15875">
            <a:solidFill>
              <a:schemeClr val="accent1"/>
            </a:solidFill>
          </a:ln>
        </p:spPr>
        <p:txBody>
          <a:bodyPr wrap="square" lIns="0" tIns="0" rIns="0" bIns="0" rtlCol="0" anchor="ctr"/>
          <a:lstStyle/>
          <a:p>
            <a:pPr algn="ctr" indent="0" marL="0">
              <a:buNone/>
            </a:pPr>
            <a:r>
              <a:rPr lang="en-US" sz="1100" b="1" dirty="0">
                <a:solidFill>
                  <a:schemeClr val="bg1"/>
                </a:solidFill>
              </a:rPr>
              <a:t>1944 Спайкмен</a:t>
            </a:r>
            <a:endParaRPr lang="en-US" sz="1100" dirty="0"/>
          </a:p>
          <a:p>
            <a:pPr algn="ctr" indent="0" marL="0">
              <a:buNone/>
            </a:pPr>
            <a:r>
              <a:rPr lang="en-US" sz="950" dirty="0">
                <a:solidFill>
                  <a:srgbClr val="C9C2EC"/>
                </a:solidFill>
              </a:rPr>
              <a:t>Римленд</a:t>
            </a:r>
            <a:endParaRPr lang="en-US" sz="1100" dirty="0"/>
          </a:p>
        </p:txBody>
      </p:sp>
      <p:sp>
        <p:nvSpPr>
          <p:cNvPr id="49" name="Shape 46"/>
          <p:cNvSpPr/>
          <p:nvPr/>
        </p:nvSpPr>
        <p:spPr>
          <a:xfrm>
            <a:off x="5766938" y="3552810"/>
            <a:ext cx="171450" cy="171450"/>
          </a:xfrm>
          <a:prstGeom prst="ellipse">
            <a:avLst/>
          </a:prstGeom>
          <a:solidFill>
            <a:schemeClr val="accent1"/>
          </a:solidFill>
          <a:ln w="25400">
            <a:solidFill>
              <a:srgbClr val="FFFFFF"/>
            </a:solidFill>
            <a:prstDash val="solid"/>
          </a:ln>
        </p:spPr>
      </p:sp>
      <p:sp>
        <p:nvSpPr>
          <p:cNvPr id="50" name="1976 Лакост"/>
          <p:cNvSpPr/>
          <p:nvPr/>
        </p:nvSpPr>
        <p:spPr>
          <a:xfrm>
            <a:off x="7979329" y="1809780"/>
            <a:ext cx="1000171" cy="419070"/>
          </a:xfrm>
          <a:prstGeom prst="roundRect">
            <a:avLst>
              <a:gd name="adj" fmla="val 17456"/>
            </a:avLst>
          </a:prstGeom>
          <a:solidFill>
            <a:srgbClr val="140C40"/>
          </a:solidFill>
          <a:ln w="15875">
            <a:solidFill>
              <a:schemeClr val="accent3"/>
            </a:solidFill>
          </a:ln>
        </p:spPr>
        <p:txBody>
          <a:bodyPr wrap="square" lIns="0" tIns="0" rIns="0" bIns="0" rtlCol="0" anchor="ctr"/>
          <a:lstStyle/>
          <a:p>
            <a:pPr algn="ctr" indent="0" marL="0">
              <a:buNone/>
            </a:pPr>
            <a:r>
              <a:rPr lang="en-US" sz="1100" b="1" dirty="0">
                <a:solidFill>
                  <a:schemeClr val="bg1"/>
                </a:solidFill>
              </a:rPr>
              <a:t>1976 Лакост</a:t>
            </a:r>
            <a:endParaRPr lang="en-US" sz="1100" dirty="0"/>
          </a:p>
          <a:p>
            <a:pPr algn="ctr" indent="0" marL="0">
              <a:buNone/>
            </a:pPr>
            <a:r>
              <a:rPr lang="en-US" sz="950" dirty="0">
                <a:solidFill>
                  <a:srgbClr val="C9C2EC"/>
                </a:solidFill>
              </a:rPr>
              <a:t>«Hérodote»</a:t>
            </a:r>
            <a:endParaRPr lang="en-US" sz="1100" dirty="0"/>
          </a:p>
        </p:txBody>
      </p:sp>
      <p:sp>
        <p:nvSpPr>
          <p:cNvPr id="51" name="Shape 48"/>
          <p:cNvSpPr/>
          <p:nvPr/>
        </p:nvSpPr>
        <p:spPr>
          <a:xfrm>
            <a:off x="8393735" y="3552810"/>
            <a:ext cx="171450" cy="171450"/>
          </a:xfrm>
          <a:prstGeom prst="ellipse">
            <a:avLst/>
          </a:prstGeom>
          <a:solidFill>
            <a:schemeClr val="accent3"/>
          </a:solidFill>
          <a:ln w="25400">
            <a:solidFill>
              <a:srgbClr val="FFFFFF"/>
            </a:solidFill>
            <a:prstDash val="solid"/>
          </a:ln>
        </p:spPr>
      </p:sp>
      <p:sp>
        <p:nvSpPr>
          <p:cNvPr id="52" name="1989 Гумилёв"/>
          <p:cNvSpPr/>
          <p:nvPr/>
        </p:nvSpPr>
        <p:spPr>
          <a:xfrm>
            <a:off x="9008394" y="4524360"/>
            <a:ext cx="1076340" cy="419070"/>
          </a:xfrm>
          <a:prstGeom prst="roundRect">
            <a:avLst>
              <a:gd name="adj" fmla="val 17456"/>
            </a:avLst>
          </a:prstGeom>
          <a:solidFill>
            <a:srgbClr val="140C40"/>
          </a:solidFill>
          <a:ln w="15875">
            <a:solidFill>
              <a:schemeClr val="accent4"/>
            </a:solidFill>
          </a:ln>
        </p:spPr>
        <p:txBody>
          <a:bodyPr wrap="square" lIns="0" tIns="0" rIns="0" bIns="0" rtlCol="0" anchor="ctr"/>
          <a:lstStyle/>
          <a:p>
            <a:pPr algn="ctr" indent="0" marL="0">
              <a:buNone/>
            </a:pPr>
            <a:r>
              <a:rPr lang="en-US" sz="1100" b="1" dirty="0">
                <a:solidFill>
                  <a:schemeClr val="bg1"/>
                </a:solidFill>
              </a:rPr>
              <a:t>1989 Гумилёв</a:t>
            </a:r>
            <a:endParaRPr lang="en-US" sz="1100" dirty="0"/>
          </a:p>
          <a:p>
            <a:pPr algn="ctr" indent="0" marL="0">
              <a:buNone/>
            </a:pPr>
            <a:r>
              <a:rPr lang="en-US" sz="950" dirty="0">
                <a:solidFill>
                  <a:srgbClr val="C9C2EC"/>
                </a:solidFill>
              </a:rPr>
              <a:t>пассионарлық</a:t>
            </a:r>
            <a:endParaRPr lang="en-US" sz="1100" dirty="0"/>
          </a:p>
        </p:txBody>
      </p:sp>
      <p:sp>
        <p:nvSpPr>
          <p:cNvPr id="53" name="Shape 50"/>
          <p:cNvSpPr/>
          <p:nvPr/>
        </p:nvSpPr>
        <p:spPr>
          <a:xfrm>
            <a:off x="9460840" y="3552810"/>
            <a:ext cx="171450" cy="171450"/>
          </a:xfrm>
          <a:prstGeom prst="ellipse">
            <a:avLst/>
          </a:prstGeom>
          <a:solidFill>
            <a:schemeClr val="accent4"/>
          </a:solidFill>
          <a:ln w="25400">
            <a:solidFill>
              <a:srgbClr val="FFFFFF"/>
            </a:solidFill>
            <a:prstDash val="solid"/>
          </a:ln>
        </p:spPr>
      </p:sp>
      <p:sp>
        <p:nvSpPr>
          <p:cNvPr id="54" name="1993 Хантингтон"/>
          <p:cNvSpPr/>
          <p:nvPr/>
        </p:nvSpPr>
        <p:spPr>
          <a:xfrm>
            <a:off x="9231965" y="2333640"/>
            <a:ext cx="1285921" cy="419070"/>
          </a:xfrm>
          <a:prstGeom prst="roundRect">
            <a:avLst>
              <a:gd name="adj" fmla="val 17456"/>
            </a:avLst>
          </a:prstGeom>
          <a:solidFill>
            <a:srgbClr val="140C40"/>
          </a:solidFill>
          <a:ln w="15875">
            <a:solidFill>
              <a:schemeClr val="accent5"/>
            </a:solidFill>
          </a:ln>
        </p:spPr>
        <p:txBody>
          <a:bodyPr wrap="square" lIns="0" tIns="0" rIns="0" bIns="0" rtlCol="0" anchor="ctr"/>
          <a:lstStyle/>
          <a:p>
            <a:pPr algn="ctr" indent="0" marL="0">
              <a:buNone/>
            </a:pPr>
            <a:r>
              <a:rPr lang="en-US" sz="1100" b="1" dirty="0">
                <a:solidFill>
                  <a:schemeClr val="bg1"/>
                </a:solidFill>
              </a:rPr>
              <a:t>1993 Хантингтон</a:t>
            </a:r>
            <a:endParaRPr lang="en-US" sz="1100" dirty="0"/>
          </a:p>
          <a:p>
            <a:pPr algn="ctr" indent="0" marL="0">
              <a:buNone/>
            </a:pPr>
            <a:r>
              <a:rPr lang="en-US" sz="950" dirty="0">
                <a:solidFill>
                  <a:srgbClr val="C9C2EC"/>
                </a:solidFill>
              </a:rPr>
              <a:t>өркениеттер</a:t>
            </a:r>
            <a:endParaRPr lang="en-US" sz="1100" dirty="0"/>
          </a:p>
        </p:txBody>
      </p:sp>
      <p:sp>
        <p:nvSpPr>
          <p:cNvPr id="55" name="Shape 52"/>
          <p:cNvSpPr/>
          <p:nvPr/>
        </p:nvSpPr>
        <p:spPr>
          <a:xfrm>
            <a:off x="9789109" y="3552810"/>
            <a:ext cx="171450" cy="171450"/>
          </a:xfrm>
          <a:prstGeom prst="ellipse">
            <a:avLst/>
          </a:prstGeom>
          <a:solidFill>
            <a:schemeClr val="accent5"/>
          </a:solidFill>
          <a:ln w="25400">
            <a:solidFill>
              <a:srgbClr val="FFFFFF"/>
            </a:solidFill>
            <a:prstDash val="solid"/>
          </a:ln>
        </p:spPr>
      </p:sp>
      <p:sp>
        <p:nvSpPr>
          <p:cNvPr id="56" name="1996 Ó Тоал"/>
          <p:cNvSpPr/>
          <p:nvPr/>
        </p:nvSpPr>
        <p:spPr>
          <a:xfrm>
            <a:off x="9578157" y="5048220"/>
            <a:ext cx="1085850" cy="419070"/>
          </a:xfrm>
          <a:prstGeom prst="roundRect">
            <a:avLst>
              <a:gd name="adj" fmla="val 17456"/>
            </a:avLst>
          </a:prstGeom>
          <a:solidFill>
            <a:srgbClr val="140C40"/>
          </a:solidFill>
          <a:ln w="15875">
            <a:solidFill>
              <a:schemeClr val="accent6"/>
            </a:solidFill>
          </a:ln>
        </p:spPr>
        <p:txBody>
          <a:bodyPr wrap="square" lIns="0" tIns="0" rIns="0" bIns="0" rtlCol="0" anchor="ctr"/>
          <a:lstStyle/>
          <a:p>
            <a:pPr algn="ctr" indent="0" marL="0">
              <a:buNone/>
            </a:pPr>
            <a:r>
              <a:rPr lang="en-US" sz="1100" b="1" dirty="0">
                <a:solidFill>
                  <a:schemeClr val="bg1"/>
                </a:solidFill>
              </a:rPr>
              <a:t>1996 Ó Тоал</a:t>
            </a:r>
            <a:endParaRPr lang="en-US" sz="1100" dirty="0"/>
          </a:p>
          <a:p>
            <a:pPr algn="ctr" indent="0" marL="0">
              <a:buNone/>
            </a:pPr>
            <a:r>
              <a:rPr lang="en-US" sz="950" dirty="0">
                <a:solidFill>
                  <a:srgbClr val="C9C2EC"/>
                </a:solidFill>
              </a:rPr>
              <a:t>сыни геосаясат</a:t>
            </a:r>
            <a:endParaRPr lang="en-US" sz="1100" dirty="0"/>
          </a:p>
        </p:txBody>
      </p:sp>
      <p:sp>
        <p:nvSpPr>
          <p:cNvPr id="57" name="Shape 54"/>
          <p:cNvSpPr/>
          <p:nvPr/>
        </p:nvSpPr>
        <p:spPr>
          <a:xfrm>
            <a:off x="10035357" y="3552810"/>
            <a:ext cx="171450" cy="171450"/>
          </a:xfrm>
          <a:prstGeom prst="ellipse">
            <a:avLst/>
          </a:prstGeom>
          <a:solidFill>
            <a:schemeClr val="accent6"/>
          </a:solidFill>
          <a:ln w="25400">
            <a:solidFill>
              <a:srgbClr val="FFFFFF"/>
            </a:solidFill>
            <a:prstDash val="solid"/>
          </a:ln>
        </p:spPr>
      </p:sp>
      <p:sp>
        <p:nvSpPr>
          <p:cNvPr id="58" name="1997 Бжезинский"/>
          <p:cNvSpPr/>
          <p:nvPr/>
        </p:nvSpPr>
        <p:spPr>
          <a:xfrm>
            <a:off x="9405976" y="1809780"/>
            <a:ext cx="1285921" cy="419070"/>
          </a:xfrm>
          <a:prstGeom prst="roundRect">
            <a:avLst>
              <a:gd name="adj" fmla="val 17456"/>
            </a:avLst>
          </a:prstGeom>
          <a:solidFill>
            <a:srgbClr val="140C40"/>
          </a:solidFill>
          <a:ln w="15875">
            <a:solidFill>
              <a:schemeClr val="accent5"/>
            </a:solidFill>
          </a:ln>
        </p:spPr>
        <p:txBody>
          <a:bodyPr wrap="square" lIns="0" tIns="0" rIns="0" bIns="0" rtlCol="0" anchor="ctr"/>
          <a:lstStyle/>
          <a:p>
            <a:pPr algn="ctr" indent="0" marL="0">
              <a:buNone/>
            </a:pPr>
            <a:r>
              <a:rPr lang="en-US" sz="1100" b="1" dirty="0">
                <a:solidFill>
                  <a:schemeClr val="bg1"/>
                </a:solidFill>
              </a:rPr>
              <a:t>1997 Бжезинский</a:t>
            </a:r>
            <a:endParaRPr lang="en-US" sz="1100" dirty="0"/>
          </a:p>
          <a:p>
            <a:pPr algn="ctr" indent="0" marL="0">
              <a:buNone/>
            </a:pPr>
            <a:r>
              <a:rPr lang="en-US" sz="950" dirty="0">
                <a:solidFill>
                  <a:srgbClr val="C9C2EC"/>
                </a:solidFill>
              </a:rPr>
              <a:t>«шахмат тақтасы»</a:t>
            </a:r>
            <a:endParaRPr lang="en-US" sz="1100" dirty="0"/>
          </a:p>
        </p:txBody>
      </p:sp>
      <p:sp>
        <p:nvSpPr>
          <p:cNvPr id="59" name="Shape 56"/>
          <p:cNvSpPr/>
          <p:nvPr/>
        </p:nvSpPr>
        <p:spPr>
          <a:xfrm>
            <a:off x="10117470" y="3552810"/>
            <a:ext cx="171450" cy="171450"/>
          </a:xfrm>
          <a:prstGeom prst="ellipse">
            <a:avLst/>
          </a:prstGeom>
          <a:solidFill>
            <a:schemeClr val="accent5"/>
          </a:solidFill>
          <a:ln w="25400">
            <a:solidFill>
              <a:srgbClr val="FFFFFF"/>
            </a:solidFill>
            <a:prstDash val="solid"/>
          </a:ln>
        </p:spPr>
      </p:sp>
      <p:sp>
        <p:nvSpPr>
          <p:cNvPr id="60" name="1997 Дугин"/>
          <p:cNvSpPr/>
          <p:nvPr/>
        </p:nvSpPr>
        <p:spPr>
          <a:xfrm>
            <a:off x="9554383" y="5572171"/>
            <a:ext cx="1200150" cy="419070"/>
          </a:xfrm>
          <a:prstGeom prst="roundRect">
            <a:avLst>
              <a:gd name="adj" fmla="val 17456"/>
            </a:avLst>
          </a:prstGeom>
          <a:solidFill>
            <a:srgbClr val="140C40"/>
          </a:solidFill>
          <a:ln w="15875">
            <a:solidFill>
              <a:schemeClr val="accent4"/>
            </a:solidFill>
          </a:ln>
        </p:spPr>
        <p:txBody>
          <a:bodyPr wrap="square" lIns="0" tIns="0" rIns="0" bIns="0" rtlCol="0" anchor="ctr"/>
          <a:lstStyle/>
          <a:p>
            <a:pPr algn="ctr" indent="0" marL="0">
              <a:buNone/>
            </a:pPr>
            <a:r>
              <a:rPr lang="en-US" sz="1100" b="1" dirty="0">
                <a:solidFill>
                  <a:schemeClr val="bg1"/>
                </a:solidFill>
              </a:rPr>
              <a:t>1997 Дугин</a:t>
            </a:r>
            <a:endParaRPr lang="en-US" sz="1100" dirty="0"/>
          </a:p>
          <a:p>
            <a:pPr algn="ctr" indent="0" marL="0">
              <a:buNone/>
            </a:pPr>
            <a:r>
              <a:rPr lang="en-US" sz="950" dirty="0">
                <a:solidFill>
                  <a:srgbClr val="C9C2EC"/>
                </a:solidFill>
              </a:rPr>
              <a:t>неоеуразияшылдық</a:t>
            </a:r>
            <a:endParaRPr lang="en-US" sz="1100" dirty="0"/>
          </a:p>
        </p:txBody>
      </p:sp>
      <p:sp>
        <p:nvSpPr>
          <p:cNvPr id="61" name="Shape 58"/>
          <p:cNvSpPr/>
          <p:nvPr/>
        </p:nvSpPr>
        <p:spPr>
          <a:xfrm>
            <a:off x="10212751" y="3552810"/>
            <a:ext cx="171450" cy="171450"/>
          </a:xfrm>
          <a:prstGeom prst="ellipse">
            <a:avLst/>
          </a:prstGeom>
          <a:solidFill>
            <a:schemeClr val="accent4"/>
          </a:solidFill>
          <a:ln w="25400">
            <a:solidFill>
              <a:srgbClr val="FFFFFF"/>
            </a:solidFill>
            <a:prstDash val="solid"/>
          </a:ln>
        </p:spPr>
      </p:sp>
      <p:sp>
        <p:nvSpPr>
          <p:cNvPr id="62" name="Shape 59"/>
          <p:cNvSpPr/>
          <p:nvPr/>
        </p:nvSpPr>
        <p:spPr>
          <a:xfrm>
            <a:off x="3028950" y="6248370"/>
            <a:ext cx="133320" cy="133320"/>
          </a:xfrm>
          <a:prstGeom prst="roundRect">
            <a:avLst>
              <a:gd name="adj" fmla="val 20576"/>
            </a:avLst>
          </a:prstGeom>
          <a:solidFill>
            <a:schemeClr val="accent1"/>
          </a:solidFill>
          <a:ln/>
        </p:spPr>
      </p:sp>
      <p:sp>
        <p:nvSpPr>
          <p:cNvPr id="63" name="Text 60"/>
          <p:cNvSpPr txBox="1"/>
          <p:nvPr/>
        </p:nvSpPr>
        <p:spPr>
          <a:xfrm>
            <a:off x="3238530" y="6219840"/>
            <a:ext cx="138111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Англо-американ</a:t>
            </a:r>
            <a:endParaRPr lang="en-US" sz="1100" dirty="0"/>
          </a:p>
        </p:txBody>
      </p:sp>
      <p:sp>
        <p:nvSpPr>
          <p:cNvPr id="64" name="Shape 61"/>
          <p:cNvSpPr/>
          <p:nvPr/>
        </p:nvSpPr>
        <p:spPr>
          <a:xfrm>
            <a:off x="4410060" y="6248370"/>
            <a:ext cx="133320" cy="133320"/>
          </a:xfrm>
          <a:prstGeom prst="roundRect">
            <a:avLst>
              <a:gd name="adj" fmla="val 20576"/>
            </a:avLst>
          </a:prstGeom>
          <a:solidFill>
            <a:schemeClr val="accent2"/>
          </a:solidFill>
          <a:ln/>
        </p:spPr>
      </p:sp>
      <p:sp>
        <p:nvSpPr>
          <p:cNvPr id="65" name="Text 62"/>
          <p:cNvSpPr txBox="1"/>
          <p:nvPr/>
        </p:nvSpPr>
        <p:spPr>
          <a:xfrm>
            <a:off x="4619640" y="6219840"/>
            <a:ext cx="73344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Неміс</a:t>
            </a:r>
            <a:endParaRPr lang="en-US" sz="1100" dirty="0"/>
          </a:p>
        </p:txBody>
      </p:sp>
      <p:sp>
        <p:nvSpPr>
          <p:cNvPr id="66" name="Shape 63"/>
          <p:cNvSpPr/>
          <p:nvPr/>
        </p:nvSpPr>
        <p:spPr>
          <a:xfrm>
            <a:off x="5143500" y="6248370"/>
            <a:ext cx="133320" cy="133320"/>
          </a:xfrm>
          <a:prstGeom prst="roundRect">
            <a:avLst>
              <a:gd name="adj" fmla="val 20576"/>
            </a:avLst>
          </a:prstGeom>
          <a:solidFill>
            <a:schemeClr val="accent3"/>
          </a:solidFill>
          <a:ln/>
        </p:spPr>
      </p:sp>
      <p:sp>
        <p:nvSpPr>
          <p:cNvPr id="67" name="Text 64"/>
          <p:cNvSpPr txBox="1"/>
          <p:nvPr/>
        </p:nvSpPr>
        <p:spPr>
          <a:xfrm>
            <a:off x="5353080" y="6219840"/>
            <a:ext cx="87627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Француз</a:t>
            </a:r>
            <a:endParaRPr lang="en-US" sz="1100" dirty="0"/>
          </a:p>
        </p:txBody>
      </p:sp>
      <p:sp>
        <p:nvSpPr>
          <p:cNvPr id="68" name="Shape 65"/>
          <p:cNvSpPr/>
          <p:nvPr/>
        </p:nvSpPr>
        <p:spPr>
          <a:xfrm>
            <a:off x="6019770" y="6248370"/>
            <a:ext cx="133320" cy="133320"/>
          </a:xfrm>
          <a:prstGeom prst="roundRect">
            <a:avLst>
              <a:gd name="adj" fmla="val 20576"/>
            </a:avLst>
          </a:prstGeom>
          <a:solidFill>
            <a:schemeClr val="accent4"/>
          </a:solidFill>
          <a:ln/>
        </p:spPr>
      </p:sp>
      <p:sp>
        <p:nvSpPr>
          <p:cNvPr id="69" name="Text 66"/>
          <p:cNvSpPr txBox="1"/>
          <p:nvPr/>
        </p:nvSpPr>
        <p:spPr>
          <a:xfrm>
            <a:off x="6229350" y="6219840"/>
            <a:ext cx="109536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Еуразиялық</a:t>
            </a:r>
            <a:endParaRPr lang="en-US" sz="1100" dirty="0"/>
          </a:p>
        </p:txBody>
      </p:sp>
      <p:sp>
        <p:nvSpPr>
          <p:cNvPr id="70" name="Shape 67"/>
          <p:cNvSpPr/>
          <p:nvPr/>
        </p:nvSpPr>
        <p:spPr>
          <a:xfrm>
            <a:off x="7115221" y="6248370"/>
            <a:ext cx="133320" cy="133320"/>
          </a:xfrm>
          <a:prstGeom prst="roundRect">
            <a:avLst>
              <a:gd name="adj" fmla="val 20576"/>
            </a:avLst>
          </a:prstGeom>
          <a:solidFill>
            <a:schemeClr val="accent5"/>
          </a:solidFill>
          <a:ln/>
        </p:spPr>
      </p:sp>
      <p:sp>
        <p:nvSpPr>
          <p:cNvPr id="71" name="Text 68"/>
          <p:cNvSpPr txBox="1"/>
          <p:nvPr/>
        </p:nvSpPr>
        <p:spPr>
          <a:xfrm>
            <a:off x="7324710" y="6219840"/>
            <a:ext cx="138111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Постбиполярлық</a:t>
            </a:r>
            <a:endParaRPr lang="en-US" sz="1100" dirty="0"/>
          </a:p>
        </p:txBody>
      </p:sp>
      <p:sp>
        <p:nvSpPr>
          <p:cNvPr id="72" name="Shape 69"/>
          <p:cNvSpPr/>
          <p:nvPr/>
        </p:nvSpPr>
        <p:spPr>
          <a:xfrm>
            <a:off x="8496330" y="6248370"/>
            <a:ext cx="133320" cy="133320"/>
          </a:xfrm>
          <a:prstGeom prst="roundRect">
            <a:avLst>
              <a:gd name="adj" fmla="val 20576"/>
            </a:avLst>
          </a:prstGeom>
          <a:solidFill>
            <a:schemeClr val="accent6"/>
          </a:solidFill>
          <a:ln/>
        </p:spPr>
      </p:sp>
      <p:sp>
        <p:nvSpPr>
          <p:cNvPr id="73" name="Text 70"/>
          <p:cNvSpPr txBox="1"/>
          <p:nvPr/>
        </p:nvSpPr>
        <p:spPr>
          <a:xfrm>
            <a:off x="8705820" y="6219840"/>
            <a:ext cx="66678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Сыни</a:t>
            </a:r>
            <a:endParaRPr lang="en-US" sz="1100" dirty="0"/>
          </a:p>
        </p:txBody>
      </p:sp>
      <p:sp>
        <p:nvSpPr>
          <p:cNvPr id="25" name="Slide Number Placeholder 0"/>
          <p:cNvSpPr>
            <a:spLocks noGrp="1"/>
          </p:cNvSpPr>
          <p:nvPr>
            <p:ph type="sldNum" sz="quarter" idx="4294967295"/>
          </p:nvPr>
        </p:nvSpPr>
        <p:spPr>
          <a:xfrm>
            <a:off x="10953780" y="6515100"/>
            <a:ext cx="7619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C9C2E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33370" y="800100"/>
            <a:ext cx="11125230" cy="533370"/>
          </a:xfrm>
          <a:prstGeom prst="rect">
            <a:avLst/>
          </a:prstGeom>
          <a:noFill/>
          <a:ln/>
        </p:spPr>
        <p:txBody>
          <a:bodyPr wrap="square" lIns="0" tIns="0" rIns="0" bIns="0" rtlCol="0" anchor="t"/>
          <a:lstStyle/>
          <a:p>
            <a:pPr algn="l" indent="0" marL="0">
              <a:buNone/>
            </a:pPr>
            <a:r>
              <a:rPr lang="en-US" sz="3200" b="1" dirty="0">
                <a:solidFill>
                  <a:schemeClr val="bg1"/>
                </a:solidFill>
              </a:rPr>
              <a:t>Салыстырмалы кесте</a:t>
            </a:r>
            <a:endParaRPr lang="en-US" sz="3200" dirty="0"/>
          </a:p>
        </p:txBody>
      </p:sp>
      <p:sp>
        <p:nvSpPr>
          <p:cNvPr id="4" name="Tag"/>
          <p:cNvSpPr/>
          <p:nvPr/>
        </p:nvSpPr>
        <p:spPr>
          <a:xfrm>
            <a:off x="533370" y="419070"/>
            <a:ext cx="1457371" cy="285750"/>
          </a:xfrm>
          <a:prstGeom prst="roundRect">
            <a:avLst>
              <a:gd name="adj" fmla="val 50000"/>
            </a:avLst>
          </a:prstGeom>
          <a:solidFill>
            <a:schemeClr val="accent3"/>
          </a:solidFill>
          <a:ln/>
        </p:spPr>
        <p:txBody>
          <a:bodyPr wrap="square" lIns="0" tIns="0" rIns="0" bIns="0" rtlCol="0" anchor="ctr"/>
          <a:lstStyle/>
          <a:p>
            <a:pPr algn="ctr" indent="0" marL="0">
              <a:lnSpc>
                <a:spcPct val="100000"/>
              </a:lnSpc>
              <a:buNone/>
            </a:pPr>
            <a:r>
              <a:rPr lang="en-US" sz="1100" b="1" spc="150" kern="0" dirty="0">
                <a:solidFill>
                  <a:schemeClr val="bg1"/>
                </a:solidFill>
              </a:rPr>
              <a:t>САЛЫСТЫРУ · 2</a:t>
            </a:r>
            <a:endParaRPr lang="en-US" sz="1100" dirty="0"/>
          </a:p>
        </p:txBody>
      </p:sp>
      <p:graphicFrame>
        <p:nvGraphicFramePr>
          <p:cNvPr id="11" name="Салыстырмалы кесте"/>
          <p:cNvGraphicFramePr>
            <a:graphicFrameLocks noGrp="1"/>
          </p:cNvGraphicFramePr>
          <p:nvPr>
            <p:extLst>
              <p:ext uri="{D42A27DB-BD31-4B8C-83A1-F6EECF244321}">
                <p14:modId xmlns:p14="http://schemas.microsoft.com/office/powerpoint/2010/main" val="1579011935"/>
              </p:ext>
            </p:extLst>
          </p:nvPr>
        </p:nvGraphicFramePr>
        <p:xfrm>
          <a:off x="533370" y="1447770"/>
          <a:ext cx="11125230" cy="914400"/>
        </p:xfrm>
        <a:graphic>
          <a:graphicData uri="http://schemas.openxmlformats.org/drawingml/2006/table">
            <a:tbl>
              <a:tblPr/>
              <a:tblGrid>
                <a:gridCol w="1619220"/>
                <a:gridCol w="1901220"/>
                <a:gridCol w="1901220"/>
                <a:gridCol w="1901220"/>
                <a:gridCol w="1901220"/>
                <a:gridCol w="1901220"/>
              </a:tblGrid>
              <a:tr h="381030">
                <a:tc>
                  <a:txBody>
                    <a:bodyPr/>
                    <a:lstStyle/>
                    <a:p>
                      <a:pPr indent="0" marL="0">
                        <a:buNone/>
                      </a:pP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3A2F7A"/>
                    </a:solidFill>
                  </a:tcPr>
                </a:tc>
                <a:tc>
                  <a:txBody>
                    <a:bodyPr/>
                    <a:lstStyle/>
                    <a:p>
                      <a:pPr algn="ctr" indent="0" marL="0">
                        <a:buNone/>
                      </a:pPr>
                      <a:r>
                        <a:rPr lang="en-US" sz="1100" b="1" dirty="0">
                          <a:solidFill>
                            <a:srgbClr val="FFD200"/>
                          </a:solidFill>
                        </a:rPr>
                        <a:t>НЕГІЗГІ ФАКТОР</a:t>
                      </a:r>
                      <a:endParaRPr lang="en-US" sz="11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3A2F7A"/>
                    </a:solidFill>
                  </a:tcPr>
                </a:tc>
                <a:tc>
                  <a:txBody>
                    <a:bodyPr/>
                    <a:lstStyle/>
                    <a:p>
                      <a:pPr algn="ctr" indent="0" marL="0">
                        <a:buNone/>
                      </a:pPr>
                      <a:r>
                        <a:rPr lang="en-US" sz="1100" b="1" dirty="0">
                          <a:solidFill>
                            <a:srgbClr val="FFD200"/>
                          </a:solidFill>
                        </a:rPr>
                        <a:t>КЕҢІСТІК ТҮСІНІГІ</a:t>
                      </a:r>
                      <a:endParaRPr lang="en-US" sz="11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3A2F7A"/>
                    </a:solidFill>
                  </a:tcPr>
                </a:tc>
                <a:tc>
                  <a:txBody>
                    <a:bodyPr/>
                    <a:lstStyle/>
                    <a:p>
                      <a:pPr algn="ctr" indent="0" marL="0">
                        <a:buNone/>
                      </a:pPr>
                      <a:r>
                        <a:rPr lang="en-US" sz="1100" b="1" dirty="0">
                          <a:solidFill>
                            <a:srgbClr val="FFD200"/>
                          </a:solidFill>
                        </a:rPr>
                        <a:t>МЕМЛЕКЕТ</a:t>
                      </a:r>
                      <a:endParaRPr lang="en-US" sz="11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3A2F7A"/>
                    </a:solidFill>
                  </a:tcPr>
                </a:tc>
                <a:tc>
                  <a:txBody>
                    <a:bodyPr/>
                    <a:lstStyle/>
                    <a:p>
                      <a:pPr algn="ctr" indent="0" marL="0">
                        <a:buNone/>
                      </a:pPr>
                      <a:r>
                        <a:rPr lang="en-US" sz="1100" b="1" dirty="0">
                          <a:solidFill>
                            <a:srgbClr val="FFD200"/>
                          </a:solidFill>
                        </a:rPr>
                        <a:t>ӘДІСНАМА</a:t>
                      </a:r>
                      <a:endParaRPr lang="en-US" sz="11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3A2F7A"/>
                    </a:solidFill>
                  </a:tcPr>
                </a:tc>
                <a:tc>
                  <a:txBody>
                    <a:bodyPr/>
                    <a:lstStyle/>
                    <a:p>
                      <a:pPr algn="ctr" indent="0" marL="0">
                        <a:buNone/>
                      </a:pPr>
                      <a:r>
                        <a:rPr lang="en-US" sz="1100" b="1" dirty="0">
                          <a:solidFill>
                            <a:srgbClr val="FFD200"/>
                          </a:solidFill>
                        </a:rPr>
                        <a:t>САЯСИ МАҚСАТ</a:t>
                      </a:r>
                      <a:endParaRPr lang="en-US" sz="11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3A2F7A"/>
                    </a:solidFill>
                  </a:tcPr>
                </a:tc>
              </a:tr>
              <a:tr h="704820">
                <a:tc>
                  <a:txBody>
                    <a:bodyPr/>
                    <a:lstStyle/>
                    <a:p>
                      <a:pPr indent="0" marL="0">
                        <a:buNone/>
                      </a:pPr>
                      <a:r>
                        <a:rPr lang="en-US" sz="1300" b="1" dirty="0">
                          <a:solidFill>
                            <a:schemeClr val="bg1"/>
                          </a:solidFill>
                        </a:rPr>
                        <a:t>Англо-американ</a:t>
                      </a:r>
                      <a:endParaRPr lang="en-US" sz="13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chemeClr val="accent1"/>
                    </a:solidFill>
                  </a:tcPr>
                </a:tc>
                <a:tc>
                  <a:txBody>
                    <a:bodyPr/>
                    <a:lstStyle/>
                    <a:p>
                      <a:pPr indent="0" marL="0">
                        <a:buNone/>
                      </a:pPr>
                      <a:r>
                        <a:rPr lang="en-US" sz="1200" dirty="0">
                          <a:solidFill>
                            <a:schemeClr val="bg1"/>
                          </a:solidFill>
                        </a:rPr>
                        <a:t>Теңіз күші, коммуникациялар</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Құрлық пен Теңіз бәсекесі</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Сауда-теңіз державасы</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Тарихи-картографиялық</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Еуразияны тежеу, теңіздегі үстемдік</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r>
              <a:tr h="704820">
                <a:tc>
                  <a:txBody>
                    <a:bodyPr/>
                    <a:lstStyle/>
                    <a:p>
                      <a:pPr indent="0" marL="0">
                        <a:buNone/>
                      </a:pPr>
                      <a:r>
                        <a:rPr lang="en-US" sz="1300" b="1" dirty="0">
                          <a:solidFill>
                            <a:schemeClr val="bg1"/>
                          </a:solidFill>
                        </a:rPr>
                        <a:t>Неміс</a:t>
                      </a:r>
                      <a:endParaRPr lang="en-US" sz="13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chemeClr val="accent2"/>
                    </a:solidFill>
                  </a:tcPr>
                </a:tc>
                <a:tc>
                  <a:txBody>
                    <a:bodyPr/>
                    <a:lstStyle/>
                    <a:p>
                      <a:pPr indent="0" marL="0">
                        <a:buNone/>
                      </a:pPr>
                      <a:r>
                        <a:rPr lang="en-US" sz="1200" dirty="0">
                          <a:solidFill>
                            <a:schemeClr val="bg1"/>
                          </a:solidFill>
                        </a:rPr>
                        <a:t>Кеңістік пен ұлт</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Lebensraum, пан-аймақтар</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Тірі организм</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Органицизм, детерминизм</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Германияның кеңеюі, континенттік блок</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r>
              <a:tr h="704820">
                <a:tc>
                  <a:txBody>
                    <a:bodyPr/>
                    <a:lstStyle/>
                    <a:p>
                      <a:pPr indent="0" marL="0">
                        <a:buNone/>
                      </a:pPr>
                      <a:r>
                        <a:rPr lang="en-US" sz="1300" b="1" dirty="0">
                          <a:solidFill>
                            <a:schemeClr val="bg1"/>
                          </a:solidFill>
                        </a:rPr>
                        <a:t>Француз</a:t>
                      </a:r>
                      <a:endParaRPr lang="en-US" sz="13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chemeClr val="accent3"/>
                    </a:solidFill>
                  </a:tcPr>
                </a:tc>
                <a:tc>
                  <a:txBody>
                    <a:bodyPr/>
                    <a:lstStyle/>
                    <a:p>
                      <a:pPr indent="0" marL="0">
                        <a:buNone/>
                      </a:pPr>
                      <a:r>
                        <a:rPr lang="en-US" sz="1200" dirty="0">
                          <a:solidFill>
                            <a:schemeClr val="bg1"/>
                          </a:solidFill>
                        </a:rPr>
                        <a:t>Адам мен ортаның өзара әрекеті</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Аймақ, «өмір салты»</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Тарих пен мәдениет жемісі</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Поссибилизм, аймақтық талдау</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Тепе-теңдік, тұрақтылық</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r>
              <a:tr h="704820">
                <a:tc>
                  <a:txBody>
                    <a:bodyPr/>
                    <a:lstStyle/>
                    <a:p>
                      <a:pPr indent="0" marL="0">
                        <a:buNone/>
                      </a:pPr>
                      <a:r>
                        <a:rPr lang="en-US" sz="1300" b="1" dirty="0">
                          <a:solidFill>
                            <a:schemeClr val="bg1"/>
                          </a:solidFill>
                        </a:rPr>
                        <a:t>Еуразиялық</a:t>
                      </a:r>
                      <a:endParaRPr lang="en-US" sz="13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chemeClr val="accent4"/>
                    </a:solidFill>
                  </a:tcPr>
                </a:tc>
                <a:tc>
                  <a:txBody>
                    <a:bodyPr/>
                    <a:lstStyle/>
                    <a:p>
                      <a:pPr indent="0" marL="0">
                        <a:buNone/>
                      </a:pPr>
                      <a:r>
                        <a:rPr lang="en-US" sz="1200" dirty="0">
                          <a:solidFill>
                            <a:schemeClr val="bg1"/>
                          </a:solidFill>
                        </a:rPr>
                        <a:t>Мәдени-кеңістіктік бірлік</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Еуразия — ерекше әлем</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Өркениет-мемлекет</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Өркениеттік, тарихи-мәдени</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Көпполюсті әлем, интеграция</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r>
              <a:tr h="704820">
                <a:tc>
                  <a:txBody>
                    <a:bodyPr/>
                    <a:lstStyle/>
                    <a:p>
                      <a:pPr indent="0" marL="0">
                        <a:buNone/>
                      </a:pPr>
                      <a:r>
                        <a:rPr lang="en-US" sz="1300" b="1" dirty="0">
                          <a:solidFill>
                            <a:schemeClr val="bg1"/>
                          </a:solidFill>
                        </a:rPr>
                        <a:t>Постбиполярлық</a:t>
                      </a:r>
                      <a:endParaRPr lang="en-US" sz="13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chemeClr val="accent5"/>
                    </a:solidFill>
                  </a:tcPr>
                </a:tc>
                <a:tc>
                  <a:txBody>
                    <a:bodyPr/>
                    <a:lstStyle/>
                    <a:p>
                      <a:pPr indent="0" marL="0">
                        <a:buNone/>
                      </a:pPr>
                      <a:r>
                        <a:rPr lang="en-US" sz="1200" dirty="0">
                          <a:solidFill>
                            <a:schemeClr val="bg1"/>
                          </a:solidFill>
                        </a:rPr>
                        <a:t>Өркениет және күш балансы</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Еуразия — шахмат тақтасы</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Ойыншы немесе «ось»</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Геостратегиялық, жүйелік</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АҚШ көшбасшылығын сақтау</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r>
              <a:tr h="704820">
                <a:tc>
                  <a:txBody>
                    <a:bodyPr/>
                    <a:lstStyle/>
                    <a:p>
                      <a:pPr indent="0" marL="0">
                        <a:buNone/>
                      </a:pPr>
                      <a:r>
                        <a:rPr lang="en-US" sz="1300" b="1" dirty="0">
                          <a:solidFill>
                            <a:srgbClr val="2A1600"/>
                          </a:solidFill>
                        </a:rPr>
                        <a:t>Сыни</a:t>
                      </a:r>
                      <a:endParaRPr lang="en-US" sz="13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chemeClr val="accent6"/>
                    </a:solidFill>
                  </a:tcPr>
                </a:tc>
                <a:tc>
                  <a:txBody>
                    <a:bodyPr/>
                    <a:lstStyle/>
                    <a:p>
                      <a:pPr indent="0" marL="0">
                        <a:buNone/>
                      </a:pPr>
                      <a:r>
                        <a:rPr lang="en-US" sz="1200" dirty="0">
                          <a:solidFill>
                            <a:schemeClr val="bg1"/>
                          </a:solidFill>
                        </a:rPr>
                        <a:t>Дискурс пен білім</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Әлеуметтік конструкция</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Дискурс субъектісі</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Дискурс-талдау, деконструкция</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c>
                  <a:txBody>
                    <a:bodyPr/>
                    <a:lstStyle/>
                    <a:p>
                      <a:pPr indent="0" marL="0">
                        <a:buNone/>
                      </a:pPr>
                      <a:r>
                        <a:rPr lang="en-US" sz="1200" dirty="0">
                          <a:solidFill>
                            <a:schemeClr val="bg1"/>
                          </a:solidFill>
                        </a:rPr>
                        <a:t>Билік дискурсын сынау</a:t>
                      </a:r>
                      <a:endParaRPr lang="en-US" sz="1200" dirty="0"/>
                    </a:p>
                  </a:txBody>
                  <a:tcPr marL="38100" marR="76200" marT="76200" marB="38100" anchor="ctr">
                    <a:lnL w="38100" cap="flat" cmpd="sng" algn="ctr">
                      <a:solidFill>
                        <a:srgbClr val="1A1048"/>
                      </a:solidFill>
                      <a:prstDash val="solid"/>
                      <a:round/>
                      <a:headEnd type="none" w="med" len="med"/>
                      <a:tailEnd type="none" w="med" len="med"/>
                    </a:lnL>
                    <a:lnR w="38100" cap="flat" cmpd="sng" algn="ctr">
                      <a:solidFill>
                        <a:srgbClr val="1A1048"/>
                      </a:solidFill>
                      <a:prstDash val="solid"/>
                      <a:round/>
                      <a:headEnd type="none" w="med" len="med"/>
                      <a:tailEnd type="none" w="med" len="med"/>
                    </a:lnR>
                    <a:lnT w="38100" cap="flat" cmpd="sng" algn="ctr">
                      <a:solidFill>
                        <a:srgbClr val="1A1048"/>
                      </a:solidFill>
                      <a:prstDash val="solid"/>
                      <a:round/>
                      <a:headEnd type="none" w="med" len="med"/>
                      <a:tailEnd type="none" w="med" len="med"/>
                    </a:lnT>
                    <a:lnB w="38100" cap="flat" cmpd="sng" algn="ctr">
                      <a:solidFill>
                        <a:srgbClr val="1A1048"/>
                      </a:solidFill>
                      <a:prstDash val="solid"/>
                      <a:round/>
                      <a:headEnd type="none" w="med" len="med"/>
                      <a:tailEnd type="none" w="med" len="med"/>
                    </a:lnB>
                    <a:solidFill>
                      <a:srgbClr val="2A2160"/>
                    </a:solidFill>
                  </a:tcPr>
                </a:tc>
              </a:tr>
            </a:tbl>
          </a:graphicData>
        </a:graphic>
      </p:graphicFrame>
      <p:sp>
        <p:nvSpPr>
          <p:cNvPr id="25" name="Slide Number Placeholder 0"/>
          <p:cNvSpPr>
            <a:spLocks noGrp="1"/>
          </p:cNvSpPr>
          <p:nvPr>
            <p:ph type="sldNum" sz="quarter" idx="4294967295"/>
          </p:nvPr>
        </p:nvSpPr>
        <p:spPr>
          <a:xfrm>
            <a:off x="10953780" y="6515100"/>
            <a:ext cx="7619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C9C2E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33370" y="800100"/>
            <a:ext cx="11125230" cy="533370"/>
          </a:xfrm>
          <a:prstGeom prst="rect">
            <a:avLst/>
          </a:prstGeom>
          <a:noFill/>
          <a:ln/>
        </p:spPr>
        <p:txBody>
          <a:bodyPr wrap="square" lIns="0" tIns="0" rIns="0" bIns="0" rtlCol="0" anchor="t"/>
          <a:lstStyle/>
          <a:p>
            <a:pPr algn="l" indent="0" marL="0">
              <a:buNone/>
            </a:pPr>
            <a:r>
              <a:rPr lang="en-US" sz="3200" b="1" dirty="0">
                <a:solidFill>
                  <a:schemeClr val="bg1"/>
                </a:solidFill>
              </a:rPr>
              <a:t>Теориялық спектр: мектептер қай жерде?</a:t>
            </a:r>
            <a:endParaRPr lang="en-US" sz="3200" dirty="0"/>
          </a:p>
        </p:txBody>
      </p:sp>
      <p:sp>
        <p:nvSpPr>
          <p:cNvPr id="4" name="Tag"/>
          <p:cNvSpPr/>
          <p:nvPr/>
        </p:nvSpPr>
        <p:spPr>
          <a:xfrm>
            <a:off x="533370" y="419070"/>
            <a:ext cx="1457371" cy="285750"/>
          </a:xfrm>
          <a:prstGeom prst="roundRect">
            <a:avLst>
              <a:gd name="adj" fmla="val 50000"/>
            </a:avLst>
          </a:prstGeom>
          <a:solidFill>
            <a:schemeClr val="accent4"/>
          </a:solidFill>
          <a:ln/>
        </p:spPr>
        <p:txBody>
          <a:bodyPr wrap="square" lIns="0" tIns="0" rIns="0" bIns="0" rtlCol="0" anchor="ctr"/>
          <a:lstStyle/>
          <a:p>
            <a:pPr algn="ctr" indent="0" marL="0">
              <a:lnSpc>
                <a:spcPct val="100000"/>
              </a:lnSpc>
              <a:buNone/>
            </a:pPr>
            <a:r>
              <a:rPr lang="en-US" sz="1100" b="1" spc="150" kern="0" dirty="0">
                <a:solidFill>
                  <a:schemeClr val="bg1"/>
                </a:solidFill>
              </a:rPr>
              <a:t>САЛЫСТЫРУ · 3</a:t>
            </a:r>
            <a:endParaRPr lang="en-US" sz="1100" dirty="0"/>
          </a:p>
        </p:txBody>
      </p:sp>
      <p:sp>
        <p:nvSpPr>
          <p:cNvPr id="5" name="Text 2"/>
          <p:cNvSpPr txBox="1"/>
          <p:nvPr/>
        </p:nvSpPr>
        <p:spPr>
          <a:xfrm>
            <a:off x="533370" y="1485900"/>
            <a:ext cx="10477470" cy="247620"/>
          </a:xfrm>
          <a:prstGeom prst="rect">
            <a:avLst/>
          </a:prstGeom>
          <a:noFill/>
          <a:ln/>
        </p:spPr>
        <p:txBody>
          <a:bodyPr wrap="square" lIns="0" tIns="0" rIns="0" bIns="0" rtlCol="0" anchor="t"/>
          <a:lstStyle/>
          <a:p>
            <a:pPr algn="l" indent="0" marL="0">
              <a:lnSpc>
                <a:spcPct val="105000"/>
              </a:lnSpc>
              <a:buNone/>
            </a:pPr>
            <a:r>
              <a:rPr lang="en-US" sz="1500" b="1" dirty="0">
                <a:solidFill>
                  <a:srgbClr val="C9F7FF"/>
                </a:solidFill>
              </a:rPr>
              <a:t>Географияның саясатқа әсері қаншалықты «міндетті»?</a:t>
            </a:r>
            <a:endParaRPr lang="en-US" sz="1500" dirty="0"/>
          </a:p>
        </p:txBody>
      </p:sp>
      <p:sp>
        <p:nvSpPr>
          <p:cNvPr id="6" name="Shape 3"/>
          <p:cNvSpPr/>
          <p:nvPr/>
        </p:nvSpPr>
        <p:spPr>
          <a:xfrm>
            <a:off x="2200321" y="2076420"/>
            <a:ext cx="7791420" cy="133320"/>
          </a:xfrm>
          <a:prstGeom prst="roundRect">
            <a:avLst>
              <a:gd name="adj" fmla="val 48011"/>
            </a:avLst>
          </a:prstGeom>
          <a:solidFill>
            <a:srgbClr val="FFFFFF">
              <a:alpha val="24000"/>
            </a:srgbClr>
          </a:solidFill>
          <a:ln/>
        </p:spPr>
      </p:sp>
      <p:sp>
        <p:nvSpPr>
          <p:cNvPr id="7" name="Text 4"/>
          <p:cNvSpPr txBox="1"/>
          <p:nvPr/>
        </p:nvSpPr>
        <p:spPr>
          <a:xfrm>
            <a:off x="533370" y="1924080"/>
            <a:ext cx="1524030" cy="438180"/>
          </a:xfrm>
          <a:prstGeom prst="rect">
            <a:avLst/>
          </a:prstGeom>
          <a:noFill/>
          <a:ln/>
        </p:spPr>
        <p:txBody>
          <a:bodyPr wrap="square" lIns="0" tIns="0" rIns="0" bIns="0" rtlCol="0" anchor="ctr"/>
          <a:lstStyle/>
          <a:p>
            <a:pPr algn="r" indent="0" marL="0">
              <a:lnSpc>
                <a:spcPct val="105000"/>
              </a:lnSpc>
              <a:buNone/>
            </a:pPr>
            <a:r>
              <a:rPr lang="en-US" sz="1300" b="1" dirty="0">
                <a:solidFill>
                  <a:schemeClr val="bg1"/>
                </a:solidFill>
              </a:rPr>
              <a:t>Детерминизм</a:t>
            </a:r>
            <a:endParaRPr lang="en-US" sz="1300" dirty="0"/>
          </a:p>
        </p:txBody>
      </p:sp>
      <p:sp>
        <p:nvSpPr>
          <p:cNvPr id="8" name="Text 5"/>
          <p:cNvSpPr txBox="1"/>
          <p:nvPr/>
        </p:nvSpPr>
        <p:spPr>
          <a:xfrm>
            <a:off x="10134570" y="1924080"/>
            <a:ext cx="1524030" cy="438180"/>
          </a:xfrm>
          <a:prstGeom prst="rect">
            <a:avLst/>
          </a:prstGeom>
          <a:noFill/>
          <a:ln/>
        </p:spPr>
        <p:txBody>
          <a:bodyPr wrap="square" lIns="0" tIns="0" rIns="0" bIns="0" rtlCol="0" anchor="ctr"/>
          <a:lstStyle/>
          <a:p>
            <a:pPr algn="l" indent="0" marL="0">
              <a:lnSpc>
                <a:spcPct val="105000"/>
              </a:lnSpc>
              <a:buNone/>
            </a:pPr>
            <a:r>
              <a:rPr lang="en-US" sz="1300" b="1" dirty="0">
                <a:solidFill>
                  <a:schemeClr val="bg1"/>
                </a:solidFill>
              </a:rPr>
              <a:t>Конструктивизм</a:t>
            </a:r>
            <a:endParaRPr lang="en-US" sz="1300" dirty="0"/>
          </a:p>
        </p:txBody>
      </p:sp>
      <p:sp>
        <p:nvSpPr>
          <p:cNvPr id="9" name="Text 6"/>
          <p:cNvSpPr/>
          <p:nvPr/>
        </p:nvSpPr>
        <p:spPr>
          <a:xfrm>
            <a:off x="2788920" y="1952610"/>
            <a:ext cx="381030" cy="381030"/>
          </a:xfrm>
          <a:prstGeom prst="ellipse">
            <a:avLst/>
          </a:prstGeom>
          <a:solidFill>
            <a:schemeClr val="accent1"/>
          </a:solidFill>
          <a:ln w="25400">
            <a:solidFill>
              <a:srgbClr val="FFFFFF"/>
            </a:solidFill>
          </a:ln>
        </p:spPr>
        <p:txBody>
          <a:bodyPr wrap="square" lIns="0" tIns="0" rIns="0" bIns="0" rtlCol="0" anchor="ctr"/>
          <a:lstStyle/>
          <a:p>
            <a:pPr algn="ctr" indent="0" marL="0">
              <a:lnSpc>
                <a:spcPct val="100000"/>
              </a:lnSpc>
              <a:buNone/>
            </a:pPr>
            <a:r>
              <a:rPr lang="en-US" sz="1400" b="1" dirty="0">
                <a:solidFill>
                  <a:schemeClr val="bg1"/>
                </a:solidFill>
              </a:rPr>
              <a:t>1</a:t>
            </a:r>
            <a:endParaRPr lang="en-US" sz="1400" dirty="0"/>
          </a:p>
        </p:txBody>
      </p:sp>
      <p:sp>
        <p:nvSpPr>
          <p:cNvPr id="10" name="Text 7"/>
          <p:cNvSpPr/>
          <p:nvPr/>
        </p:nvSpPr>
        <p:spPr>
          <a:xfrm>
            <a:off x="3879708" y="1952610"/>
            <a:ext cx="381030" cy="381030"/>
          </a:xfrm>
          <a:prstGeom prst="ellipse">
            <a:avLst/>
          </a:prstGeom>
          <a:solidFill>
            <a:schemeClr val="accent2"/>
          </a:solidFill>
          <a:ln w="25400">
            <a:solidFill>
              <a:srgbClr val="FFFFFF"/>
            </a:solidFill>
          </a:ln>
        </p:spPr>
        <p:txBody>
          <a:bodyPr wrap="square" lIns="0" tIns="0" rIns="0" bIns="0" rtlCol="0" anchor="ctr"/>
          <a:lstStyle/>
          <a:p>
            <a:pPr algn="ctr" indent="0" marL="0">
              <a:lnSpc>
                <a:spcPct val="100000"/>
              </a:lnSpc>
              <a:buNone/>
            </a:pPr>
            <a:r>
              <a:rPr lang="en-US" sz="1400" b="1" dirty="0">
                <a:solidFill>
                  <a:schemeClr val="bg1"/>
                </a:solidFill>
              </a:rPr>
              <a:t>2</a:t>
            </a:r>
            <a:endParaRPr lang="en-US" sz="1400" dirty="0"/>
          </a:p>
        </p:txBody>
      </p:sp>
      <p:sp>
        <p:nvSpPr>
          <p:cNvPr id="11" name="Text 8"/>
          <p:cNvSpPr/>
          <p:nvPr/>
        </p:nvSpPr>
        <p:spPr>
          <a:xfrm>
            <a:off x="7619604" y="1952610"/>
            <a:ext cx="381030" cy="381030"/>
          </a:xfrm>
          <a:prstGeom prst="ellipse">
            <a:avLst/>
          </a:prstGeom>
          <a:solidFill>
            <a:schemeClr val="accent3"/>
          </a:solidFill>
          <a:ln w="25400">
            <a:solidFill>
              <a:srgbClr val="FFFFFF"/>
            </a:solidFill>
          </a:ln>
        </p:spPr>
        <p:txBody>
          <a:bodyPr wrap="square" lIns="0" tIns="0" rIns="0" bIns="0" rtlCol="0" anchor="ctr"/>
          <a:lstStyle/>
          <a:p>
            <a:pPr algn="ctr" indent="0" marL="0">
              <a:lnSpc>
                <a:spcPct val="100000"/>
              </a:lnSpc>
              <a:buNone/>
            </a:pPr>
            <a:r>
              <a:rPr lang="en-US" sz="1400" b="1" dirty="0">
                <a:solidFill>
                  <a:schemeClr val="bg1"/>
                </a:solidFill>
              </a:rPr>
              <a:t>3</a:t>
            </a:r>
            <a:endParaRPr lang="en-US" sz="1400" dirty="0"/>
          </a:p>
        </p:txBody>
      </p:sp>
      <p:sp>
        <p:nvSpPr>
          <p:cNvPr id="12" name="Text 9"/>
          <p:cNvSpPr/>
          <p:nvPr/>
        </p:nvSpPr>
        <p:spPr>
          <a:xfrm>
            <a:off x="4503054" y="1952610"/>
            <a:ext cx="381030" cy="381030"/>
          </a:xfrm>
          <a:prstGeom prst="ellipse">
            <a:avLst/>
          </a:prstGeom>
          <a:solidFill>
            <a:schemeClr val="accent4"/>
          </a:solidFill>
          <a:ln w="25400">
            <a:solidFill>
              <a:srgbClr val="FFFFFF"/>
            </a:solidFill>
          </a:ln>
        </p:spPr>
        <p:txBody>
          <a:bodyPr wrap="square" lIns="0" tIns="0" rIns="0" bIns="0" rtlCol="0" anchor="ctr"/>
          <a:lstStyle/>
          <a:p>
            <a:pPr algn="ctr" indent="0" marL="0">
              <a:lnSpc>
                <a:spcPct val="100000"/>
              </a:lnSpc>
              <a:buNone/>
            </a:pPr>
            <a:r>
              <a:rPr lang="en-US" sz="1400" b="1" dirty="0">
                <a:solidFill>
                  <a:schemeClr val="bg1"/>
                </a:solidFill>
              </a:rPr>
              <a:t>4</a:t>
            </a:r>
            <a:endParaRPr lang="en-US" sz="1400" dirty="0"/>
          </a:p>
        </p:txBody>
      </p:sp>
      <p:sp>
        <p:nvSpPr>
          <p:cNvPr id="13" name="Text 10"/>
          <p:cNvSpPr/>
          <p:nvPr/>
        </p:nvSpPr>
        <p:spPr>
          <a:xfrm>
            <a:off x="6061375" y="1952610"/>
            <a:ext cx="381030" cy="381030"/>
          </a:xfrm>
          <a:prstGeom prst="ellipse">
            <a:avLst/>
          </a:prstGeom>
          <a:solidFill>
            <a:schemeClr val="accent5"/>
          </a:solidFill>
          <a:ln w="25400">
            <a:solidFill>
              <a:srgbClr val="FFFFFF"/>
            </a:solidFill>
          </a:ln>
        </p:spPr>
        <p:txBody>
          <a:bodyPr wrap="square" lIns="0" tIns="0" rIns="0" bIns="0" rtlCol="0" anchor="ctr"/>
          <a:lstStyle/>
          <a:p>
            <a:pPr algn="ctr" indent="0" marL="0">
              <a:lnSpc>
                <a:spcPct val="100000"/>
              </a:lnSpc>
              <a:buNone/>
            </a:pPr>
            <a:r>
              <a:rPr lang="en-US" sz="1400" b="1" dirty="0">
                <a:solidFill>
                  <a:schemeClr val="bg1"/>
                </a:solidFill>
              </a:rPr>
              <a:t>5</a:t>
            </a:r>
            <a:endParaRPr lang="en-US" sz="1400" dirty="0"/>
          </a:p>
        </p:txBody>
      </p:sp>
      <p:sp>
        <p:nvSpPr>
          <p:cNvPr id="14" name="Text 11"/>
          <p:cNvSpPr/>
          <p:nvPr/>
        </p:nvSpPr>
        <p:spPr>
          <a:xfrm>
            <a:off x="9255831" y="1952610"/>
            <a:ext cx="381030" cy="381030"/>
          </a:xfrm>
          <a:prstGeom prst="ellipse">
            <a:avLst/>
          </a:prstGeom>
          <a:solidFill>
            <a:schemeClr val="accent6"/>
          </a:solidFill>
          <a:ln w="25400">
            <a:solidFill>
              <a:srgbClr val="FFFFFF"/>
            </a:solidFill>
          </a:ln>
        </p:spPr>
        <p:txBody>
          <a:bodyPr wrap="square" lIns="0" tIns="0" rIns="0" bIns="0" rtlCol="0" anchor="ctr"/>
          <a:lstStyle/>
          <a:p>
            <a:pPr algn="ctr" indent="0" marL="0">
              <a:lnSpc>
                <a:spcPct val="100000"/>
              </a:lnSpc>
              <a:buNone/>
            </a:pPr>
            <a:r>
              <a:rPr lang="en-US" sz="1400" b="1" dirty="0">
                <a:solidFill>
                  <a:srgbClr val="2A1600"/>
                </a:solidFill>
              </a:rPr>
              <a:t>6</a:t>
            </a:r>
            <a:endParaRPr lang="en-US" sz="1400" dirty="0"/>
          </a:p>
        </p:txBody>
      </p:sp>
      <p:sp>
        <p:nvSpPr>
          <p:cNvPr id="15" name="Text 12"/>
          <p:cNvSpPr txBox="1"/>
          <p:nvPr/>
        </p:nvSpPr>
        <p:spPr>
          <a:xfrm>
            <a:off x="533370" y="2609880"/>
            <a:ext cx="10477470" cy="247620"/>
          </a:xfrm>
          <a:prstGeom prst="rect">
            <a:avLst/>
          </a:prstGeom>
          <a:noFill/>
          <a:ln/>
        </p:spPr>
        <p:txBody>
          <a:bodyPr wrap="square" lIns="0" tIns="0" rIns="0" bIns="0" rtlCol="0" anchor="t"/>
          <a:lstStyle/>
          <a:p>
            <a:pPr algn="l" indent="0" marL="0">
              <a:lnSpc>
                <a:spcPct val="105000"/>
              </a:lnSpc>
              <a:buNone/>
            </a:pPr>
            <a:r>
              <a:rPr lang="en-US" sz="1500" b="1" dirty="0">
                <a:solidFill>
                  <a:srgbClr val="C9F7FF"/>
                </a:solidFill>
              </a:rPr>
              <a:t>Қандай кеңістік күштің негізі деп саналады?</a:t>
            </a:r>
            <a:endParaRPr lang="en-US" sz="1500" dirty="0"/>
          </a:p>
        </p:txBody>
      </p:sp>
      <p:sp>
        <p:nvSpPr>
          <p:cNvPr id="16" name="Shape 13"/>
          <p:cNvSpPr/>
          <p:nvPr/>
        </p:nvSpPr>
        <p:spPr>
          <a:xfrm>
            <a:off x="2200321" y="3200400"/>
            <a:ext cx="7791420" cy="133320"/>
          </a:xfrm>
          <a:prstGeom prst="roundRect">
            <a:avLst>
              <a:gd name="adj" fmla="val 48011"/>
            </a:avLst>
          </a:prstGeom>
          <a:solidFill>
            <a:srgbClr val="FFFFFF">
              <a:alpha val="24000"/>
            </a:srgbClr>
          </a:solidFill>
          <a:ln/>
        </p:spPr>
      </p:sp>
      <p:sp>
        <p:nvSpPr>
          <p:cNvPr id="17" name="Text 14"/>
          <p:cNvSpPr txBox="1"/>
          <p:nvPr/>
        </p:nvSpPr>
        <p:spPr>
          <a:xfrm>
            <a:off x="533370" y="3047970"/>
            <a:ext cx="1524030" cy="438180"/>
          </a:xfrm>
          <a:prstGeom prst="rect">
            <a:avLst/>
          </a:prstGeom>
          <a:noFill/>
          <a:ln/>
        </p:spPr>
        <p:txBody>
          <a:bodyPr wrap="square" lIns="0" tIns="0" rIns="0" bIns="0" rtlCol="0" anchor="ctr"/>
          <a:lstStyle/>
          <a:p>
            <a:pPr algn="r" indent="0" marL="0">
              <a:lnSpc>
                <a:spcPct val="105000"/>
              </a:lnSpc>
              <a:buNone/>
            </a:pPr>
            <a:r>
              <a:rPr lang="en-US" sz="1300" b="1" dirty="0">
                <a:solidFill>
                  <a:schemeClr val="bg1"/>
                </a:solidFill>
              </a:rPr>
              <a:t>Құрлыққа бағдар</a:t>
            </a:r>
            <a:endParaRPr lang="en-US" sz="1300" dirty="0"/>
          </a:p>
        </p:txBody>
      </p:sp>
      <p:sp>
        <p:nvSpPr>
          <p:cNvPr id="18" name="Text 15"/>
          <p:cNvSpPr txBox="1"/>
          <p:nvPr/>
        </p:nvSpPr>
        <p:spPr>
          <a:xfrm>
            <a:off x="10134570" y="3047970"/>
            <a:ext cx="1524030" cy="438180"/>
          </a:xfrm>
          <a:prstGeom prst="rect">
            <a:avLst/>
          </a:prstGeom>
          <a:noFill/>
          <a:ln/>
        </p:spPr>
        <p:txBody>
          <a:bodyPr wrap="square" lIns="0" tIns="0" rIns="0" bIns="0" rtlCol="0" anchor="ctr"/>
          <a:lstStyle/>
          <a:p>
            <a:pPr algn="l" indent="0" marL="0">
              <a:lnSpc>
                <a:spcPct val="105000"/>
              </a:lnSpc>
              <a:buNone/>
            </a:pPr>
            <a:r>
              <a:rPr lang="en-US" sz="1300" b="1" dirty="0">
                <a:solidFill>
                  <a:schemeClr val="bg1"/>
                </a:solidFill>
              </a:rPr>
              <a:t>Теңізге бағдар</a:t>
            </a:r>
            <a:endParaRPr lang="en-US" sz="1300" dirty="0"/>
          </a:p>
        </p:txBody>
      </p:sp>
      <p:sp>
        <p:nvSpPr>
          <p:cNvPr id="19" name="Text 16"/>
          <p:cNvSpPr/>
          <p:nvPr/>
        </p:nvSpPr>
        <p:spPr>
          <a:xfrm>
            <a:off x="9177924" y="3076590"/>
            <a:ext cx="381030" cy="381030"/>
          </a:xfrm>
          <a:prstGeom prst="ellipse">
            <a:avLst/>
          </a:prstGeom>
          <a:solidFill>
            <a:schemeClr val="accent1"/>
          </a:solidFill>
          <a:ln w="25400">
            <a:solidFill>
              <a:srgbClr val="FFFFFF"/>
            </a:solidFill>
          </a:ln>
        </p:spPr>
        <p:txBody>
          <a:bodyPr wrap="square" lIns="0" tIns="0" rIns="0" bIns="0" rtlCol="0" anchor="ctr"/>
          <a:lstStyle/>
          <a:p>
            <a:pPr algn="ctr" indent="0" marL="0">
              <a:lnSpc>
                <a:spcPct val="100000"/>
              </a:lnSpc>
              <a:buNone/>
            </a:pPr>
            <a:r>
              <a:rPr lang="en-US" sz="1400" b="1" dirty="0">
                <a:solidFill>
                  <a:schemeClr val="bg1"/>
                </a:solidFill>
              </a:rPr>
              <a:t>1</a:t>
            </a:r>
            <a:endParaRPr lang="en-US" sz="1400" dirty="0"/>
          </a:p>
        </p:txBody>
      </p:sp>
      <p:sp>
        <p:nvSpPr>
          <p:cNvPr id="20" name="Text 17"/>
          <p:cNvSpPr/>
          <p:nvPr/>
        </p:nvSpPr>
        <p:spPr>
          <a:xfrm>
            <a:off x="3412266" y="3076590"/>
            <a:ext cx="381030" cy="381030"/>
          </a:xfrm>
          <a:prstGeom prst="ellipse">
            <a:avLst/>
          </a:prstGeom>
          <a:solidFill>
            <a:schemeClr val="accent2"/>
          </a:solidFill>
          <a:ln w="25400">
            <a:solidFill>
              <a:srgbClr val="FFFFFF"/>
            </a:solidFill>
          </a:ln>
        </p:spPr>
        <p:txBody>
          <a:bodyPr wrap="square" lIns="0" tIns="0" rIns="0" bIns="0" rtlCol="0" anchor="ctr"/>
          <a:lstStyle/>
          <a:p>
            <a:pPr algn="ctr" indent="0" marL="0">
              <a:lnSpc>
                <a:spcPct val="100000"/>
              </a:lnSpc>
              <a:buNone/>
            </a:pPr>
            <a:r>
              <a:rPr lang="en-US" sz="1400" b="1" dirty="0">
                <a:solidFill>
                  <a:schemeClr val="bg1"/>
                </a:solidFill>
              </a:rPr>
              <a:t>2</a:t>
            </a:r>
            <a:endParaRPr lang="en-US" sz="1400" dirty="0"/>
          </a:p>
        </p:txBody>
      </p:sp>
      <p:sp>
        <p:nvSpPr>
          <p:cNvPr id="21" name="Text 18"/>
          <p:cNvSpPr/>
          <p:nvPr/>
        </p:nvSpPr>
        <p:spPr>
          <a:xfrm>
            <a:off x="5593842" y="3076590"/>
            <a:ext cx="381030" cy="381030"/>
          </a:xfrm>
          <a:prstGeom prst="ellipse">
            <a:avLst/>
          </a:prstGeom>
          <a:solidFill>
            <a:schemeClr val="accent3"/>
          </a:solidFill>
          <a:ln w="25400">
            <a:solidFill>
              <a:srgbClr val="FFFFFF"/>
            </a:solidFill>
          </a:ln>
        </p:spPr>
        <p:txBody>
          <a:bodyPr wrap="square" lIns="0" tIns="0" rIns="0" bIns="0" rtlCol="0" anchor="ctr"/>
          <a:lstStyle/>
          <a:p>
            <a:pPr algn="ctr" indent="0" marL="0">
              <a:lnSpc>
                <a:spcPct val="100000"/>
              </a:lnSpc>
              <a:buNone/>
            </a:pPr>
            <a:r>
              <a:rPr lang="en-US" sz="1400" b="1" dirty="0">
                <a:solidFill>
                  <a:schemeClr val="bg1"/>
                </a:solidFill>
              </a:rPr>
              <a:t>3</a:t>
            </a:r>
            <a:endParaRPr lang="en-US" sz="1400" dirty="0"/>
          </a:p>
        </p:txBody>
      </p:sp>
      <p:sp>
        <p:nvSpPr>
          <p:cNvPr id="22" name="Text 19"/>
          <p:cNvSpPr/>
          <p:nvPr/>
        </p:nvSpPr>
        <p:spPr>
          <a:xfrm>
            <a:off x="2477292" y="3076590"/>
            <a:ext cx="381030" cy="381030"/>
          </a:xfrm>
          <a:prstGeom prst="ellipse">
            <a:avLst/>
          </a:prstGeom>
          <a:solidFill>
            <a:schemeClr val="accent4"/>
          </a:solidFill>
          <a:ln w="25400">
            <a:solidFill>
              <a:srgbClr val="FFFFFF"/>
            </a:solidFill>
          </a:ln>
        </p:spPr>
        <p:txBody>
          <a:bodyPr wrap="square" lIns="0" tIns="0" rIns="0" bIns="0" rtlCol="0" anchor="ctr"/>
          <a:lstStyle/>
          <a:p>
            <a:pPr algn="ctr" indent="0" marL="0">
              <a:lnSpc>
                <a:spcPct val="100000"/>
              </a:lnSpc>
              <a:buNone/>
            </a:pPr>
            <a:r>
              <a:rPr lang="en-US" sz="1400" b="1" dirty="0">
                <a:solidFill>
                  <a:schemeClr val="bg1"/>
                </a:solidFill>
              </a:rPr>
              <a:t>4</a:t>
            </a:r>
            <a:endParaRPr lang="en-US" sz="1400" dirty="0"/>
          </a:p>
        </p:txBody>
      </p:sp>
      <p:sp>
        <p:nvSpPr>
          <p:cNvPr id="23" name="Text 20"/>
          <p:cNvSpPr/>
          <p:nvPr/>
        </p:nvSpPr>
        <p:spPr>
          <a:xfrm>
            <a:off x="7775418" y="3076590"/>
            <a:ext cx="381030" cy="381030"/>
          </a:xfrm>
          <a:prstGeom prst="ellipse">
            <a:avLst/>
          </a:prstGeom>
          <a:solidFill>
            <a:schemeClr val="accent5"/>
          </a:solidFill>
          <a:ln w="25400">
            <a:solidFill>
              <a:srgbClr val="FFFFFF"/>
            </a:solidFill>
          </a:ln>
        </p:spPr>
        <p:txBody>
          <a:bodyPr wrap="square" lIns="0" tIns="0" rIns="0" bIns="0" rtlCol="0" anchor="ctr"/>
          <a:lstStyle/>
          <a:p>
            <a:pPr algn="ctr" indent="0" marL="0">
              <a:lnSpc>
                <a:spcPct val="100000"/>
              </a:lnSpc>
              <a:buNone/>
            </a:pPr>
            <a:r>
              <a:rPr lang="en-US" sz="1400" b="1" dirty="0">
                <a:solidFill>
                  <a:schemeClr val="bg1"/>
                </a:solidFill>
              </a:rPr>
              <a:t>5</a:t>
            </a:r>
            <a:endParaRPr lang="en-US" sz="1400" dirty="0"/>
          </a:p>
        </p:txBody>
      </p:sp>
      <p:sp>
        <p:nvSpPr>
          <p:cNvPr id="24" name="Text 21"/>
          <p:cNvSpPr txBox="1"/>
          <p:nvPr/>
        </p:nvSpPr>
        <p:spPr>
          <a:xfrm>
            <a:off x="533370" y="3733770"/>
            <a:ext cx="10477470" cy="247620"/>
          </a:xfrm>
          <a:prstGeom prst="rect">
            <a:avLst/>
          </a:prstGeom>
          <a:noFill/>
          <a:ln/>
        </p:spPr>
        <p:txBody>
          <a:bodyPr wrap="square" lIns="0" tIns="0" rIns="0" bIns="0" rtlCol="0" anchor="t"/>
          <a:lstStyle/>
          <a:p>
            <a:pPr algn="l" indent="0" marL="0">
              <a:lnSpc>
                <a:spcPct val="105000"/>
              </a:lnSpc>
              <a:buNone/>
            </a:pPr>
            <a:r>
              <a:rPr lang="en-US" sz="1500" b="1" dirty="0">
                <a:solidFill>
                  <a:srgbClr val="C9F7FF"/>
                </a:solidFill>
              </a:rPr>
              <a:t>Теория кімге қызмет етеді?</a:t>
            </a:r>
            <a:endParaRPr lang="en-US" sz="1500" dirty="0"/>
          </a:p>
        </p:txBody>
      </p:sp>
      <p:sp>
        <p:nvSpPr>
          <p:cNvPr id="25" name="Shape 22"/>
          <p:cNvSpPr/>
          <p:nvPr/>
        </p:nvSpPr>
        <p:spPr>
          <a:xfrm>
            <a:off x="2200321" y="4324380"/>
            <a:ext cx="7791420" cy="133320"/>
          </a:xfrm>
          <a:prstGeom prst="roundRect">
            <a:avLst>
              <a:gd name="adj" fmla="val 48011"/>
            </a:avLst>
          </a:prstGeom>
          <a:solidFill>
            <a:srgbClr val="FFFFFF">
              <a:alpha val="24000"/>
            </a:srgbClr>
          </a:solidFill>
          <a:ln/>
        </p:spPr>
      </p:sp>
      <p:sp>
        <p:nvSpPr>
          <p:cNvPr id="26" name="Text 23"/>
          <p:cNvSpPr txBox="1"/>
          <p:nvPr/>
        </p:nvSpPr>
        <p:spPr>
          <a:xfrm>
            <a:off x="533370" y="4171950"/>
            <a:ext cx="1524030" cy="438180"/>
          </a:xfrm>
          <a:prstGeom prst="rect">
            <a:avLst/>
          </a:prstGeom>
          <a:noFill/>
          <a:ln/>
        </p:spPr>
        <p:txBody>
          <a:bodyPr wrap="square" lIns="0" tIns="0" rIns="0" bIns="0" rtlCol="0" anchor="ctr"/>
          <a:lstStyle/>
          <a:p>
            <a:pPr algn="r" indent="0" marL="0">
              <a:lnSpc>
                <a:spcPct val="105000"/>
              </a:lnSpc>
              <a:buNone/>
            </a:pPr>
            <a:r>
              <a:rPr lang="en-US" sz="1300" b="1" dirty="0">
                <a:solidFill>
                  <a:schemeClr val="bg1"/>
                </a:solidFill>
              </a:rPr>
              <a:t>Ұлттық мүддеге қызмет</a:t>
            </a:r>
            <a:endParaRPr lang="en-US" sz="1300" dirty="0"/>
          </a:p>
        </p:txBody>
      </p:sp>
      <p:sp>
        <p:nvSpPr>
          <p:cNvPr id="27" name="Text 24"/>
          <p:cNvSpPr txBox="1"/>
          <p:nvPr/>
        </p:nvSpPr>
        <p:spPr>
          <a:xfrm>
            <a:off x="10134570" y="4171950"/>
            <a:ext cx="1524030" cy="438180"/>
          </a:xfrm>
          <a:prstGeom prst="rect">
            <a:avLst/>
          </a:prstGeom>
          <a:noFill/>
          <a:ln/>
        </p:spPr>
        <p:txBody>
          <a:bodyPr wrap="square" lIns="0" tIns="0" rIns="0" bIns="0" rtlCol="0" anchor="ctr"/>
          <a:lstStyle/>
          <a:p>
            <a:pPr algn="l" indent="0" marL="0">
              <a:lnSpc>
                <a:spcPct val="105000"/>
              </a:lnSpc>
              <a:buNone/>
            </a:pPr>
            <a:r>
              <a:rPr lang="en-US" sz="1300" b="1" dirty="0">
                <a:solidFill>
                  <a:schemeClr val="bg1"/>
                </a:solidFill>
              </a:rPr>
              <a:t>Академиялық сын</a:t>
            </a:r>
            <a:endParaRPr lang="en-US" sz="1300" dirty="0"/>
          </a:p>
        </p:txBody>
      </p:sp>
      <p:sp>
        <p:nvSpPr>
          <p:cNvPr id="28" name="Text 25"/>
          <p:cNvSpPr/>
          <p:nvPr/>
        </p:nvSpPr>
        <p:spPr>
          <a:xfrm>
            <a:off x="4347240" y="4200571"/>
            <a:ext cx="381030" cy="381030"/>
          </a:xfrm>
          <a:prstGeom prst="ellipse">
            <a:avLst/>
          </a:prstGeom>
          <a:solidFill>
            <a:schemeClr val="accent1"/>
          </a:solidFill>
          <a:ln w="25400">
            <a:solidFill>
              <a:srgbClr val="FFFFFF"/>
            </a:solidFill>
          </a:ln>
        </p:spPr>
        <p:txBody>
          <a:bodyPr wrap="square" lIns="0" tIns="0" rIns="0" bIns="0" rtlCol="0" anchor="ctr"/>
          <a:lstStyle/>
          <a:p>
            <a:pPr algn="ctr" indent="0" marL="0">
              <a:lnSpc>
                <a:spcPct val="100000"/>
              </a:lnSpc>
              <a:buNone/>
            </a:pPr>
            <a:r>
              <a:rPr lang="en-US" sz="1400" b="1" dirty="0">
                <a:solidFill>
                  <a:schemeClr val="bg1"/>
                </a:solidFill>
              </a:rPr>
              <a:t>1</a:t>
            </a:r>
            <a:endParaRPr lang="en-US" sz="1400" dirty="0"/>
          </a:p>
        </p:txBody>
      </p:sp>
      <p:sp>
        <p:nvSpPr>
          <p:cNvPr id="29" name="Text 26"/>
          <p:cNvSpPr/>
          <p:nvPr/>
        </p:nvSpPr>
        <p:spPr>
          <a:xfrm>
            <a:off x="2555199" y="4200571"/>
            <a:ext cx="381030" cy="381030"/>
          </a:xfrm>
          <a:prstGeom prst="ellipse">
            <a:avLst/>
          </a:prstGeom>
          <a:solidFill>
            <a:schemeClr val="accent2"/>
          </a:solidFill>
          <a:ln w="25400">
            <a:solidFill>
              <a:srgbClr val="FFFFFF"/>
            </a:solidFill>
          </a:ln>
        </p:spPr>
        <p:txBody>
          <a:bodyPr wrap="square" lIns="0" tIns="0" rIns="0" bIns="0" rtlCol="0" anchor="ctr"/>
          <a:lstStyle/>
          <a:p>
            <a:pPr algn="ctr" indent="0" marL="0">
              <a:lnSpc>
                <a:spcPct val="100000"/>
              </a:lnSpc>
              <a:buNone/>
            </a:pPr>
            <a:r>
              <a:rPr lang="en-US" sz="1400" b="1" dirty="0">
                <a:solidFill>
                  <a:schemeClr val="bg1"/>
                </a:solidFill>
              </a:rPr>
              <a:t>2</a:t>
            </a:r>
            <a:endParaRPr lang="en-US" sz="1400" dirty="0"/>
          </a:p>
        </p:txBody>
      </p:sp>
      <p:sp>
        <p:nvSpPr>
          <p:cNvPr id="30" name="Text 27"/>
          <p:cNvSpPr/>
          <p:nvPr/>
        </p:nvSpPr>
        <p:spPr>
          <a:xfrm>
            <a:off x="7152162" y="4200571"/>
            <a:ext cx="381030" cy="381030"/>
          </a:xfrm>
          <a:prstGeom prst="ellipse">
            <a:avLst/>
          </a:prstGeom>
          <a:solidFill>
            <a:schemeClr val="accent3"/>
          </a:solidFill>
          <a:ln w="25400">
            <a:solidFill>
              <a:srgbClr val="FFFFFF"/>
            </a:solidFill>
          </a:ln>
        </p:spPr>
        <p:txBody>
          <a:bodyPr wrap="square" lIns="0" tIns="0" rIns="0" bIns="0" rtlCol="0" anchor="ctr"/>
          <a:lstStyle/>
          <a:p>
            <a:pPr algn="ctr" indent="0" marL="0">
              <a:lnSpc>
                <a:spcPct val="100000"/>
              </a:lnSpc>
              <a:buNone/>
            </a:pPr>
            <a:r>
              <a:rPr lang="en-US" sz="1400" b="1" dirty="0">
                <a:solidFill>
                  <a:schemeClr val="bg1"/>
                </a:solidFill>
              </a:rPr>
              <a:t>3</a:t>
            </a:r>
            <a:endParaRPr lang="en-US" sz="1400" dirty="0"/>
          </a:p>
        </p:txBody>
      </p:sp>
      <p:sp>
        <p:nvSpPr>
          <p:cNvPr id="31" name="Text 28"/>
          <p:cNvSpPr/>
          <p:nvPr/>
        </p:nvSpPr>
        <p:spPr>
          <a:xfrm>
            <a:off x="3256361" y="4200571"/>
            <a:ext cx="381030" cy="381030"/>
          </a:xfrm>
          <a:prstGeom prst="ellipse">
            <a:avLst/>
          </a:prstGeom>
          <a:solidFill>
            <a:schemeClr val="accent4"/>
          </a:solidFill>
          <a:ln w="25400">
            <a:solidFill>
              <a:srgbClr val="FFFFFF"/>
            </a:solidFill>
          </a:ln>
        </p:spPr>
        <p:txBody>
          <a:bodyPr wrap="square" lIns="0" tIns="0" rIns="0" bIns="0" rtlCol="0" anchor="ctr"/>
          <a:lstStyle/>
          <a:p>
            <a:pPr algn="ctr" indent="0" marL="0">
              <a:lnSpc>
                <a:spcPct val="100000"/>
              </a:lnSpc>
              <a:buNone/>
            </a:pPr>
            <a:r>
              <a:rPr lang="en-US" sz="1400" b="1" dirty="0">
                <a:solidFill>
                  <a:schemeClr val="bg1"/>
                </a:solidFill>
              </a:rPr>
              <a:t>4</a:t>
            </a:r>
            <a:endParaRPr lang="en-US" sz="1400" dirty="0"/>
          </a:p>
        </p:txBody>
      </p:sp>
      <p:sp>
        <p:nvSpPr>
          <p:cNvPr id="32" name="Text 29"/>
          <p:cNvSpPr/>
          <p:nvPr/>
        </p:nvSpPr>
        <p:spPr>
          <a:xfrm>
            <a:off x="3879708" y="4200571"/>
            <a:ext cx="381030" cy="381030"/>
          </a:xfrm>
          <a:prstGeom prst="ellipse">
            <a:avLst/>
          </a:prstGeom>
          <a:solidFill>
            <a:schemeClr val="accent5"/>
          </a:solidFill>
          <a:ln w="25400">
            <a:solidFill>
              <a:srgbClr val="FFFFFF"/>
            </a:solidFill>
          </a:ln>
        </p:spPr>
        <p:txBody>
          <a:bodyPr wrap="square" lIns="0" tIns="0" rIns="0" bIns="0" rtlCol="0" anchor="ctr"/>
          <a:lstStyle/>
          <a:p>
            <a:pPr algn="ctr" indent="0" marL="0">
              <a:lnSpc>
                <a:spcPct val="100000"/>
              </a:lnSpc>
              <a:buNone/>
            </a:pPr>
            <a:r>
              <a:rPr lang="en-US" sz="1400" b="1" dirty="0">
                <a:solidFill>
                  <a:schemeClr val="bg1"/>
                </a:solidFill>
              </a:rPr>
              <a:t>5</a:t>
            </a:r>
            <a:endParaRPr lang="en-US" sz="1400" dirty="0"/>
          </a:p>
        </p:txBody>
      </p:sp>
      <p:sp>
        <p:nvSpPr>
          <p:cNvPr id="33" name="Text 30"/>
          <p:cNvSpPr/>
          <p:nvPr/>
        </p:nvSpPr>
        <p:spPr>
          <a:xfrm>
            <a:off x="9411645" y="4200571"/>
            <a:ext cx="381030" cy="381030"/>
          </a:xfrm>
          <a:prstGeom prst="ellipse">
            <a:avLst/>
          </a:prstGeom>
          <a:solidFill>
            <a:schemeClr val="accent6"/>
          </a:solidFill>
          <a:ln w="25400">
            <a:solidFill>
              <a:srgbClr val="FFFFFF"/>
            </a:solidFill>
          </a:ln>
        </p:spPr>
        <p:txBody>
          <a:bodyPr wrap="square" lIns="0" tIns="0" rIns="0" bIns="0" rtlCol="0" anchor="ctr"/>
          <a:lstStyle/>
          <a:p>
            <a:pPr algn="ctr" indent="0" marL="0">
              <a:lnSpc>
                <a:spcPct val="100000"/>
              </a:lnSpc>
              <a:buNone/>
            </a:pPr>
            <a:r>
              <a:rPr lang="en-US" sz="1400" b="1" dirty="0">
                <a:solidFill>
                  <a:srgbClr val="2A1600"/>
                </a:solidFill>
              </a:rPr>
              <a:t>6</a:t>
            </a:r>
            <a:endParaRPr lang="en-US" sz="1400" dirty="0"/>
          </a:p>
        </p:txBody>
      </p:sp>
      <p:sp>
        <p:nvSpPr>
          <p:cNvPr id="34" name="Text 31"/>
          <p:cNvSpPr/>
          <p:nvPr/>
        </p:nvSpPr>
        <p:spPr>
          <a:xfrm>
            <a:off x="3028950" y="4943521"/>
            <a:ext cx="190470" cy="190470"/>
          </a:xfrm>
          <a:prstGeom prst="ellipse">
            <a:avLst/>
          </a:prstGeom>
          <a:solidFill>
            <a:schemeClr val="accent1"/>
          </a:solidFill>
          <a:ln/>
        </p:spPr>
        <p:txBody>
          <a:bodyPr wrap="square" lIns="0" tIns="0" rIns="0" bIns="0" rtlCol="0" anchor="ctr"/>
          <a:lstStyle/>
          <a:p>
            <a:pPr algn="ctr" indent="0" marL="0">
              <a:lnSpc>
                <a:spcPct val="100000"/>
              </a:lnSpc>
              <a:buNone/>
            </a:pPr>
            <a:r>
              <a:rPr lang="en-US" sz="900" b="1" dirty="0">
                <a:solidFill>
                  <a:schemeClr val="bg1"/>
                </a:solidFill>
              </a:rPr>
              <a:t>1</a:t>
            </a:r>
            <a:endParaRPr lang="en-US" sz="900" dirty="0"/>
          </a:p>
        </p:txBody>
      </p:sp>
      <p:sp>
        <p:nvSpPr>
          <p:cNvPr id="35" name="Text 32"/>
          <p:cNvSpPr txBox="1"/>
          <p:nvPr/>
        </p:nvSpPr>
        <p:spPr>
          <a:xfrm>
            <a:off x="3295680" y="4943521"/>
            <a:ext cx="138111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Англо-американ</a:t>
            </a:r>
            <a:endParaRPr lang="en-US" sz="1100" dirty="0"/>
          </a:p>
        </p:txBody>
      </p:sp>
      <p:sp>
        <p:nvSpPr>
          <p:cNvPr id="36" name="Text 33"/>
          <p:cNvSpPr/>
          <p:nvPr/>
        </p:nvSpPr>
        <p:spPr>
          <a:xfrm>
            <a:off x="4467210" y="4943521"/>
            <a:ext cx="190470" cy="190470"/>
          </a:xfrm>
          <a:prstGeom prst="ellipse">
            <a:avLst/>
          </a:prstGeom>
          <a:solidFill>
            <a:schemeClr val="accent2"/>
          </a:solidFill>
          <a:ln/>
        </p:spPr>
        <p:txBody>
          <a:bodyPr wrap="square" lIns="0" tIns="0" rIns="0" bIns="0" rtlCol="0" anchor="ctr"/>
          <a:lstStyle/>
          <a:p>
            <a:pPr algn="ctr" indent="0" marL="0">
              <a:lnSpc>
                <a:spcPct val="100000"/>
              </a:lnSpc>
              <a:buNone/>
            </a:pPr>
            <a:r>
              <a:rPr lang="en-US" sz="900" b="1" dirty="0">
                <a:solidFill>
                  <a:schemeClr val="bg1"/>
                </a:solidFill>
              </a:rPr>
              <a:t>2</a:t>
            </a:r>
            <a:endParaRPr lang="en-US" sz="900" dirty="0"/>
          </a:p>
        </p:txBody>
      </p:sp>
      <p:sp>
        <p:nvSpPr>
          <p:cNvPr id="37" name="Text 34"/>
          <p:cNvSpPr txBox="1"/>
          <p:nvPr/>
        </p:nvSpPr>
        <p:spPr>
          <a:xfrm>
            <a:off x="4733940" y="4943521"/>
            <a:ext cx="73344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Неміс</a:t>
            </a:r>
            <a:endParaRPr lang="en-US" sz="1100" dirty="0"/>
          </a:p>
        </p:txBody>
      </p:sp>
      <p:sp>
        <p:nvSpPr>
          <p:cNvPr id="38" name="Text 35"/>
          <p:cNvSpPr/>
          <p:nvPr/>
        </p:nvSpPr>
        <p:spPr>
          <a:xfrm>
            <a:off x="5257800" y="4943521"/>
            <a:ext cx="190470" cy="190470"/>
          </a:xfrm>
          <a:prstGeom prst="ellipse">
            <a:avLst/>
          </a:prstGeom>
          <a:solidFill>
            <a:schemeClr val="accent3"/>
          </a:solidFill>
          <a:ln/>
        </p:spPr>
        <p:txBody>
          <a:bodyPr wrap="square" lIns="0" tIns="0" rIns="0" bIns="0" rtlCol="0" anchor="ctr"/>
          <a:lstStyle/>
          <a:p>
            <a:pPr algn="ctr" indent="0" marL="0">
              <a:lnSpc>
                <a:spcPct val="100000"/>
              </a:lnSpc>
              <a:buNone/>
            </a:pPr>
            <a:r>
              <a:rPr lang="en-US" sz="900" b="1" dirty="0">
                <a:solidFill>
                  <a:schemeClr val="bg1"/>
                </a:solidFill>
              </a:rPr>
              <a:t>3</a:t>
            </a:r>
            <a:endParaRPr lang="en-US" sz="900" dirty="0"/>
          </a:p>
        </p:txBody>
      </p:sp>
      <p:sp>
        <p:nvSpPr>
          <p:cNvPr id="39" name="Text 36"/>
          <p:cNvSpPr txBox="1"/>
          <p:nvPr/>
        </p:nvSpPr>
        <p:spPr>
          <a:xfrm>
            <a:off x="5524530" y="4943521"/>
            <a:ext cx="87627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Француз</a:t>
            </a:r>
            <a:endParaRPr lang="en-US" sz="1100" dirty="0"/>
          </a:p>
        </p:txBody>
      </p:sp>
      <p:sp>
        <p:nvSpPr>
          <p:cNvPr id="40" name="Text 37"/>
          <p:cNvSpPr/>
          <p:nvPr/>
        </p:nvSpPr>
        <p:spPr>
          <a:xfrm>
            <a:off x="6191220" y="4943521"/>
            <a:ext cx="190470" cy="190470"/>
          </a:xfrm>
          <a:prstGeom prst="ellipse">
            <a:avLst/>
          </a:prstGeom>
          <a:solidFill>
            <a:schemeClr val="accent4"/>
          </a:solidFill>
          <a:ln/>
        </p:spPr>
        <p:txBody>
          <a:bodyPr wrap="square" lIns="0" tIns="0" rIns="0" bIns="0" rtlCol="0" anchor="ctr"/>
          <a:lstStyle/>
          <a:p>
            <a:pPr algn="ctr" indent="0" marL="0">
              <a:lnSpc>
                <a:spcPct val="100000"/>
              </a:lnSpc>
              <a:buNone/>
            </a:pPr>
            <a:r>
              <a:rPr lang="en-US" sz="900" b="1" dirty="0">
                <a:solidFill>
                  <a:schemeClr val="bg1"/>
                </a:solidFill>
              </a:rPr>
              <a:t>4</a:t>
            </a:r>
            <a:endParaRPr lang="en-US" sz="900" dirty="0"/>
          </a:p>
        </p:txBody>
      </p:sp>
      <p:sp>
        <p:nvSpPr>
          <p:cNvPr id="41" name="Text 38"/>
          <p:cNvSpPr txBox="1"/>
          <p:nvPr/>
        </p:nvSpPr>
        <p:spPr>
          <a:xfrm>
            <a:off x="6457950" y="4943521"/>
            <a:ext cx="109536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Еуразиялық</a:t>
            </a:r>
            <a:endParaRPr lang="en-US" sz="1100" dirty="0"/>
          </a:p>
        </p:txBody>
      </p:sp>
      <p:sp>
        <p:nvSpPr>
          <p:cNvPr id="42" name="Text 39"/>
          <p:cNvSpPr/>
          <p:nvPr/>
        </p:nvSpPr>
        <p:spPr>
          <a:xfrm>
            <a:off x="7343821" y="4943521"/>
            <a:ext cx="190470" cy="190470"/>
          </a:xfrm>
          <a:prstGeom prst="ellipse">
            <a:avLst/>
          </a:prstGeom>
          <a:solidFill>
            <a:schemeClr val="accent5"/>
          </a:solidFill>
          <a:ln/>
        </p:spPr>
        <p:txBody>
          <a:bodyPr wrap="square" lIns="0" tIns="0" rIns="0" bIns="0" rtlCol="0" anchor="ctr"/>
          <a:lstStyle/>
          <a:p>
            <a:pPr algn="ctr" indent="0" marL="0">
              <a:lnSpc>
                <a:spcPct val="100000"/>
              </a:lnSpc>
              <a:buNone/>
            </a:pPr>
            <a:r>
              <a:rPr lang="en-US" sz="900" b="1" dirty="0">
                <a:solidFill>
                  <a:schemeClr val="bg1"/>
                </a:solidFill>
              </a:rPr>
              <a:t>5</a:t>
            </a:r>
            <a:endParaRPr lang="en-US" sz="900" dirty="0"/>
          </a:p>
        </p:txBody>
      </p:sp>
      <p:sp>
        <p:nvSpPr>
          <p:cNvPr id="43" name="Text 40"/>
          <p:cNvSpPr txBox="1"/>
          <p:nvPr/>
        </p:nvSpPr>
        <p:spPr>
          <a:xfrm>
            <a:off x="7610460" y="4943521"/>
            <a:ext cx="138111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Постбиполярлық</a:t>
            </a:r>
            <a:endParaRPr lang="en-US" sz="1100" dirty="0"/>
          </a:p>
        </p:txBody>
      </p:sp>
      <p:sp>
        <p:nvSpPr>
          <p:cNvPr id="44" name="Text 41"/>
          <p:cNvSpPr/>
          <p:nvPr/>
        </p:nvSpPr>
        <p:spPr>
          <a:xfrm>
            <a:off x="8782080" y="4943521"/>
            <a:ext cx="190470" cy="190470"/>
          </a:xfrm>
          <a:prstGeom prst="ellipse">
            <a:avLst/>
          </a:prstGeom>
          <a:solidFill>
            <a:schemeClr val="accent6"/>
          </a:solidFill>
          <a:ln/>
        </p:spPr>
        <p:txBody>
          <a:bodyPr wrap="square" lIns="0" tIns="0" rIns="0" bIns="0" rtlCol="0" anchor="ctr"/>
          <a:lstStyle/>
          <a:p>
            <a:pPr algn="ctr" indent="0" marL="0">
              <a:lnSpc>
                <a:spcPct val="100000"/>
              </a:lnSpc>
              <a:buNone/>
            </a:pPr>
            <a:r>
              <a:rPr lang="en-US" sz="900" b="1" dirty="0">
                <a:solidFill>
                  <a:srgbClr val="2A1600"/>
                </a:solidFill>
              </a:rPr>
              <a:t>6</a:t>
            </a:r>
            <a:endParaRPr lang="en-US" sz="900" dirty="0"/>
          </a:p>
        </p:txBody>
      </p:sp>
      <p:sp>
        <p:nvSpPr>
          <p:cNvPr id="45" name="Text 42"/>
          <p:cNvSpPr txBox="1"/>
          <p:nvPr/>
        </p:nvSpPr>
        <p:spPr>
          <a:xfrm>
            <a:off x="9048720" y="4943521"/>
            <a:ext cx="666780" cy="190470"/>
          </a:xfrm>
          <a:prstGeom prst="rect">
            <a:avLst/>
          </a:prstGeom>
          <a:noFill/>
          <a:ln/>
        </p:spPr>
        <p:txBody>
          <a:bodyPr wrap="square" lIns="0" tIns="0" rIns="0" bIns="0" rtlCol="0" anchor="t"/>
          <a:lstStyle/>
          <a:p>
            <a:pPr algn="l" indent="0" marL="0">
              <a:lnSpc>
                <a:spcPct val="105000"/>
              </a:lnSpc>
              <a:buNone/>
            </a:pPr>
            <a:r>
              <a:rPr lang="en-US" sz="1100" b="1" dirty="0">
                <a:solidFill>
                  <a:schemeClr val="bg1"/>
                </a:solidFill>
              </a:rPr>
              <a:t>Сыни</a:t>
            </a:r>
            <a:endParaRPr lang="en-US" sz="1100" dirty="0"/>
          </a:p>
        </p:txBody>
      </p:sp>
      <p:sp>
        <p:nvSpPr>
          <p:cNvPr id="46" name="Shape 43"/>
          <p:cNvSpPr/>
          <p:nvPr/>
        </p:nvSpPr>
        <p:spPr>
          <a:xfrm>
            <a:off x="533370" y="5353080"/>
            <a:ext cx="11125230" cy="666780"/>
          </a:xfrm>
          <a:prstGeom prst="roundRect">
            <a:avLst>
              <a:gd name="adj" fmla="val 19199"/>
            </a:avLst>
          </a:prstGeom>
          <a:solidFill>
            <a:srgbClr val="11998E">
              <a:alpha val="45000"/>
            </a:srgbClr>
          </a:solidFill>
          <a:ln/>
        </p:spPr>
      </p:sp>
      <p:sp>
        <p:nvSpPr>
          <p:cNvPr id="47" name="Text 44"/>
          <p:cNvSpPr txBox="1"/>
          <p:nvPr/>
        </p:nvSpPr>
        <p:spPr>
          <a:xfrm>
            <a:off x="761970" y="5391120"/>
            <a:ext cx="10668030" cy="590520"/>
          </a:xfrm>
          <a:prstGeom prst="rect">
            <a:avLst/>
          </a:prstGeom>
          <a:noFill/>
          <a:ln/>
        </p:spPr>
        <p:txBody>
          <a:bodyPr wrap="square" lIns="0" tIns="0" rIns="0" bIns="0" rtlCol="0" anchor="ctr"/>
          <a:lstStyle/>
          <a:p>
            <a:pPr algn="l" indent="0" marL="0">
              <a:lnSpc>
                <a:spcPct val="105000"/>
              </a:lnSpc>
              <a:buNone/>
            </a:pPr>
            <a:r>
              <a:rPr lang="en-US" sz="1500" dirty="0">
                <a:solidFill>
                  <a:schemeClr val="bg1"/>
                </a:solidFill>
              </a:rPr>
              <a:t>💡 Классикалық мектептер: </a:t>
            </a:r>
            <a:pPr algn="l" indent="0" marL="0">
              <a:lnSpc>
                <a:spcPct val="105000"/>
              </a:lnSpc>
              <a:buNone/>
            </a:pPr>
            <a:r>
              <a:rPr lang="en-US" sz="1500" b="1" dirty="0">
                <a:solidFill>
                  <a:schemeClr val="bg1"/>
                </a:solidFill>
              </a:rPr>
              <a:t>«кеңістік тағдырды анықтайды»</a:t>
            </a:r>
            <a:pPr algn="l" indent="0" marL="0">
              <a:lnSpc>
                <a:spcPct val="105000"/>
              </a:lnSpc>
              <a:buNone/>
            </a:pPr>
            <a:r>
              <a:rPr lang="en-US" sz="1500" dirty="0">
                <a:solidFill>
                  <a:schemeClr val="bg1"/>
                </a:solidFill>
              </a:rPr>
              <a:t> → заманауи мектептер: </a:t>
            </a:r>
            <a:pPr algn="l" indent="0" marL="0">
              <a:lnSpc>
                <a:spcPct val="105000"/>
              </a:lnSpc>
              <a:buNone/>
            </a:pPr>
            <a:r>
              <a:rPr lang="en-US" sz="1500" b="1" dirty="0">
                <a:solidFill>
                  <a:schemeClr val="bg1"/>
                </a:solidFill>
              </a:rPr>
              <a:t>«кеңістіктің мағынасын адамдар мен дискурс жасайды»</a:t>
            </a:r>
            <a:endParaRPr lang="en-US" sz="1500" dirty="0"/>
          </a:p>
        </p:txBody>
      </p:sp>
      <p:sp>
        <p:nvSpPr>
          <p:cNvPr id="48" name="Text 45"/>
          <p:cNvSpPr txBox="1"/>
          <p:nvPr/>
        </p:nvSpPr>
        <p:spPr>
          <a:xfrm>
            <a:off x="533370" y="6476970"/>
            <a:ext cx="4762470" cy="190470"/>
          </a:xfrm>
          <a:prstGeom prst="rect">
            <a:avLst/>
          </a:prstGeom>
          <a:noFill/>
          <a:ln/>
        </p:spPr>
        <p:txBody>
          <a:bodyPr wrap="square" lIns="0" tIns="0" rIns="0" bIns="0" rtlCol="0" anchor="t"/>
          <a:lstStyle/>
          <a:p>
            <a:pPr algn="l" indent="0" marL="0">
              <a:lnSpc>
                <a:spcPct val="105000"/>
              </a:lnSpc>
              <a:buNone/>
            </a:pPr>
            <a:r>
              <a:rPr lang="en-US" sz="1000" dirty="0">
                <a:solidFill>
                  <a:srgbClr val="C9C2EC"/>
                </a:solidFill>
              </a:rPr>
              <a:t>* Орналасуы — топтың авторлық бағалауы</a:t>
            </a:r>
            <a:endParaRPr lang="en-US" sz="1000" dirty="0"/>
          </a:p>
        </p:txBody>
      </p:sp>
      <p:sp>
        <p:nvSpPr>
          <p:cNvPr id="25" name="Slide Number Placeholder 0"/>
          <p:cNvSpPr>
            <a:spLocks noGrp="1"/>
          </p:cNvSpPr>
          <p:nvPr>
            <p:ph type="sldNum" sz="quarter" idx="4294967295"/>
          </p:nvPr>
        </p:nvSpPr>
        <p:spPr>
          <a:xfrm>
            <a:off x="10953780" y="6515100"/>
            <a:ext cx="7619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C9C2E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33370" y="800100"/>
            <a:ext cx="11125230" cy="533370"/>
          </a:xfrm>
          <a:prstGeom prst="rect">
            <a:avLst/>
          </a:prstGeom>
          <a:noFill/>
          <a:ln/>
        </p:spPr>
        <p:txBody>
          <a:bodyPr wrap="square" lIns="0" tIns="0" rIns="0" bIns="0" rtlCol="0" anchor="t"/>
          <a:lstStyle/>
          <a:p>
            <a:pPr algn="l" indent="0" marL="0">
              <a:buNone/>
            </a:pPr>
            <a:r>
              <a:rPr lang="en-US" sz="3200" b="1" dirty="0">
                <a:solidFill>
                  <a:schemeClr val="bg1"/>
                </a:solidFill>
              </a:rPr>
              <a:t>Әдіснамалық талдау: мектептер қалай зерттейді?</a:t>
            </a:r>
            <a:endParaRPr lang="en-US" sz="3200" dirty="0"/>
          </a:p>
        </p:txBody>
      </p:sp>
      <p:sp>
        <p:nvSpPr>
          <p:cNvPr id="4" name="Tag"/>
          <p:cNvSpPr/>
          <p:nvPr/>
        </p:nvSpPr>
        <p:spPr>
          <a:xfrm>
            <a:off x="533370" y="419070"/>
            <a:ext cx="1457371" cy="285750"/>
          </a:xfrm>
          <a:prstGeom prst="roundRect">
            <a:avLst>
              <a:gd name="adj" fmla="val 50000"/>
            </a:avLst>
          </a:prstGeom>
          <a:solidFill>
            <a:schemeClr val="accent5"/>
          </a:solidFill>
          <a:ln/>
        </p:spPr>
        <p:txBody>
          <a:bodyPr wrap="square" lIns="0" tIns="0" rIns="0" bIns="0" rtlCol="0" anchor="ctr"/>
          <a:lstStyle/>
          <a:p>
            <a:pPr algn="ctr" indent="0" marL="0">
              <a:lnSpc>
                <a:spcPct val="100000"/>
              </a:lnSpc>
              <a:buNone/>
            </a:pPr>
            <a:r>
              <a:rPr lang="en-US" sz="1100" b="1" spc="150" kern="0" dirty="0">
                <a:solidFill>
                  <a:schemeClr val="bg1"/>
                </a:solidFill>
              </a:rPr>
              <a:t>САЛЫСТЫРУ · 4</a:t>
            </a:r>
            <a:endParaRPr lang="en-US" sz="1100" dirty="0"/>
          </a:p>
        </p:txBody>
      </p:sp>
      <p:sp>
        <p:nvSpPr>
          <p:cNvPr id="5" name="Text 2"/>
          <p:cNvSpPr/>
          <p:nvPr/>
        </p:nvSpPr>
        <p:spPr>
          <a:xfrm>
            <a:off x="4248120" y="1466880"/>
            <a:ext cx="381030" cy="381030"/>
          </a:xfrm>
          <a:prstGeom prst="ellipse">
            <a:avLst/>
          </a:prstGeom>
          <a:solidFill>
            <a:schemeClr val="accent1"/>
          </a:solidFill>
          <a:ln/>
        </p:spPr>
        <p:txBody>
          <a:bodyPr wrap="square" lIns="0" tIns="0" rIns="0" bIns="0" rtlCol="0" anchor="ctr"/>
          <a:lstStyle/>
          <a:p>
            <a:pPr algn="ctr" indent="0" marL="0">
              <a:lnSpc>
                <a:spcPct val="100000"/>
              </a:lnSpc>
              <a:buNone/>
            </a:pPr>
            <a:r>
              <a:rPr lang="en-US" sz="1500" b="1" dirty="0">
                <a:solidFill>
                  <a:schemeClr val="bg1"/>
                </a:solidFill>
              </a:rPr>
              <a:t>1</a:t>
            </a:r>
            <a:endParaRPr lang="en-US" sz="1500" dirty="0"/>
          </a:p>
        </p:txBody>
      </p:sp>
      <p:sp>
        <p:nvSpPr>
          <p:cNvPr id="6" name="Text 3"/>
          <p:cNvSpPr/>
          <p:nvPr/>
        </p:nvSpPr>
        <p:spPr>
          <a:xfrm>
            <a:off x="4953030" y="1466880"/>
            <a:ext cx="381030" cy="381030"/>
          </a:xfrm>
          <a:prstGeom prst="ellipse">
            <a:avLst/>
          </a:prstGeom>
          <a:solidFill>
            <a:schemeClr val="accent2"/>
          </a:solidFill>
          <a:ln/>
        </p:spPr>
        <p:txBody>
          <a:bodyPr wrap="square" lIns="0" tIns="0" rIns="0" bIns="0" rtlCol="0" anchor="ctr"/>
          <a:lstStyle/>
          <a:p>
            <a:pPr algn="ctr" indent="0" marL="0">
              <a:lnSpc>
                <a:spcPct val="100000"/>
              </a:lnSpc>
              <a:buNone/>
            </a:pPr>
            <a:r>
              <a:rPr lang="en-US" sz="1500" b="1" dirty="0">
                <a:solidFill>
                  <a:schemeClr val="bg1"/>
                </a:solidFill>
              </a:rPr>
              <a:t>2</a:t>
            </a:r>
            <a:endParaRPr lang="en-US" sz="1500" dirty="0"/>
          </a:p>
        </p:txBody>
      </p:sp>
      <p:sp>
        <p:nvSpPr>
          <p:cNvPr id="7" name="Text 4"/>
          <p:cNvSpPr/>
          <p:nvPr/>
        </p:nvSpPr>
        <p:spPr>
          <a:xfrm>
            <a:off x="5657850" y="1466880"/>
            <a:ext cx="381030" cy="381030"/>
          </a:xfrm>
          <a:prstGeom prst="ellipse">
            <a:avLst/>
          </a:prstGeom>
          <a:solidFill>
            <a:schemeClr val="accent3"/>
          </a:solidFill>
          <a:ln/>
        </p:spPr>
        <p:txBody>
          <a:bodyPr wrap="square" lIns="0" tIns="0" rIns="0" bIns="0" rtlCol="0" anchor="ctr"/>
          <a:lstStyle/>
          <a:p>
            <a:pPr algn="ctr" indent="0" marL="0">
              <a:lnSpc>
                <a:spcPct val="100000"/>
              </a:lnSpc>
              <a:buNone/>
            </a:pPr>
            <a:r>
              <a:rPr lang="en-US" sz="1500" b="1" dirty="0">
                <a:solidFill>
                  <a:schemeClr val="bg1"/>
                </a:solidFill>
              </a:rPr>
              <a:t>3</a:t>
            </a:r>
            <a:endParaRPr lang="en-US" sz="1500" dirty="0"/>
          </a:p>
        </p:txBody>
      </p:sp>
      <p:sp>
        <p:nvSpPr>
          <p:cNvPr id="8" name="Text 5"/>
          <p:cNvSpPr/>
          <p:nvPr/>
        </p:nvSpPr>
        <p:spPr>
          <a:xfrm>
            <a:off x="6362670" y="1466880"/>
            <a:ext cx="381030" cy="381030"/>
          </a:xfrm>
          <a:prstGeom prst="ellipse">
            <a:avLst/>
          </a:prstGeom>
          <a:solidFill>
            <a:schemeClr val="accent4"/>
          </a:solidFill>
          <a:ln/>
        </p:spPr>
        <p:txBody>
          <a:bodyPr wrap="square" lIns="0" tIns="0" rIns="0" bIns="0" rtlCol="0" anchor="ctr"/>
          <a:lstStyle/>
          <a:p>
            <a:pPr algn="ctr" indent="0" marL="0">
              <a:lnSpc>
                <a:spcPct val="100000"/>
              </a:lnSpc>
              <a:buNone/>
            </a:pPr>
            <a:r>
              <a:rPr lang="en-US" sz="1500" b="1" dirty="0">
                <a:solidFill>
                  <a:schemeClr val="bg1"/>
                </a:solidFill>
              </a:rPr>
              <a:t>4</a:t>
            </a:r>
            <a:endParaRPr lang="en-US" sz="1500" dirty="0"/>
          </a:p>
        </p:txBody>
      </p:sp>
      <p:sp>
        <p:nvSpPr>
          <p:cNvPr id="9" name="Text 6"/>
          <p:cNvSpPr/>
          <p:nvPr/>
        </p:nvSpPr>
        <p:spPr>
          <a:xfrm>
            <a:off x="7067580" y="1466880"/>
            <a:ext cx="381030" cy="381030"/>
          </a:xfrm>
          <a:prstGeom prst="ellipse">
            <a:avLst/>
          </a:prstGeom>
          <a:solidFill>
            <a:schemeClr val="accent5"/>
          </a:solidFill>
          <a:ln/>
        </p:spPr>
        <p:txBody>
          <a:bodyPr wrap="square" lIns="0" tIns="0" rIns="0" bIns="0" rtlCol="0" anchor="ctr"/>
          <a:lstStyle/>
          <a:p>
            <a:pPr algn="ctr" indent="0" marL="0">
              <a:lnSpc>
                <a:spcPct val="100000"/>
              </a:lnSpc>
              <a:buNone/>
            </a:pPr>
            <a:r>
              <a:rPr lang="en-US" sz="1500" b="1" dirty="0">
                <a:solidFill>
                  <a:schemeClr val="bg1"/>
                </a:solidFill>
              </a:rPr>
              <a:t>5</a:t>
            </a:r>
            <a:endParaRPr lang="en-US" sz="1500" dirty="0"/>
          </a:p>
        </p:txBody>
      </p:sp>
      <p:sp>
        <p:nvSpPr>
          <p:cNvPr id="10" name="Text 7"/>
          <p:cNvSpPr/>
          <p:nvPr/>
        </p:nvSpPr>
        <p:spPr>
          <a:xfrm>
            <a:off x="7772400" y="1466880"/>
            <a:ext cx="381030" cy="381030"/>
          </a:xfrm>
          <a:prstGeom prst="ellipse">
            <a:avLst/>
          </a:prstGeom>
          <a:solidFill>
            <a:schemeClr val="accent6"/>
          </a:solidFill>
          <a:ln/>
        </p:spPr>
        <p:txBody>
          <a:bodyPr wrap="square" lIns="0" tIns="0" rIns="0" bIns="0" rtlCol="0" anchor="ctr"/>
          <a:lstStyle/>
          <a:p>
            <a:pPr algn="ctr" indent="0" marL="0">
              <a:lnSpc>
                <a:spcPct val="100000"/>
              </a:lnSpc>
              <a:buNone/>
            </a:pPr>
            <a:r>
              <a:rPr lang="en-US" sz="1500" b="1" dirty="0">
                <a:solidFill>
                  <a:srgbClr val="2A1600"/>
                </a:solidFill>
              </a:rPr>
              <a:t>6</a:t>
            </a:r>
            <a:endParaRPr lang="en-US" sz="1500" dirty="0"/>
          </a:p>
        </p:txBody>
      </p:sp>
      <p:sp>
        <p:nvSpPr>
          <p:cNvPr id="11" name="Shape 8"/>
          <p:cNvSpPr/>
          <p:nvPr/>
        </p:nvSpPr>
        <p:spPr>
          <a:xfrm>
            <a:off x="533370" y="1943100"/>
            <a:ext cx="3486150" cy="571500"/>
          </a:xfrm>
          <a:prstGeom prst="roundRect">
            <a:avLst>
              <a:gd name="adj" fmla="val 22400"/>
            </a:avLst>
          </a:prstGeom>
          <a:solidFill>
            <a:srgbClr val="FFFFFF">
              <a:alpha val="10000"/>
            </a:srgbClr>
          </a:solidFill>
          <a:ln/>
        </p:spPr>
      </p:sp>
      <p:sp>
        <p:nvSpPr>
          <p:cNvPr id="12" name="Text 9"/>
          <p:cNvSpPr txBox="1"/>
          <p:nvPr/>
        </p:nvSpPr>
        <p:spPr>
          <a:xfrm>
            <a:off x="685800" y="1943100"/>
            <a:ext cx="3276570" cy="571500"/>
          </a:xfrm>
          <a:prstGeom prst="rect">
            <a:avLst/>
          </a:prstGeom>
          <a:noFill/>
          <a:ln/>
        </p:spPr>
        <p:txBody>
          <a:bodyPr wrap="square" lIns="0" tIns="0" rIns="0" bIns="0" rtlCol="0" anchor="ctr"/>
          <a:lstStyle/>
          <a:p>
            <a:pPr algn="l" indent="0" marL="0">
              <a:lnSpc>
                <a:spcPct val="105000"/>
              </a:lnSpc>
              <a:buNone/>
            </a:pPr>
            <a:r>
              <a:rPr lang="en-US" sz="1400" b="1" dirty="0">
                <a:solidFill>
                  <a:schemeClr val="bg1"/>
                </a:solidFill>
              </a:rPr>
              <a:t>📜  Тарихи-салыстырмалы әдіс</a:t>
            </a:r>
            <a:endParaRPr lang="en-US" sz="1400" dirty="0"/>
          </a:p>
        </p:txBody>
      </p:sp>
      <p:sp>
        <p:nvSpPr>
          <p:cNvPr id="13" name="Shape 10"/>
          <p:cNvSpPr/>
          <p:nvPr/>
        </p:nvSpPr>
        <p:spPr>
          <a:xfrm>
            <a:off x="4114800" y="1943100"/>
            <a:ext cx="647670" cy="571500"/>
          </a:xfrm>
          <a:prstGeom prst="roundRect">
            <a:avLst>
              <a:gd name="adj" fmla="val 22400"/>
            </a:avLst>
          </a:prstGeom>
          <a:solidFill>
            <a:srgbClr val="FFFFFF">
              <a:alpha val="5000"/>
            </a:srgbClr>
          </a:solidFill>
          <a:ln/>
        </p:spPr>
      </p:sp>
      <p:sp>
        <p:nvSpPr>
          <p:cNvPr id="14" name="Shape 11"/>
          <p:cNvSpPr/>
          <p:nvPr/>
        </p:nvSpPr>
        <p:spPr>
          <a:xfrm>
            <a:off x="4305270" y="2095530"/>
            <a:ext cx="266730" cy="266730"/>
          </a:xfrm>
          <a:prstGeom prst="ellipse">
            <a:avLst/>
          </a:prstGeom>
          <a:solidFill>
            <a:schemeClr val="accent1"/>
          </a:solidFill>
          <a:ln/>
        </p:spPr>
      </p:sp>
      <p:sp>
        <p:nvSpPr>
          <p:cNvPr id="15" name="Shape 12"/>
          <p:cNvSpPr/>
          <p:nvPr/>
        </p:nvSpPr>
        <p:spPr>
          <a:xfrm>
            <a:off x="4819620" y="1943100"/>
            <a:ext cx="647670" cy="571500"/>
          </a:xfrm>
          <a:prstGeom prst="roundRect">
            <a:avLst>
              <a:gd name="adj" fmla="val 22400"/>
            </a:avLst>
          </a:prstGeom>
          <a:solidFill>
            <a:srgbClr val="FFFFFF">
              <a:alpha val="5000"/>
            </a:srgbClr>
          </a:solidFill>
          <a:ln/>
        </p:spPr>
      </p:sp>
      <p:sp>
        <p:nvSpPr>
          <p:cNvPr id="16" name="Shape 13"/>
          <p:cNvSpPr/>
          <p:nvPr/>
        </p:nvSpPr>
        <p:spPr>
          <a:xfrm>
            <a:off x="5029200" y="2114550"/>
            <a:ext cx="228600" cy="228600"/>
          </a:xfrm>
          <a:prstGeom prst="ellipse">
            <a:avLst/>
          </a:prstGeom>
          <a:noFill/>
          <a:ln w="44450">
            <a:solidFill>
              <a:schemeClr val="accent2"/>
            </a:solidFill>
            <a:prstDash val="solid"/>
          </a:ln>
        </p:spPr>
      </p:sp>
      <p:sp>
        <p:nvSpPr>
          <p:cNvPr id="17" name="Shape 14"/>
          <p:cNvSpPr/>
          <p:nvPr/>
        </p:nvSpPr>
        <p:spPr>
          <a:xfrm>
            <a:off x="5524530" y="1943100"/>
            <a:ext cx="647670" cy="571500"/>
          </a:xfrm>
          <a:prstGeom prst="roundRect">
            <a:avLst>
              <a:gd name="adj" fmla="val 22400"/>
            </a:avLst>
          </a:prstGeom>
          <a:solidFill>
            <a:srgbClr val="FFFFFF">
              <a:alpha val="5000"/>
            </a:srgbClr>
          </a:solidFill>
          <a:ln/>
        </p:spPr>
      </p:sp>
      <p:sp>
        <p:nvSpPr>
          <p:cNvPr id="18" name="Shape 15"/>
          <p:cNvSpPr/>
          <p:nvPr/>
        </p:nvSpPr>
        <p:spPr>
          <a:xfrm>
            <a:off x="5715000" y="2095530"/>
            <a:ext cx="266730" cy="266730"/>
          </a:xfrm>
          <a:prstGeom prst="ellipse">
            <a:avLst/>
          </a:prstGeom>
          <a:solidFill>
            <a:schemeClr val="accent3"/>
          </a:solidFill>
          <a:ln/>
        </p:spPr>
      </p:sp>
      <p:sp>
        <p:nvSpPr>
          <p:cNvPr id="19" name="Shape 16"/>
          <p:cNvSpPr/>
          <p:nvPr/>
        </p:nvSpPr>
        <p:spPr>
          <a:xfrm>
            <a:off x="6229350" y="1943100"/>
            <a:ext cx="647670" cy="571500"/>
          </a:xfrm>
          <a:prstGeom prst="roundRect">
            <a:avLst>
              <a:gd name="adj" fmla="val 22400"/>
            </a:avLst>
          </a:prstGeom>
          <a:solidFill>
            <a:srgbClr val="FFFFFF">
              <a:alpha val="5000"/>
            </a:srgbClr>
          </a:solidFill>
          <a:ln/>
        </p:spPr>
      </p:sp>
      <p:sp>
        <p:nvSpPr>
          <p:cNvPr id="20" name="Shape 17"/>
          <p:cNvSpPr/>
          <p:nvPr/>
        </p:nvSpPr>
        <p:spPr>
          <a:xfrm>
            <a:off x="6419820" y="2095530"/>
            <a:ext cx="266730" cy="266730"/>
          </a:xfrm>
          <a:prstGeom prst="ellipse">
            <a:avLst/>
          </a:prstGeom>
          <a:solidFill>
            <a:schemeClr val="accent4"/>
          </a:solidFill>
          <a:ln/>
        </p:spPr>
      </p:sp>
      <p:sp>
        <p:nvSpPr>
          <p:cNvPr id="21" name="Shape 18"/>
          <p:cNvSpPr/>
          <p:nvPr/>
        </p:nvSpPr>
        <p:spPr>
          <a:xfrm>
            <a:off x="6934170" y="1943100"/>
            <a:ext cx="647670" cy="571500"/>
          </a:xfrm>
          <a:prstGeom prst="roundRect">
            <a:avLst>
              <a:gd name="adj" fmla="val 22400"/>
            </a:avLst>
          </a:prstGeom>
          <a:solidFill>
            <a:srgbClr val="FFFFFF">
              <a:alpha val="5000"/>
            </a:srgbClr>
          </a:solidFill>
          <a:ln/>
        </p:spPr>
      </p:sp>
      <p:sp>
        <p:nvSpPr>
          <p:cNvPr id="22" name="Shape 19"/>
          <p:cNvSpPr/>
          <p:nvPr/>
        </p:nvSpPr>
        <p:spPr>
          <a:xfrm>
            <a:off x="7143750" y="2114550"/>
            <a:ext cx="228600" cy="228600"/>
          </a:xfrm>
          <a:prstGeom prst="ellipse">
            <a:avLst/>
          </a:prstGeom>
          <a:noFill/>
          <a:ln w="44450">
            <a:solidFill>
              <a:schemeClr val="accent5"/>
            </a:solidFill>
            <a:prstDash val="solid"/>
          </a:ln>
        </p:spPr>
      </p:sp>
      <p:sp>
        <p:nvSpPr>
          <p:cNvPr id="23" name="Shape 20"/>
          <p:cNvSpPr/>
          <p:nvPr/>
        </p:nvSpPr>
        <p:spPr>
          <a:xfrm>
            <a:off x="7639080" y="1943100"/>
            <a:ext cx="647670" cy="571500"/>
          </a:xfrm>
          <a:prstGeom prst="roundRect">
            <a:avLst>
              <a:gd name="adj" fmla="val 22400"/>
            </a:avLst>
          </a:prstGeom>
          <a:solidFill>
            <a:srgbClr val="FFFFFF">
              <a:alpha val="5000"/>
            </a:srgbClr>
          </a:solidFill>
          <a:ln/>
        </p:spPr>
      </p:sp>
      <p:sp>
        <p:nvSpPr>
          <p:cNvPr id="24" name="Shape 21"/>
          <p:cNvSpPr/>
          <p:nvPr/>
        </p:nvSpPr>
        <p:spPr>
          <a:xfrm>
            <a:off x="7848570" y="2114550"/>
            <a:ext cx="228600" cy="228600"/>
          </a:xfrm>
          <a:prstGeom prst="ellipse">
            <a:avLst/>
          </a:prstGeom>
          <a:noFill/>
          <a:ln w="44450">
            <a:solidFill>
              <a:schemeClr val="accent6"/>
            </a:solidFill>
            <a:prstDash val="solid"/>
          </a:ln>
        </p:spPr>
      </p:sp>
      <p:sp>
        <p:nvSpPr>
          <p:cNvPr id="25" name="Shape 22"/>
          <p:cNvSpPr/>
          <p:nvPr/>
        </p:nvSpPr>
        <p:spPr>
          <a:xfrm>
            <a:off x="533370" y="2590770"/>
            <a:ext cx="3486150" cy="571500"/>
          </a:xfrm>
          <a:prstGeom prst="roundRect">
            <a:avLst>
              <a:gd name="adj" fmla="val 22400"/>
            </a:avLst>
          </a:prstGeom>
          <a:solidFill>
            <a:srgbClr val="FFFFFF">
              <a:alpha val="10000"/>
            </a:srgbClr>
          </a:solidFill>
          <a:ln/>
        </p:spPr>
      </p:sp>
      <p:sp>
        <p:nvSpPr>
          <p:cNvPr id="26" name="Text 23"/>
          <p:cNvSpPr txBox="1"/>
          <p:nvPr/>
        </p:nvSpPr>
        <p:spPr>
          <a:xfrm>
            <a:off x="685800" y="2590770"/>
            <a:ext cx="3276570" cy="571500"/>
          </a:xfrm>
          <a:prstGeom prst="rect">
            <a:avLst/>
          </a:prstGeom>
          <a:noFill/>
          <a:ln/>
        </p:spPr>
        <p:txBody>
          <a:bodyPr wrap="square" lIns="0" tIns="0" rIns="0" bIns="0" rtlCol="0" anchor="ctr"/>
          <a:lstStyle/>
          <a:p>
            <a:pPr algn="l" indent="0" marL="0">
              <a:lnSpc>
                <a:spcPct val="105000"/>
              </a:lnSpc>
              <a:buNone/>
            </a:pPr>
            <a:r>
              <a:rPr lang="en-US" sz="1400" b="1" dirty="0">
                <a:solidFill>
                  <a:schemeClr val="bg1"/>
                </a:solidFill>
              </a:rPr>
              <a:t>🗺️  Картографиялық модельдеу</a:t>
            </a:r>
            <a:endParaRPr lang="en-US" sz="1400" dirty="0"/>
          </a:p>
        </p:txBody>
      </p:sp>
      <p:sp>
        <p:nvSpPr>
          <p:cNvPr id="27" name="Shape 24"/>
          <p:cNvSpPr/>
          <p:nvPr/>
        </p:nvSpPr>
        <p:spPr>
          <a:xfrm>
            <a:off x="4114800" y="2590770"/>
            <a:ext cx="647670" cy="571500"/>
          </a:xfrm>
          <a:prstGeom prst="roundRect">
            <a:avLst>
              <a:gd name="adj" fmla="val 22400"/>
            </a:avLst>
          </a:prstGeom>
          <a:solidFill>
            <a:srgbClr val="FFFFFF">
              <a:alpha val="5000"/>
            </a:srgbClr>
          </a:solidFill>
          <a:ln/>
        </p:spPr>
      </p:sp>
      <p:sp>
        <p:nvSpPr>
          <p:cNvPr id="28" name="Shape 25"/>
          <p:cNvSpPr/>
          <p:nvPr/>
        </p:nvSpPr>
        <p:spPr>
          <a:xfrm>
            <a:off x="4305270" y="2743200"/>
            <a:ext cx="266730" cy="266730"/>
          </a:xfrm>
          <a:prstGeom prst="ellipse">
            <a:avLst/>
          </a:prstGeom>
          <a:solidFill>
            <a:schemeClr val="accent1"/>
          </a:solidFill>
          <a:ln/>
        </p:spPr>
      </p:sp>
      <p:sp>
        <p:nvSpPr>
          <p:cNvPr id="29" name="Shape 26"/>
          <p:cNvSpPr/>
          <p:nvPr/>
        </p:nvSpPr>
        <p:spPr>
          <a:xfrm>
            <a:off x="4819620" y="2590770"/>
            <a:ext cx="647670" cy="571500"/>
          </a:xfrm>
          <a:prstGeom prst="roundRect">
            <a:avLst>
              <a:gd name="adj" fmla="val 22400"/>
            </a:avLst>
          </a:prstGeom>
          <a:solidFill>
            <a:srgbClr val="FFFFFF">
              <a:alpha val="5000"/>
            </a:srgbClr>
          </a:solidFill>
          <a:ln/>
        </p:spPr>
      </p:sp>
      <p:sp>
        <p:nvSpPr>
          <p:cNvPr id="30" name="Shape 27"/>
          <p:cNvSpPr/>
          <p:nvPr/>
        </p:nvSpPr>
        <p:spPr>
          <a:xfrm>
            <a:off x="5010180" y="2743200"/>
            <a:ext cx="266730" cy="266730"/>
          </a:xfrm>
          <a:prstGeom prst="ellipse">
            <a:avLst/>
          </a:prstGeom>
          <a:solidFill>
            <a:schemeClr val="accent2"/>
          </a:solidFill>
          <a:ln/>
        </p:spPr>
      </p:sp>
      <p:sp>
        <p:nvSpPr>
          <p:cNvPr id="31" name="Shape 28"/>
          <p:cNvSpPr/>
          <p:nvPr/>
        </p:nvSpPr>
        <p:spPr>
          <a:xfrm>
            <a:off x="5524530" y="2590770"/>
            <a:ext cx="647670" cy="571500"/>
          </a:xfrm>
          <a:prstGeom prst="roundRect">
            <a:avLst>
              <a:gd name="adj" fmla="val 22400"/>
            </a:avLst>
          </a:prstGeom>
          <a:solidFill>
            <a:srgbClr val="FFFFFF">
              <a:alpha val="5000"/>
            </a:srgbClr>
          </a:solidFill>
          <a:ln/>
        </p:spPr>
      </p:sp>
      <p:sp>
        <p:nvSpPr>
          <p:cNvPr id="32" name="Shape 29"/>
          <p:cNvSpPr/>
          <p:nvPr/>
        </p:nvSpPr>
        <p:spPr>
          <a:xfrm>
            <a:off x="5734020" y="2762220"/>
            <a:ext cx="228600" cy="228600"/>
          </a:xfrm>
          <a:prstGeom prst="ellipse">
            <a:avLst/>
          </a:prstGeom>
          <a:noFill/>
          <a:ln w="44450">
            <a:solidFill>
              <a:schemeClr val="accent3"/>
            </a:solidFill>
            <a:prstDash val="solid"/>
          </a:ln>
        </p:spPr>
      </p:sp>
      <p:sp>
        <p:nvSpPr>
          <p:cNvPr id="33" name="Shape 30"/>
          <p:cNvSpPr/>
          <p:nvPr/>
        </p:nvSpPr>
        <p:spPr>
          <a:xfrm>
            <a:off x="6229350" y="2590770"/>
            <a:ext cx="647670" cy="571500"/>
          </a:xfrm>
          <a:prstGeom prst="roundRect">
            <a:avLst>
              <a:gd name="adj" fmla="val 22400"/>
            </a:avLst>
          </a:prstGeom>
          <a:solidFill>
            <a:srgbClr val="FFFFFF">
              <a:alpha val="5000"/>
            </a:srgbClr>
          </a:solidFill>
          <a:ln/>
        </p:spPr>
      </p:sp>
      <p:sp>
        <p:nvSpPr>
          <p:cNvPr id="34" name="Shape 31"/>
          <p:cNvSpPr/>
          <p:nvPr/>
        </p:nvSpPr>
        <p:spPr>
          <a:xfrm>
            <a:off x="6438930" y="2762220"/>
            <a:ext cx="228600" cy="228600"/>
          </a:xfrm>
          <a:prstGeom prst="ellipse">
            <a:avLst/>
          </a:prstGeom>
          <a:noFill/>
          <a:ln w="44450">
            <a:solidFill>
              <a:schemeClr val="accent4"/>
            </a:solidFill>
            <a:prstDash val="solid"/>
          </a:ln>
        </p:spPr>
      </p:sp>
      <p:sp>
        <p:nvSpPr>
          <p:cNvPr id="35" name="Shape 32"/>
          <p:cNvSpPr/>
          <p:nvPr/>
        </p:nvSpPr>
        <p:spPr>
          <a:xfrm>
            <a:off x="6934170" y="2590770"/>
            <a:ext cx="647670" cy="571500"/>
          </a:xfrm>
          <a:prstGeom prst="roundRect">
            <a:avLst>
              <a:gd name="adj" fmla="val 22400"/>
            </a:avLst>
          </a:prstGeom>
          <a:solidFill>
            <a:srgbClr val="FFFFFF">
              <a:alpha val="5000"/>
            </a:srgbClr>
          </a:solidFill>
          <a:ln/>
        </p:spPr>
      </p:sp>
      <p:sp>
        <p:nvSpPr>
          <p:cNvPr id="36" name="Shape 33"/>
          <p:cNvSpPr/>
          <p:nvPr/>
        </p:nvSpPr>
        <p:spPr>
          <a:xfrm>
            <a:off x="7124730" y="2743200"/>
            <a:ext cx="266730" cy="266730"/>
          </a:xfrm>
          <a:prstGeom prst="ellipse">
            <a:avLst/>
          </a:prstGeom>
          <a:solidFill>
            <a:schemeClr val="accent5"/>
          </a:solidFill>
          <a:ln/>
        </p:spPr>
      </p:sp>
      <p:sp>
        <p:nvSpPr>
          <p:cNvPr id="37" name="Shape 34"/>
          <p:cNvSpPr/>
          <p:nvPr/>
        </p:nvSpPr>
        <p:spPr>
          <a:xfrm>
            <a:off x="7639080" y="2590770"/>
            <a:ext cx="647670" cy="571500"/>
          </a:xfrm>
          <a:prstGeom prst="roundRect">
            <a:avLst>
              <a:gd name="adj" fmla="val 22400"/>
            </a:avLst>
          </a:prstGeom>
          <a:solidFill>
            <a:srgbClr val="FFFFFF">
              <a:alpha val="5000"/>
            </a:srgbClr>
          </a:solidFill>
          <a:ln/>
        </p:spPr>
      </p:sp>
      <p:sp>
        <p:nvSpPr>
          <p:cNvPr id="38" name="Shape 35"/>
          <p:cNvSpPr/>
          <p:nvPr/>
        </p:nvSpPr>
        <p:spPr>
          <a:xfrm>
            <a:off x="7848570" y="2762220"/>
            <a:ext cx="228600" cy="228600"/>
          </a:xfrm>
          <a:prstGeom prst="ellipse">
            <a:avLst/>
          </a:prstGeom>
          <a:noFill/>
          <a:ln w="44450">
            <a:solidFill>
              <a:schemeClr val="accent6"/>
            </a:solidFill>
            <a:prstDash val="solid"/>
          </a:ln>
        </p:spPr>
      </p:sp>
      <p:sp>
        <p:nvSpPr>
          <p:cNvPr id="39" name="Shape 36"/>
          <p:cNvSpPr/>
          <p:nvPr/>
        </p:nvSpPr>
        <p:spPr>
          <a:xfrm>
            <a:off x="533370" y="3238530"/>
            <a:ext cx="3486150" cy="571500"/>
          </a:xfrm>
          <a:prstGeom prst="roundRect">
            <a:avLst>
              <a:gd name="adj" fmla="val 22400"/>
            </a:avLst>
          </a:prstGeom>
          <a:solidFill>
            <a:srgbClr val="FFFFFF">
              <a:alpha val="10000"/>
            </a:srgbClr>
          </a:solidFill>
          <a:ln/>
        </p:spPr>
      </p:sp>
      <p:sp>
        <p:nvSpPr>
          <p:cNvPr id="40" name="Text 37"/>
          <p:cNvSpPr txBox="1"/>
          <p:nvPr/>
        </p:nvSpPr>
        <p:spPr>
          <a:xfrm>
            <a:off x="685800" y="3238530"/>
            <a:ext cx="3276570" cy="571500"/>
          </a:xfrm>
          <a:prstGeom prst="rect">
            <a:avLst/>
          </a:prstGeom>
          <a:noFill/>
          <a:ln/>
        </p:spPr>
        <p:txBody>
          <a:bodyPr wrap="square" lIns="0" tIns="0" rIns="0" bIns="0" rtlCol="0" anchor="ctr"/>
          <a:lstStyle/>
          <a:p>
            <a:pPr algn="l" indent="0" marL="0">
              <a:lnSpc>
                <a:spcPct val="105000"/>
              </a:lnSpc>
              <a:buNone/>
            </a:pPr>
            <a:r>
              <a:rPr lang="en-US" sz="1400" b="1" dirty="0">
                <a:solidFill>
                  <a:schemeClr val="bg1"/>
                </a:solidFill>
              </a:rPr>
              <a:t>🧬  Органикалық / жүйелік тәсіл</a:t>
            </a:r>
            <a:endParaRPr lang="en-US" sz="1400" dirty="0"/>
          </a:p>
        </p:txBody>
      </p:sp>
      <p:sp>
        <p:nvSpPr>
          <p:cNvPr id="41" name="Shape 38"/>
          <p:cNvSpPr/>
          <p:nvPr/>
        </p:nvSpPr>
        <p:spPr>
          <a:xfrm>
            <a:off x="4114800" y="3238530"/>
            <a:ext cx="647670" cy="571500"/>
          </a:xfrm>
          <a:prstGeom prst="roundRect">
            <a:avLst>
              <a:gd name="adj" fmla="val 22400"/>
            </a:avLst>
          </a:prstGeom>
          <a:solidFill>
            <a:srgbClr val="FFFFFF">
              <a:alpha val="5000"/>
            </a:srgbClr>
          </a:solidFill>
          <a:ln/>
        </p:spPr>
      </p:sp>
      <p:sp>
        <p:nvSpPr>
          <p:cNvPr id="42" name="Shape 39"/>
          <p:cNvSpPr/>
          <p:nvPr/>
        </p:nvSpPr>
        <p:spPr>
          <a:xfrm>
            <a:off x="4324380" y="3409980"/>
            <a:ext cx="228600" cy="228600"/>
          </a:xfrm>
          <a:prstGeom prst="ellipse">
            <a:avLst/>
          </a:prstGeom>
          <a:noFill/>
          <a:ln w="44450">
            <a:solidFill>
              <a:schemeClr val="accent1"/>
            </a:solidFill>
            <a:prstDash val="solid"/>
          </a:ln>
        </p:spPr>
      </p:sp>
      <p:sp>
        <p:nvSpPr>
          <p:cNvPr id="43" name="Shape 40"/>
          <p:cNvSpPr/>
          <p:nvPr/>
        </p:nvSpPr>
        <p:spPr>
          <a:xfrm>
            <a:off x="4819620" y="3238530"/>
            <a:ext cx="647670" cy="571500"/>
          </a:xfrm>
          <a:prstGeom prst="roundRect">
            <a:avLst>
              <a:gd name="adj" fmla="val 22400"/>
            </a:avLst>
          </a:prstGeom>
          <a:solidFill>
            <a:srgbClr val="FFFFFF">
              <a:alpha val="5000"/>
            </a:srgbClr>
          </a:solidFill>
          <a:ln/>
        </p:spPr>
      </p:sp>
      <p:sp>
        <p:nvSpPr>
          <p:cNvPr id="44" name="Shape 41"/>
          <p:cNvSpPr/>
          <p:nvPr/>
        </p:nvSpPr>
        <p:spPr>
          <a:xfrm>
            <a:off x="5010180" y="3390870"/>
            <a:ext cx="266730" cy="266730"/>
          </a:xfrm>
          <a:prstGeom prst="ellipse">
            <a:avLst/>
          </a:prstGeom>
          <a:solidFill>
            <a:schemeClr val="accent2"/>
          </a:solidFill>
          <a:ln/>
        </p:spPr>
      </p:sp>
      <p:sp>
        <p:nvSpPr>
          <p:cNvPr id="45" name="Shape 42"/>
          <p:cNvSpPr/>
          <p:nvPr/>
        </p:nvSpPr>
        <p:spPr>
          <a:xfrm>
            <a:off x="5524530" y="3238530"/>
            <a:ext cx="647670" cy="571500"/>
          </a:xfrm>
          <a:prstGeom prst="roundRect">
            <a:avLst>
              <a:gd name="adj" fmla="val 22400"/>
            </a:avLst>
          </a:prstGeom>
          <a:solidFill>
            <a:srgbClr val="FFFFFF">
              <a:alpha val="5000"/>
            </a:srgbClr>
          </a:solidFill>
          <a:ln/>
        </p:spPr>
      </p:sp>
      <p:sp>
        <p:nvSpPr>
          <p:cNvPr id="46" name="Shape 43"/>
          <p:cNvSpPr/>
          <p:nvPr/>
        </p:nvSpPr>
        <p:spPr>
          <a:xfrm>
            <a:off x="5810280" y="3486150"/>
            <a:ext cx="76170" cy="76170"/>
          </a:xfrm>
          <a:prstGeom prst="ellipse">
            <a:avLst/>
          </a:prstGeom>
          <a:solidFill>
            <a:srgbClr val="FFFFFF">
              <a:alpha val="25000"/>
            </a:srgbClr>
          </a:solidFill>
          <a:ln/>
        </p:spPr>
      </p:sp>
      <p:sp>
        <p:nvSpPr>
          <p:cNvPr id="47" name="Shape 44"/>
          <p:cNvSpPr/>
          <p:nvPr/>
        </p:nvSpPr>
        <p:spPr>
          <a:xfrm>
            <a:off x="6229350" y="3238530"/>
            <a:ext cx="647670" cy="571500"/>
          </a:xfrm>
          <a:prstGeom prst="roundRect">
            <a:avLst>
              <a:gd name="adj" fmla="val 22400"/>
            </a:avLst>
          </a:prstGeom>
          <a:solidFill>
            <a:srgbClr val="FFFFFF">
              <a:alpha val="5000"/>
            </a:srgbClr>
          </a:solidFill>
          <a:ln/>
        </p:spPr>
      </p:sp>
      <p:sp>
        <p:nvSpPr>
          <p:cNvPr id="48" name="Shape 45"/>
          <p:cNvSpPr/>
          <p:nvPr/>
        </p:nvSpPr>
        <p:spPr>
          <a:xfrm>
            <a:off x="6438930" y="3409980"/>
            <a:ext cx="228600" cy="228600"/>
          </a:xfrm>
          <a:prstGeom prst="ellipse">
            <a:avLst/>
          </a:prstGeom>
          <a:noFill/>
          <a:ln w="44450">
            <a:solidFill>
              <a:schemeClr val="accent4"/>
            </a:solidFill>
            <a:prstDash val="solid"/>
          </a:ln>
        </p:spPr>
      </p:sp>
      <p:sp>
        <p:nvSpPr>
          <p:cNvPr id="49" name="Shape 46"/>
          <p:cNvSpPr/>
          <p:nvPr/>
        </p:nvSpPr>
        <p:spPr>
          <a:xfrm>
            <a:off x="6934170" y="3238530"/>
            <a:ext cx="647670" cy="571500"/>
          </a:xfrm>
          <a:prstGeom prst="roundRect">
            <a:avLst>
              <a:gd name="adj" fmla="val 22400"/>
            </a:avLst>
          </a:prstGeom>
          <a:solidFill>
            <a:srgbClr val="FFFFFF">
              <a:alpha val="5000"/>
            </a:srgbClr>
          </a:solidFill>
          <a:ln/>
        </p:spPr>
      </p:sp>
      <p:sp>
        <p:nvSpPr>
          <p:cNvPr id="50" name="Shape 47"/>
          <p:cNvSpPr/>
          <p:nvPr/>
        </p:nvSpPr>
        <p:spPr>
          <a:xfrm>
            <a:off x="7124730" y="3390870"/>
            <a:ext cx="266730" cy="266730"/>
          </a:xfrm>
          <a:prstGeom prst="ellipse">
            <a:avLst/>
          </a:prstGeom>
          <a:solidFill>
            <a:schemeClr val="accent5"/>
          </a:solidFill>
          <a:ln/>
        </p:spPr>
      </p:sp>
      <p:sp>
        <p:nvSpPr>
          <p:cNvPr id="51" name="Shape 48"/>
          <p:cNvSpPr/>
          <p:nvPr/>
        </p:nvSpPr>
        <p:spPr>
          <a:xfrm>
            <a:off x="7639080" y="3238530"/>
            <a:ext cx="647670" cy="571500"/>
          </a:xfrm>
          <a:prstGeom prst="roundRect">
            <a:avLst>
              <a:gd name="adj" fmla="val 22400"/>
            </a:avLst>
          </a:prstGeom>
          <a:solidFill>
            <a:srgbClr val="FFFFFF">
              <a:alpha val="5000"/>
            </a:srgbClr>
          </a:solidFill>
          <a:ln/>
        </p:spPr>
      </p:sp>
      <p:sp>
        <p:nvSpPr>
          <p:cNvPr id="52" name="Shape 49"/>
          <p:cNvSpPr/>
          <p:nvPr/>
        </p:nvSpPr>
        <p:spPr>
          <a:xfrm>
            <a:off x="7924830" y="3486150"/>
            <a:ext cx="76170" cy="76170"/>
          </a:xfrm>
          <a:prstGeom prst="ellipse">
            <a:avLst/>
          </a:prstGeom>
          <a:solidFill>
            <a:srgbClr val="FFFFFF">
              <a:alpha val="25000"/>
            </a:srgbClr>
          </a:solidFill>
          <a:ln/>
        </p:spPr>
      </p:sp>
      <p:sp>
        <p:nvSpPr>
          <p:cNvPr id="53" name="Shape 50"/>
          <p:cNvSpPr/>
          <p:nvPr/>
        </p:nvSpPr>
        <p:spPr>
          <a:xfrm>
            <a:off x="533370" y="3886200"/>
            <a:ext cx="3486150" cy="571500"/>
          </a:xfrm>
          <a:prstGeom prst="roundRect">
            <a:avLst>
              <a:gd name="adj" fmla="val 22400"/>
            </a:avLst>
          </a:prstGeom>
          <a:solidFill>
            <a:srgbClr val="FFFFFF">
              <a:alpha val="10000"/>
            </a:srgbClr>
          </a:solidFill>
          <a:ln/>
        </p:spPr>
      </p:sp>
      <p:sp>
        <p:nvSpPr>
          <p:cNvPr id="54" name="Text 51"/>
          <p:cNvSpPr txBox="1"/>
          <p:nvPr/>
        </p:nvSpPr>
        <p:spPr>
          <a:xfrm>
            <a:off x="685800" y="3886200"/>
            <a:ext cx="3276570" cy="571500"/>
          </a:xfrm>
          <a:prstGeom prst="rect">
            <a:avLst/>
          </a:prstGeom>
          <a:noFill/>
          <a:ln/>
        </p:spPr>
        <p:txBody>
          <a:bodyPr wrap="square" lIns="0" tIns="0" rIns="0" bIns="0" rtlCol="0" anchor="ctr"/>
          <a:lstStyle/>
          <a:p>
            <a:pPr algn="l" indent="0" marL="0">
              <a:lnSpc>
                <a:spcPct val="105000"/>
              </a:lnSpc>
              <a:buNone/>
            </a:pPr>
            <a:r>
              <a:rPr lang="en-US" sz="1400" b="1" dirty="0">
                <a:solidFill>
                  <a:schemeClr val="bg1"/>
                </a:solidFill>
              </a:rPr>
              <a:t>🏞️  Аймақтық (монографиялық) талдау</a:t>
            </a:r>
            <a:endParaRPr lang="en-US" sz="1400" dirty="0"/>
          </a:p>
        </p:txBody>
      </p:sp>
      <p:sp>
        <p:nvSpPr>
          <p:cNvPr id="55" name="Shape 52"/>
          <p:cNvSpPr/>
          <p:nvPr/>
        </p:nvSpPr>
        <p:spPr>
          <a:xfrm>
            <a:off x="4114800" y="3886200"/>
            <a:ext cx="647670" cy="571500"/>
          </a:xfrm>
          <a:prstGeom prst="roundRect">
            <a:avLst>
              <a:gd name="adj" fmla="val 22400"/>
            </a:avLst>
          </a:prstGeom>
          <a:solidFill>
            <a:srgbClr val="FFFFFF">
              <a:alpha val="5000"/>
            </a:srgbClr>
          </a:solidFill>
          <a:ln/>
        </p:spPr>
      </p:sp>
      <p:sp>
        <p:nvSpPr>
          <p:cNvPr id="56" name="Shape 53"/>
          <p:cNvSpPr/>
          <p:nvPr/>
        </p:nvSpPr>
        <p:spPr>
          <a:xfrm>
            <a:off x="4400550" y="4133820"/>
            <a:ext cx="76170" cy="76170"/>
          </a:xfrm>
          <a:prstGeom prst="ellipse">
            <a:avLst/>
          </a:prstGeom>
          <a:solidFill>
            <a:srgbClr val="FFFFFF">
              <a:alpha val="25000"/>
            </a:srgbClr>
          </a:solidFill>
          <a:ln/>
        </p:spPr>
      </p:sp>
      <p:sp>
        <p:nvSpPr>
          <p:cNvPr id="57" name="Shape 54"/>
          <p:cNvSpPr/>
          <p:nvPr/>
        </p:nvSpPr>
        <p:spPr>
          <a:xfrm>
            <a:off x="4819620" y="3886200"/>
            <a:ext cx="647670" cy="571500"/>
          </a:xfrm>
          <a:prstGeom prst="roundRect">
            <a:avLst>
              <a:gd name="adj" fmla="val 22400"/>
            </a:avLst>
          </a:prstGeom>
          <a:solidFill>
            <a:srgbClr val="FFFFFF">
              <a:alpha val="5000"/>
            </a:srgbClr>
          </a:solidFill>
          <a:ln/>
        </p:spPr>
      </p:sp>
      <p:sp>
        <p:nvSpPr>
          <p:cNvPr id="58" name="Shape 55"/>
          <p:cNvSpPr/>
          <p:nvPr/>
        </p:nvSpPr>
        <p:spPr>
          <a:xfrm>
            <a:off x="5029200" y="4057650"/>
            <a:ext cx="228600" cy="228600"/>
          </a:xfrm>
          <a:prstGeom prst="ellipse">
            <a:avLst/>
          </a:prstGeom>
          <a:noFill/>
          <a:ln w="44450">
            <a:solidFill>
              <a:schemeClr val="accent2"/>
            </a:solidFill>
            <a:prstDash val="solid"/>
          </a:ln>
        </p:spPr>
      </p:sp>
      <p:sp>
        <p:nvSpPr>
          <p:cNvPr id="59" name="Shape 56"/>
          <p:cNvSpPr/>
          <p:nvPr/>
        </p:nvSpPr>
        <p:spPr>
          <a:xfrm>
            <a:off x="5524530" y="3886200"/>
            <a:ext cx="647670" cy="571500"/>
          </a:xfrm>
          <a:prstGeom prst="roundRect">
            <a:avLst>
              <a:gd name="adj" fmla="val 22400"/>
            </a:avLst>
          </a:prstGeom>
          <a:solidFill>
            <a:srgbClr val="FFFFFF">
              <a:alpha val="5000"/>
            </a:srgbClr>
          </a:solidFill>
          <a:ln/>
        </p:spPr>
      </p:sp>
      <p:sp>
        <p:nvSpPr>
          <p:cNvPr id="60" name="Shape 57"/>
          <p:cNvSpPr/>
          <p:nvPr/>
        </p:nvSpPr>
        <p:spPr>
          <a:xfrm>
            <a:off x="5715000" y="4038630"/>
            <a:ext cx="266730" cy="266730"/>
          </a:xfrm>
          <a:prstGeom prst="ellipse">
            <a:avLst/>
          </a:prstGeom>
          <a:solidFill>
            <a:schemeClr val="accent3"/>
          </a:solidFill>
          <a:ln/>
        </p:spPr>
      </p:sp>
      <p:sp>
        <p:nvSpPr>
          <p:cNvPr id="61" name="Shape 58"/>
          <p:cNvSpPr/>
          <p:nvPr/>
        </p:nvSpPr>
        <p:spPr>
          <a:xfrm>
            <a:off x="6229350" y="3886200"/>
            <a:ext cx="647670" cy="571500"/>
          </a:xfrm>
          <a:prstGeom prst="roundRect">
            <a:avLst>
              <a:gd name="adj" fmla="val 22400"/>
            </a:avLst>
          </a:prstGeom>
          <a:solidFill>
            <a:srgbClr val="FFFFFF">
              <a:alpha val="5000"/>
            </a:srgbClr>
          </a:solidFill>
          <a:ln/>
        </p:spPr>
      </p:sp>
      <p:sp>
        <p:nvSpPr>
          <p:cNvPr id="62" name="Shape 59"/>
          <p:cNvSpPr/>
          <p:nvPr/>
        </p:nvSpPr>
        <p:spPr>
          <a:xfrm>
            <a:off x="6438930" y="4057650"/>
            <a:ext cx="228600" cy="228600"/>
          </a:xfrm>
          <a:prstGeom prst="ellipse">
            <a:avLst/>
          </a:prstGeom>
          <a:noFill/>
          <a:ln w="44450">
            <a:solidFill>
              <a:schemeClr val="accent4"/>
            </a:solidFill>
            <a:prstDash val="solid"/>
          </a:ln>
        </p:spPr>
      </p:sp>
      <p:sp>
        <p:nvSpPr>
          <p:cNvPr id="63" name="Shape 60"/>
          <p:cNvSpPr/>
          <p:nvPr/>
        </p:nvSpPr>
        <p:spPr>
          <a:xfrm>
            <a:off x="6934170" y="3886200"/>
            <a:ext cx="647670" cy="571500"/>
          </a:xfrm>
          <a:prstGeom prst="roundRect">
            <a:avLst>
              <a:gd name="adj" fmla="val 22400"/>
            </a:avLst>
          </a:prstGeom>
          <a:solidFill>
            <a:srgbClr val="FFFFFF">
              <a:alpha val="5000"/>
            </a:srgbClr>
          </a:solidFill>
          <a:ln/>
        </p:spPr>
      </p:sp>
      <p:sp>
        <p:nvSpPr>
          <p:cNvPr id="64" name="Shape 61"/>
          <p:cNvSpPr/>
          <p:nvPr/>
        </p:nvSpPr>
        <p:spPr>
          <a:xfrm>
            <a:off x="7219920" y="4133820"/>
            <a:ext cx="76170" cy="76170"/>
          </a:xfrm>
          <a:prstGeom prst="ellipse">
            <a:avLst/>
          </a:prstGeom>
          <a:solidFill>
            <a:srgbClr val="FFFFFF">
              <a:alpha val="25000"/>
            </a:srgbClr>
          </a:solidFill>
          <a:ln/>
        </p:spPr>
      </p:sp>
      <p:sp>
        <p:nvSpPr>
          <p:cNvPr id="65" name="Shape 62"/>
          <p:cNvSpPr/>
          <p:nvPr/>
        </p:nvSpPr>
        <p:spPr>
          <a:xfrm>
            <a:off x="7639080" y="3886200"/>
            <a:ext cx="647670" cy="571500"/>
          </a:xfrm>
          <a:prstGeom prst="roundRect">
            <a:avLst>
              <a:gd name="adj" fmla="val 22400"/>
            </a:avLst>
          </a:prstGeom>
          <a:solidFill>
            <a:srgbClr val="FFFFFF">
              <a:alpha val="5000"/>
            </a:srgbClr>
          </a:solidFill>
          <a:ln/>
        </p:spPr>
      </p:sp>
      <p:sp>
        <p:nvSpPr>
          <p:cNvPr id="66" name="Shape 63"/>
          <p:cNvSpPr/>
          <p:nvPr/>
        </p:nvSpPr>
        <p:spPr>
          <a:xfrm>
            <a:off x="7848570" y="4057650"/>
            <a:ext cx="228600" cy="228600"/>
          </a:xfrm>
          <a:prstGeom prst="ellipse">
            <a:avLst/>
          </a:prstGeom>
          <a:noFill/>
          <a:ln w="44450">
            <a:solidFill>
              <a:schemeClr val="accent6"/>
            </a:solidFill>
            <a:prstDash val="solid"/>
          </a:ln>
        </p:spPr>
      </p:sp>
      <p:sp>
        <p:nvSpPr>
          <p:cNvPr id="67" name="Shape 64"/>
          <p:cNvSpPr/>
          <p:nvPr/>
        </p:nvSpPr>
        <p:spPr>
          <a:xfrm>
            <a:off x="533370" y="4533870"/>
            <a:ext cx="3486150" cy="571500"/>
          </a:xfrm>
          <a:prstGeom prst="roundRect">
            <a:avLst>
              <a:gd name="adj" fmla="val 22400"/>
            </a:avLst>
          </a:prstGeom>
          <a:solidFill>
            <a:srgbClr val="FFFFFF">
              <a:alpha val="10000"/>
            </a:srgbClr>
          </a:solidFill>
          <a:ln/>
        </p:spPr>
      </p:sp>
      <p:sp>
        <p:nvSpPr>
          <p:cNvPr id="68" name="Text 65"/>
          <p:cNvSpPr txBox="1"/>
          <p:nvPr/>
        </p:nvSpPr>
        <p:spPr>
          <a:xfrm>
            <a:off x="685800" y="4533870"/>
            <a:ext cx="3276570" cy="571500"/>
          </a:xfrm>
          <a:prstGeom prst="rect">
            <a:avLst/>
          </a:prstGeom>
          <a:noFill/>
          <a:ln/>
        </p:spPr>
        <p:txBody>
          <a:bodyPr wrap="square" lIns="0" tIns="0" rIns="0" bIns="0" rtlCol="0" anchor="ctr"/>
          <a:lstStyle/>
          <a:p>
            <a:pPr algn="l" indent="0" marL="0">
              <a:lnSpc>
                <a:spcPct val="105000"/>
              </a:lnSpc>
              <a:buNone/>
            </a:pPr>
            <a:r>
              <a:rPr lang="en-US" sz="1400" b="1" dirty="0">
                <a:solidFill>
                  <a:schemeClr val="bg1"/>
                </a:solidFill>
              </a:rPr>
              <a:t>🏛️  Өркениеттік тәсіл</a:t>
            </a:r>
            <a:endParaRPr lang="en-US" sz="1400" dirty="0"/>
          </a:p>
        </p:txBody>
      </p:sp>
      <p:sp>
        <p:nvSpPr>
          <p:cNvPr id="69" name="Shape 66"/>
          <p:cNvSpPr/>
          <p:nvPr/>
        </p:nvSpPr>
        <p:spPr>
          <a:xfrm>
            <a:off x="4114800" y="4533870"/>
            <a:ext cx="647670" cy="571500"/>
          </a:xfrm>
          <a:prstGeom prst="roundRect">
            <a:avLst>
              <a:gd name="adj" fmla="val 22400"/>
            </a:avLst>
          </a:prstGeom>
          <a:solidFill>
            <a:srgbClr val="FFFFFF">
              <a:alpha val="5000"/>
            </a:srgbClr>
          </a:solidFill>
          <a:ln/>
        </p:spPr>
      </p:sp>
      <p:sp>
        <p:nvSpPr>
          <p:cNvPr id="70" name="Shape 67"/>
          <p:cNvSpPr/>
          <p:nvPr/>
        </p:nvSpPr>
        <p:spPr>
          <a:xfrm>
            <a:off x="4400550" y="4781580"/>
            <a:ext cx="76170" cy="76170"/>
          </a:xfrm>
          <a:prstGeom prst="ellipse">
            <a:avLst/>
          </a:prstGeom>
          <a:solidFill>
            <a:srgbClr val="FFFFFF">
              <a:alpha val="25000"/>
            </a:srgbClr>
          </a:solidFill>
          <a:ln/>
        </p:spPr>
      </p:sp>
      <p:sp>
        <p:nvSpPr>
          <p:cNvPr id="71" name="Shape 68"/>
          <p:cNvSpPr/>
          <p:nvPr/>
        </p:nvSpPr>
        <p:spPr>
          <a:xfrm>
            <a:off x="4819620" y="4533870"/>
            <a:ext cx="647670" cy="571500"/>
          </a:xfrm>
          <a:prstGeom prst="roundRect">
            <a:avLst>
              <a:gd name="adj" fmla="val 22400"/>
            </a:avLst>
          </a:prstGeom>
          <a:solidFill>
            <a:srgbClr val="FFFFFF">
              <a:alpha val="5000"/>
            </a:srgbClr>
          </a:solidFill>
          <a:ln/>
        </p:spPr>
      </p:sp>
      <p:sp>
        <p:nvSpPr>
          <p:cNvPr id="72" name="Shape 69"/>
          <p:cNvSpPr/>
          <p:nvPr/>
        </p:nvSpPr>
        <p:spPr>
          <a:xfrm>
            <a:off x="5029200" y="4705320"/>
            <a:ext cx="228600" cy="228600"/>
          </a:xfrm>
          <a:prstGeom prst="ellipse">
            <a:avLst/>
          </a:prstGeom>
          <a:noFill/>
          <a:ln w="44450">
            <a:solidFill>
              <a:schemeClr val="accent2"/>
            </a:solidFill>
            <a:prstDash val="solid"/>
          </a:ln>
        </p:spPr>
      </p:sp>
      <p:sp>
        <p:nvSpPr>
          <p:cNvPr id="73" name="Shape 70"/>
          <p:cNvSpPr/>
          <p:nvPr/>
        </p:nvSpPr>
        <p:spPr>
          <a:xfrm>
            <a:off x="5524530" y="4533870"/>
            <a:ext cx="647670" cy="571500"/>
          </a:xfrm>
          <a:prstGeom prst="roundRect">
            <a:avLst>
              <a:gd name="adj" fmla="val 22400"/>
            </a:avLst>
          </a:prstGeom>
          <a:solidFill>
            <a:srgbClr val="FFFFFF">
              <a:alpha val="5000"/>
            </a:srgbClr>
          </a:solidFill>
          <a:ln/>
        </p:spPr>
      </p:sp>
      <p:sp>
        <p:nvSpPr>
          <p:cNvPr id="74" name="Shape 71"/>
          <p:cNvSpPr/>
          <p:nvPr/>
        </p:nvSpPr>
        <p:spPr>
          <a:xfrm>
            <a:off x="5734020" y="4705320"/>
            <a:ext cx="228600" cy="228600"/>
          </a:xfrm>
          <a:prstGeom prst="ellipse">
            <a:avLst/>
          </a:prstGeom>
          <a:noFill/>
          <a:ln w="44450">
            <a:solidFill>
              <a:schemeClr val="accent3"/>
            </a:solidFill>
            <a:prstDash val="solid"/>
          </a:ln>
        </p:spPr>
      </p:sp>
      <p:sp>
        <p:nvSpPr>
          <p:cNvPr id="75" name="Shape 72"/>
          <p:cNvSpPr/>
          <p:nvPr/>
        </p:nvSpPr>
        <p:spPr>
          <a:xfrm>
            <a:off x="6229350" y="4533870"/>
            <a:ext cx="647670" cy="571500"/>
          </a:xfrm>
          <a:prstGeom prst="roundRect">
            <a:avLst>
              <a:gd name="adj" fmla="val 22400"/>
            </a:avLst>
          </a:prstGeom>
          <a:solidFill>
            <a:srgbClr val="FFFFFF">
              <a:alpha val="5000"/>
            </a:srgbClr>
          </a:solidFill>
          <a:ln/>
        </p:spPr>
      </p:sp>
      <p:sp>
        <p:nvSpPr>
          <p:cNvPr id="76" name="Shape 73"/>
          <p:cNvSpPr/>
          <p:nvPr/>
        </p:nvSpPr>
        <p:spPr>
          <a:xfrm>
            <a:off x="6419820" y="4686300"/>
            <a:ext cx="266730" cy="266730"/>
          </a:xfrm>
          <a:prstGeom prst="ellipse">
            <a:avLst/>
          </a:prstGeom>
          <a:solidFill>
            <a:schemeClr val="accent4"/>
          </a:solidFill>
          <a:ln/>
        </p:spPr>
      </p:sp>
      <p:sp>
        <p:nvSpPr>
          <p:cNvPr id="77" name="Shape 74"/>
          <p:cNvSpPr/>
          <p:nvPr/>
        </p:nvSpPr>
        <p:spPr>
          <a:xfrm>
            <a:off x="6934170" y="4533870"/>
            <a:ext cx="647670" cy="571500"/>
          </a:xfrm>
          <a:prstGeom prst="roundRect">
            <a:avLst>
              <a:gd name="adj" fmla="val 22400"/>
            </a:avLst>
          </a:prstGeom>
          <a:solidFill>
            <a:srgbClr val="FFFFFF">
              <a:alpha val="5000"/>
            </a:srgbClr>
          </a:solidFill>
          <a:ln/>
        </p:spPr>
      </p:sp>
      <p:sp>
        <p:nvSpPr>
          <p:cNvPr id="78" name="Shape 75"/>
          <p:cNvSpPr/>
          <p:nvPr/>
        </p:nvSpPr>
        <p:spPr>
          <a:xfrm>
            <a:off x="7124730" y="4686300"/>
            <a:ext cx="266730" cy="266730"/>
          </a:xfrm>
          <a:prstGeom prst="ellipse">
            <a:avLst/>
          </a:prstGeom>
          <a:solidFill>
            <a:schemeClr val="accent5"/>
          </a:solidFill>
          <a:ln/>
        </p:spPr>
      </p:sp>
      <p:sp>
        <p:nvSpPr>
          <p:cNvPr id="79" name="Shape 76"/>
          <p:cNvSpPr/>
          <p:nvPr/>
        </p:nvSpPr>
        <p:spPr>
          <a:xfrm>
            <a:off x="7639080" y="4533870"/>
            <a:ext cx="647670" cy="571500"/>
          </a:xfrm>
          <a:prstGeom prst="roundRect">
            <a:avLst>
              <a:gd name="adj" fmla="val 22400"/>
            </a:avLst>
          </a:prstGeom>
          <a:solidFill>
            <a:srgbClr val="FFFFFF">
              <a:alpha val="5000"/>
            </a:srgbClr>
          </a:solidFill>
          <a:ln/>
        </p:spPr>
      </p:sp>
      <p:sp>
        <p:nvSpPr>
          <p:cNvPr id="80" name="Shape 77"/>
          <p:cNvSpPr/>
          <p:nvPr/>
        </p:nvSpPr>
        <p:spPr>
          <a:xfrm>
            <a:off x="7924830" y="4781580"/>
            <a:ext cx="76170" cy="76170"/>
          </a:xfrm>
          <a:prstGeom prst="ellipse">
            <a:avLst/>
          </a:prstGeom>
          <a:solidFill>
            <a:srgbClr val="FFFFFF">
              <a:alpha val="25000"/>
            </a:srgbClr>
          </a:solidFill>
          <a:ln/>
        </p:spPr>
      </p:sp>
      <p:sp>
        <p:nvSpPr>
          <p:cNvPr id="81" name="Shape 78"/>
          <p:cNvSpPr/>
          <p:nvPr/>
        </p:nvSpPr>
        <p:spPr>
          <a:xfrm>
            <a:off x="533370" y="5181630"/>
            <a:ext cx="3486150" cy="571500"/>
          </a:xfrm>
          <a:prstGeom prst="roundRect">
            <a:avLst>
              <a:gd name="adj" fmla="val 22400"/>
            </a:avLst>
          </a:prstGeom>
          <a:solidFill>
            <a:srgbClr val="FFFFFF">
              <a:alpha val="10000"/>
            </a:srgbClr>
          </a:solidFill>
          <a:ln/>
        </p:spPr>
      </p:sp>
      <p:sp>
        <p:nvSpPr>
          <p:cNvPr id="82" name="Text 79"/>
          <p:cNvSpPr txBox="1"/>
          <p:nvPr/>
        </p:nvSpPr>
        <p:spPr>
          <a:xfrm>
            <a:off x="685800" y="5181630"/>
            <a:ext cx="3276570" cy="571500"/>
          </a:xfrm>
          <a:prstGeom prst="rect">
            <a:avLst/>
          </a:prstGeom>
          <a:noFill/>
          <a:ln/>
        </p:spPr>
        <p:txBody>
          <a:bodyPr wrap="square" lIns="0" tIns="0" rIns="0" bIns="0" rtlCol="0" anchor="ctr"/>
          <a:lstStyle/>
          <a:p>
            <a:pPr algn="l" indent="0" marL="0">
              <a:lnSpc>
                <a:spcPct val="105000"/>
              </a:lnSpc>
              <a:buNone/>
            </a:pPr>
            <a:r>
              <a:rPr lang="en-US" sz="1400" b="1" dirty="0">
                <a:solidFill>
                  <a:schemeClr val="bg1"/>
                </a:solidFill>
              </a:rPr>
              <a:t>💬  Дискурс-талдау, деконструкция</a:t>
            </a:r>
            <a:endParaRPr lang="en-US" sz="1400" dirty="0"/>
          </a:p>
        </p:txBody>
      </p:sp>
      <p:sp>
        <p:nvSpPr>
          <p:cNvPr id="83" name="Shape 80"/>
          <p:cNvSpPr/>
          <p:nvPr/>
        </p:nvSpPr>
        <p:spPr>
          <a:xfrm>
            <a:off x="4114800" y="5181630"/>
            <a:ext cx="647670" cy="571500"/>
          </a:xfrm>
          <a:prstGeom prst="roundRect">
            <a:avLst>
              <a:gd name="adj" fmla="val 22400"/>
            </a:avLst>
          </a:prstGeom>
          <a:solidFill>
            <a:srgbClr val="FFFFFF">
              <a:alpha val="5000"/>
            </a:srgbClr>
          </a:solidFill>
          <a:ln/>
        </p:spPr>
      </p:sp>
      <p:sp>
        <p:nvSpPr>
          <p:cNvPr id="84" name="Shape 81"/>
          <p:cNvSpPr/>
          <p:nvPr/>
        </p:nvSpPr>
        <p:spPr>
          <a:xfrm>
            <a:off x="4400550" y="5429250"/>
            <a:ext cx="76170" cy="76170"/>
          </a:xfrm>
          <a:prstGeom prst="ellipse">
            <a:avLst/>
          </a:prstGeom>
          <a:solidFill>
            <a:srgbClr val="FFFFFF">
              <a:alpha val="25000"/>
            </a:srgbClr>
          </a:solidFill>
          <a:ln/>
        </p:spPr>
      </p:sp>
      <p:sp>
        <p:nvSpPr>
          <p:cNvPr id="85" name="Shape 82"/>
          <p:cNvSpPr/>
          <p:nvPr/>
        </p:nvSpPr>
        <p:spPr>
          <a:xfrm>
            <a:off x="4819620" y="5181630"/>
            <a:ext cx="647670" cy="571500"/>
          </a:xfrm>
          <a:prstGeom prst="roundRect">
            <a:avLst>
              <a:gd name="adj" fmla="val 22400"/>
            </a:avLst>
          </a:prstGeom>
          <a:solidFill>
            <a:srgbClr val="FFFFFF">
              <a:alpha val="5000"/>
            </a:srgbClr>
          </a:solidFill>
          <a:ln/>
        </p:spPr>
      </p:sp>
      <p:sp>
        <p:nvSpPr>
          <p:cNvPr id="86" name="Shape 83"/>
          <p:cNvSpPr/>
          <p:nvPr/>
        </p:nvSpPr>
        <p:spPr>
          <a:xfrm>
            <a:off x="5105370" y="5429250"/>
            <a:ext cx="76170" cy="76170"/>
          </a:xfrm>
          <a:prstGeom prst="ellipse">
            <a:avLst/>
          </a:prstGeom>
          <a:solidFill>
            <a:srgbClr val="FFFFFF">
              <a:alpha val="25000"/>
            </a:srgbClr>
          </a:solidFill>
          <a:ln/>
        </p:spPr>
      </p:sp>
      <p:sp>
        <p:nvSpPr>
          <p:cNvPr id="87" name="Shape 84"/>
          <p:cNvSpPr/>
          <p:nvPr/>
        </p:nvSpPr>
        <p:spPr>
          <a:xfrm>
            <a:off x="5524530" y="5181630"/>
            <a:ext cx="647670" cy="571500"/>
          </a:xfrm>
          <a:prstGeom prst="roundRect">
            <a:avLst>
              <a:gd name="adj" fmla="val 22400"/>
            </a:avLst>
          </a:prstGeom>
          <a:solidFill>
            <a:srgbClr val="FFFFFF">
              <a:alpha val="5000"/>
            </a:srgbClr>
          </a:solidFill>
          <a:ln/>
        </p:spPr>
      </p:sp>
      <p:sp>
        <p:nvSpPr>
          <p:cNvPr id="88" name="Shape 85"/>
          <p:cNvSpPr/>
          <p:nvPr/>
        </p:nvSpPr>
        <p:spPr>
          <a:xfrm>
            <a:off x="5734020" y="5353080"/>
            <a:ext cx="228600" cy="228600"/>
          </a:xfrm>
          <a:prstGeom prst="ellipse">
            <a:avLst/>
          </a:prstGeom>
          <a:noFill/>
          <a:ln w="44450">
            <a:solidFill>
              <a:schemeClr val="accent3"/>
            </a:solidFill>
            <a:prstDash val="solid"/>
          </a:ln>
        </p:spPr>
      </p:sp>
      <p:sp>
        <p:nvSpPr>
          <p:cNvPr id="89" name="Shape 86"/>
          <p:cNvSpPr/>
          <p:nvPr/>
        </p:nvSpPr>
        <p:spPr>
          <a:xfrm>
            <a:off x="6229350" y="5181630"/>
            <a:ext cx="647670" cy="571500"/>
          </a:xfrm>
          <a:prstGeom prst="roundRect">
            <a:avLst>
              <a:gd name="adj" fmla="val 22400"/>
            </a:avLst>
          </a:prstGeom>
          <a:solidFill>
            <a:srgbClr val="FFFFFF">
              <a:alpha val="5000"/>
            </a:srgbClr>
          </a:solidFill>
          <a:ln/>
        </p:spPr>
      </p:sp>
      <p:sp>
        <p:nvSpPr>
          <p:cNvPr id="90" name="Shape 87"/>
          <p:cNvSpPr/>
          <p:nvPr/>
        </p:nvSpPr>
        <p:spPr>
          <a:xfrm>
            <a:off x="6515100" y="5429250"/>
            <a:ext cx="76170" cy="76170"/>
          </a:xfrm>
          <a:prstGeom prst="ellipse">
            <a:avLst/>
          </a:prstGeom>
          <a:solidFill>
            <a:srgbClr val="FFFFFF">
              <a:alpha val="25000"/>
            </a:srgbClr>
          </a:solidFill>
          <a:ln/>
        </p:spPr>
      </p:sp>
      <p:sp>
        <p:nvSpPr>
          <p:cNvPr id="91" name="Shape 88"/>
          <p:cNvSpPr/>
          <p:nvPr/>
        </p:nvSpPr>
        <p:spPr>
          <a:xfrm>
            <a:off x="6934170" y="5181630"/>
            <a:ext cx="647670" cy="571500"/>
          </a:xfrm>
          <a:prstGeom prst="roundRect">
            <a:avLst>
              <a:gd name="adj" fmla="val 22400"/>
            </a:avLst>
          </a:prstGeom>
          <a:solidFill>
            <a:srgbClr val="FFFFFF">
              <a:alpha val="5000"/>
            </a:srgbClr>
          </a:solidFill>
          <a:ln/>
        </p:spPr>
      </p:sp>
      <p:sp>
        <p:nvSpPr>
          <p:cNvPr id="92" name="Shape 89"/>
          <p:cNvSpPr/>
          <p:nvPr/>
        </p:nvSpPr>
        <p:spPr>
          <a:xfrm>
            <a:off x="7219920" y="5429250"/>
            <a:ext cx="76170" cy="76170"/>
          </a:xfrm>
          <a:prstGeom prst="ellipse">
            <a:avLst/>
          </a:prstGeom>
          <a:solidFill>
            <a:srgbClr val="FFFFFF">
              <a:alpha val="25000"/>
            </a:srgbClr>
          </a:solidFill>
          <a:ln/>
        </p:spPr>
      </p:sp>
      <p:sp>
        <p:nvSpPr>
          <p:cNvPr id="93" name="Shape 90"/>
          <p:cNvSpPr/>
          <p:nvPr/>
        </p:nvSpPr>
        <p:spPr>
          <a:xfrm>
            <a:off x="7639080" y="5181630"/>
            <a:ext cx="647670" cy="571500"/>
          </a:xfrm>
          <a:prstGeom prst="roundRect">
            <a:avLst>
              <a:gd name="adj" fmla="val 22400"/>
            </a:avLst>
          </a:prstGeom>
          <a:solidFill>
            <a:srgbClr val="FFFFFF">
              <a:alpha val="5000"/>
            </a:srgbClr>
          </a:solidFill>
          <a:ln/>
        </p:spPr>
      </p:sp>
      <p:sp>
        <p:nvSpPr>
          <p:cNvPr id="94" name="Shape 91"/>
          <p:cNvSpPr/>
          <p:nvPr/>
        </p:nvSpPr>
        <p:spPr>
          <a:xfrm>
            <a:off x="7829550" y="5333970"/>
            <a:ext cx="266730" cy="266730"/>
          </a:xfrm>
          <a:prstGeom prst="ellipse">
            <a:avLst/>
          </a:prstGeom>
          <a:solidFill>
            <a:schemeClr val="accent6"/>
          </a:solidFill>
          <a:ln/>
        </p:spPr>
      </p:sp>
      <p:sp>
        <p:nvSpPr>
          <p:cNvPr id="95" name="Shape 92"/>
          <p:cNvSpPr/>
          <p:nvPr/>
        </p:nvSpPr>
        <p:spPr>
          <a:xfrm>
            <a:off x="8572500" y="1524030"/>
            <a:ext cx="152430" cy="152430"/>
          </a:xfrm>
          <a:prstGeom prst="ellipse">
            <a:avLst/>
          </a:prstGeom>
          <a:solidFill>
            <a:srgbClr val="FFFFFF"/>
          </a:solidFill>
          <a:ln/>
        </p:spPr>
      </p:sp>
      <p:sp>
        <p:nvSpPr>
          <p:cNvPr id="96" name="Text 93"/>
          <p:cNvSpPr txBox="1"/>
          <p:nvPr/>
        </p:nvSpPr>
        <p:spPr>
          <a:xfrm>
            <a:off x="8782080" y="1495410"/>
            <a:ext cx="1047720" cy="209580"/>
          </a:xfrm>
          <a:prstGeom prst="rect">
            <a:avLst/>
          </a:prstGeom>
          <a:noFill/>
          <a:ln/>
        </p:spPr>
        <p:txBody>
          <a:bodyPr wrap="square" lIns="0" tIns="0" rIns="0" bIns="0" rtlCol="0" anchor="t"/>
          <a:lstStyle/>
          <a:p>
            <a:pPr algn="l" indent="0" marL="0">
              <a:lnSpc>
                <a:spcPct val="105000"/>
              </a:lnSpc>
              <a:buNone/>
            </a:pPr>
            <a:r>
              <a:rPr lang="en-US" sz="1200" b="1" dirty="0">
                <a:solidFill>
                  <a:schemeClr val="bg1"/>
                </a:solidFill>
              </a:rPr>
              <a:t>негізгі әдіс</a:t>
            </a:r>
            <a:endParaRPr lang="en-US" sz="1200" dirty="0"/>
          </a:p>
        </p:txBody>
      </p:sp>
      <p:sp>
        <p:nvSpPr>
          <p:cNvPr id="97" name="Shape 94"/>
          <p:cNvSpPr/>
          <p:nvPr/>
        </p:nvSpPr>
        <p:spPr>
          <a:xfrm>
            <a:off x="9905970" y="1524030"/>
            <a:ext cx="152430" cy="152430"/>
          </a:xfrm>
          <a:prstGeom prst="ellipse">
            <a:avLst/>
          </a:prstGeom>
          <a:noFill/>
          <a:ln w="31750">
            <a:solidFill>
              <a:srgbClr val="FFFFFF"/>
            </a:solidFill>
            <a:prstDash val="solid"/>
          </a:ln>
        </p:spPr>
      </p:sp>
      <p:sp>
        <p:nvSpPr>
          <p:cNvPr id="98" name="Text 95"/>
          <p:cNvSpPr txBox="1"/>
          <p:nvPr/>
        </p:nvSpPr>
        <p:spPr>
          <a:xfrm>
            <a:off x="10115550" y="1495410"/>
            <a:ext cx="1047720" cy="209580"/>
          </a:xfrm>
          <a:prstGeom prst="rect">
            <a:avLst/>
          </a:prstGeom>
          <a:noFill/>
          <a:ln/>
        </p:spPr>
        <p:txBody>
          <a:bodyPr wrap="square" lIns="0" tIns="0" rIns="0" bIns="0" rtlCol="0" anchor="t"/>
          <a:lstStyle/>
          <a:p>
            <a:pPr algn="l" indent="0" marL="0">
              <a:lnSpc>
                <a:spcPct val="105000"/>
              </a:lnSpc>
              <a:buNone/>
            </a:pPr>
            <a:r>
              <a:rPr lang="en-US" sz="1200" b="1" dirty="0">
                <a:solidFill>
                  <a:schemeClr val="bg1"/>
                </a:solidFill>
              </a:rPr>
              <a:t>қосымша</a:t>
            </a:r>
            <a:endParaRPr lang="en-US" sz="1200" dirty="0"/>
          </a:p>
        </p:txBody>
      </p:sp>
      <p:sp>
        <p:nvSpPr>
          <p:cNvPr id="99" name="Text 96"/>
          <p:cNvSpPr/>
          <p:nvPr/>
        </p:nvSpPr>
        <p:spPr>
          <a:xfrm>
            <a:off x="8572500" y="1962120"/>
            <a:ext cx="228600" cy="228600"/>
          </a:xfrm>
          <a:prstGeom prst="ellipse">
            <a:avLst/>
          </a:prstGeom>
          <a:solidFill>
            <a:schemeClr val="accent1"/>
          </a:solidFill>
          <a:ln/>
        </p:spPr>
        <p:txBody>
          <a:bodyPr wrap="square" lIns="0" tIns="0" rIns="0" bIns="0" rtlCol="0" anchor="ctr"/>
          <a:lstStyle/>
          <a:p>
            <a:pPr algn="ctr" indent="0" marL="0">
              <a:lnSpc>
                <a:spcPct val="100000"/>
              </a:lnSpc>
              <a:buNone/>
            </a:pPr>
            <a:r>
              <a:rPr lang="en-US" sz="1100" b="1" dirty="0">
                <a:solidFill>
                  <a:schemeClr val="bg1"/>
                </a:solidFill>
              </a:rPr>
              <a:t>1</a:t>
            </a:r>
            <a:endParaRPr lang="en-US" sz="1100" dirty="0"/>
          </a:p>
        </p:txBody>
      </p:sp>
      <p:sp>
        <p:nvSpPr>
          <p:cNvPr id="100" name="Text 97"/>
          <p:cNvSpPr txBox="1"/>
          <p:nvPr/>
        </p:nvSpPr>
        <p:spPr>
          <a:xfrm>
            <a:off x="8896380" y="1981230"/>
            <a:ext cx="2476470" cy="209580"/>
          </a:xfrm>
          <a:prstGeom prst="rect">
            <a:avLst/>
          </a:prstGeom>
          <a:noFill/>
          <a:ln/>
        </p:spPr>
        <p:txBody>
          <a:bodyPr wrap="square" lIns="0" tIns="0" rIns="0" bIns="0" rtlCol="0" anchor="t"/>
          <a:lstStyle/>
          <a:p>
            <a:pPr algn="l" indent="0" marL="0">
              <a:lnSpc>
                <a:spcPct val="105000"/>
              </a:lnSpc>
              <a:buNone/>
            </a:pPr>
            <a:r>
              <a:rPr lang="en-US" sz="1300" b="1" dirty="0">
                <a:solidFill>
                  <a:schemeClr val="bg1"/>
                </a:solidFill>
              </a:rPr>
              <a:t>Англо-американ</a:t>
            </a:r>
            <a:endParaRPr lang="en-US" sz="1300" dirty="0"/>
          </a:p>
        </p:txBody>
      </p:sp>
      <p:sp>
        <p:nvSpPr>
          <p:cNvPr id="101" name="Text 98"/>
          <p:cNvSpPr/>
          <p:nvPr/>
        </p:nvSpPr>
        <p:spPr>
          <a:xfrm>
            <a:off x="8572500" y="2266980"/>
            <a:ext cx="228600" cy="228600"/>
          </a:xfrm>
          <a:prstGeom prst="ellipse">
            <a:avLst/>
          </a:prstGeom>
          <a:solidFill>
            <a:schemeClr val="accent2"/>
          </a:solidFill>
          <a:ln/>
        </p:spPr>
        <p:txBody>
          <a:bodyPr wrap="square" lIns="0" tIns="0" rIns="0" bIns="0" rtlCol="0" anchor="ctr"/>
          <a:lstStyle/>
          <a:p>
            <a:pPr algn="ctr" indent="0" marL="0">
              <a:lnSpc>
                <a:spcPct val="100000"/>
              </a:lnSpc>
              <a:buNone/>
            </a:pPr>
            <a:r>
              <a:rPr lang="en-US" sz="1100" b="1" dirty="0">
                <a:solidFill>
                  <a:schemeClr val="bg1"/>
                </a:solidFill>
              </a:rPr>
              <a:t>2</a:t>
            </a:r>
            <a:endParaRPr lang="en-US" sz="1100" dirty="0"/>
          </a:p>
        </p:txBody>
      </p:sp>
      <p:sp>
        <p:nvSpPr>
          <p:cNvPr id="102" name="Text 99"/>
          <p:cNvSpPr txBox="1"/>
          <p:nvPr/>
        </p:nvSpPr>
        <p:spPr>
          <a:xfrm>
            <a:off x="8896380" y="2286000"/>
            <a:ext cx="2476470" cy="209580"/>
          </a:xfrm>
          <a:prstGeom prst="rect">
            <a:avLst/>
          </a:prstGeom>
          <a:noFill/>
          <a:ln/>
        </p:spPr>
        <p:txBody>
          <a:bodyPr wrap="square" lIns="0" tIns="0" rIns="0" bIns="0" rtlCol="0" anchor="t"/>
          <a:lstStyle/>
          <a:p>
            <a:pPr algn="l" indent="0" marL="0">
              <a:lnSpc>
                <a:spcPct val="105000"/>
              </a:lnSpc>
              <a:buNone/>
            </a:pPr>
            <a:r>
              <a:rPr lang="en-US" sz="1300" b="1" dirty="0">
                <a:solidFill>
                  <a:schemeClr val="bg1"/>
                </a:solidFill>
              </a:rPr>
              <a:t>Неміс</a:t>
            </a:r>
            <a:endParaRPr lang="en-US" sz="1300" dirty="0"/>
          </a:p>
        </p:txBody>
      </p:sp>
      <p:sp>
        <p:nvSpPr>
          <p:cNvPr id="103" name="Text 100"/>
          <p:cNvSpPr/>
          <p:nvPr/>
        </p:nvSpPr>
        <p:spPr>
          <a:xfrm>
            <a:off x="8572500" y="2571750"/>
            <a:ext cx="228600" cy="228600"/>
          </a:xfrm>
          <a:prstGeom prst="ellipse">
            <a:avLst/>
          </a:prstGeom>
          <a:solidFill>
            <a:schemeClr val="accent3"/>
          </a:solidFill>
          <a:ln/>
        </p:spPr>
        <p:txBody>
          <a:bodyPr wrap="square" lIns="0" tIns="0" rIns="0" bIns="0" rtlCol="0" anchor="ctr"/>
          <a:lstStyle/>
          <a:p>
            <a:pPr algn="ctr" indent="0" marL="0">
              <a:lnSpc>
                <a:spcPct val="100000"/>
              </a:lnSpc>
              <a:buNone/>
            </a:pPr>
            <a:r>
              <a:rPr lang="en-US" sz="1100" b="1" dirty="0">
                <a:solidFill>
                  <a:schemeClr val="bg1"/>
                </a:solidFill>
              </a:rPr>
              <a:t>3</a:t>
            </a:r>
            <a:endParaRPr lang="en-US" sz="1100" dirty="0"/>
          </a:p>
        </p:txBody>
      </p:sp>
      <p:sp>
        <p:nvSpPr>
          <p:cNvPr id="104" name="Text 101"/>
          <p:cNvSpPr txBox="1"/>
          <p:nvPr/>
        </p:nvSpPr>
        <p:spPr>
          <a:xfrm>
            <a:off x="8896380" y="2590770"/>
            <a:ext cx="2476470" cy="209580"/>
          </a:xfrm>
          <a:prstGeom prst="rect">
            <a:avLst/>
          </a:prstGeom>
          <a:noFill/>
          <a:ln/>
        </p:spPr>
        <p:txBody>
          <a:bodyPr wrap="square" lIns="0" tIns="0" rIns="0" bIns="0" rtlCol="0" anchor="t"/>
          <a:lstStyle/>
          <a:p>
            <a:pPr algn="l" indent="0" marL="0">
              <a:lnSpc>
                <a:spcPct val="105000"/>
              </a:lnSpc>
              <a:buNone/>
            </a:pPr>
            <a:r>
              <a:rPr lang="en-US" sz="1300" b="1" dirty="0">
                <a:solidFill>
                  <a:schemeClr val="bg1"/>
                </a:solidFill>
              </a:rPr>
              <a:t>Француз</a:t>
            </a:r>
            <a:endParaRPr lang="en-US" sz="1300" dirty="0"/>
          </a:p>
        </p:txBody>
      </p:sp>
      <p:sp>
        <p:nvSpPr>
          <p:cNvPr id="105" name="Text 102"/>
          <p:cNvSpPr/>
          <p:nvPr/>
        </p:nvSpPr>
        <p:spPr>
          <a:xfrm>
            <a:off x="8572500" y="2876520"/>
            <a:ext cx="228600" cy="228600"/>
          </a:xfrm>
          <a:prstGeom prst="ellipse">
            <a:avLst/>
          </a:prstGeom>
          <a:solidFill>
            <a:schemeClr val="accent4"/>
          </a:solidFill>
          <a:ln/>
        </p:spPr>
        <p:txBody>
          <a:bodyPr wrap="square" lIns="0" tIns="0" rIns="0" bIns="0" rtlCol="0" anchor="ctr"/>
          <a:lstStyle/>
          <a:p>
            <a:pPr algn="ctr" indent="0" marL="0">
              <a:lnSpc>
                <a:spcPct val="100000"/>
              </a:lnSpc>
              <a:buNone/>
            </a:pPr>
            <a:r>
              <a:rPr lang="en-US" sz="1100" b="1" dirty="0">
                <a:solidFill>
                  <a:schemeClr val="bg1"/>
                </a:solidFill>
              </a:rPr>
              <a:t>4</a:t>
            </a:r>
            <a:endParaRPr lang="en-US" sz="1100" dirty="0"/>
          </a:p>
        </p:txBody>
      </p:sp>
      <p:sp>
        <p:nvSpPr>
          <p:cNvPr id="106" name="Text 103"/>
          <p:cNvSpPr txBox="1"/>
          <p:nvPr/>
        </p:nvSpPr>
        <p:spPr>
          <a:xfrm>
            <a:off x="8896380" y="2895630"/>
            <a:ext cx="2476470" cy="209580"/>
          </a:xfrm>
          <a:prstGeom prst="rect">
            <a:avLst/>
          </a:prstGeom>
          <a:noFill/>
          <a:ln/>
        </p:spPr>
        <p:txBody>
          <a:bodyPr wrap="square" lIns="0" tIns="0" rIns="0" bIns="0" rtlCol="0" anchor="t"/>
          <a:lstStyle/>
          <a:p>
            <a:pPr algn="l" indent="0" marL="0">
              <a:lnSpc>
                <a:spcPct val="105000"/>
              </a:lnSpc>
              <a:buNone/>
            </a:pPr>
            <a:r>
              <a:rPr lang="en-US" sz="1300" b="1" dirty="0">
                <a:solidFill>
                  <a:schemeClr val="bg1"/>
                </a:solidFill>
              </a:rPr>
              <a:t>Еуразиялық</a:t>
            </a:r>
            <a:endParaRPr lang="en-US" sz="1300" dirty="0"/>
          </a:p>
        </p:txBody>
      </p:sp>
      <p:sp>
        <p:nvSpPr>
          <p:cNvPr id="107" name="Text 104"/>
          <p:cNvSpPr/>
          <p:nvPr/>
        </p:nvSpPr>
        <p:spPr>
          <a:xfrm>
            <a:off x="8572500" y="3181380"/>
            <a:ext cx="228600" cy="228600"/>
          </a:xfrm>
          <a:prstGeom prst="ellipse">
            <a:avLst/>
          </a:prstGeom>
          <a:solidFill>
            <a:schemeClr val="accent5"/>
          </a:solidFill>
          <a:ln/>
        </p:spPr>
        <p:txBody>
          <a:bodyPr wrap="square" lIns="0" tIns="0" rIns="0" bIns="0" rtlCol="0" anchor="ctr"/>
          <a:lstStyle/>
          <a:p>
            <a:pPr algn="ctr" indent="0" marL="0">
              <a:lnSpc>
                <a:spcPct val="100000"/>
              </a:lnSpc>
              <a:buNone/>
            </a:pPr>
            <a:r>
              <a:rPr lang="en-US" sz="1100" b="1" dirty="0">
                <a:solidFill>
                  <a:schemeClr val="bg1"/>
                </a:solidFill>
              </a:rPr>
              <a:t>5</a:t>
            </a:r>
            <a:endParaRPr lang="en-US" sz="1100" dirty="0"/>
          </a:p>
        </p:txBody>
      </p:sp>
      <p:sp>
        <p:nvSpPr>
          <p:cNvPr id="108" name="Text 105"/>
          <p:cNvSpPr txBox="1"/>
          <p:nvPr/>
        </p:nvSpPr>
        <p:spPr>
          <a:xfrm>
            <a:off x="8896380" y="3200400"/>
            <a:ext cx="2476470" cy="209580"/>
          </a:xfrm>
          <a:prstGeom prst="rect">
            <a:avLst/>
          </a:prstGeom>
          <a:noFill/>
          <a:ln/>
        </p:spPr>
        <p:txBody>
          <a:bodyPr wrap="square" lIns="0" tIns="0" rIns="0" bIns="0" rtlCol="0" anchor="t"/>
          <a:lstStyle/>
          <a:p>
            <a:pPr algn="l" indent="0" marL="0">
              <a:lnSpc>
                <a:spcPct val="105000"/>
              </a:lnSpc>
              <a:buNone/>
            </a:pPr>
            <a:r>
              <a:rPr lang="en-US" sz="1300" b="1" dirty="0">
                <a:solidFill>
                  <a:schemeClr val="bg1"/>
                </a:solidFill>
              </a:rPr>
              <a:t>Постбиполярлық</a:t>
            </a:r>
            <a:endParaRPr lang="en-US" sz="1300" dirty="0"/>
          </a:p>
        </p:txBody>
      </p:sp>
      <p:sp>
        <p:nvSpPr>
          <p:cNvPr id="109" name="Text 106"/>
          <p:cNvSpPr/>
          <p:nvPr/>
        </p:nvSpPr>
        <p:spPr>
          <a:xfrm>
            <a:off x="8572500" y="3486150"/>
            <a:ext cx="228600" cy="228600"/>
          </a:xfrm>
          <a:prstGeom prst="ellipse">
            <a:avLst/>
          </a:prstGeom>
          <a:solidFill>
            <a:schemeClr val="accent6"/>
          </a:solidFill>
          <a:ln/>
        </p:spPr>
        <p:txBody>
          <a:bodyPr wrap="square" lIns="0" tIns="0" rIns="0" bIns="0" rtlCol="0" anchor="ctr"/>
          <a:lstStyle/>
          <a:p>
            <a:pPr algn="ctr" indent="0" marL="0">
              <a:lnSpc>
                <a:spcPct val="100000"/>
              </a:lnSpc>
              <a:buNone/>
            </a:pPr>
            <a:r>
              <a:rPr lang="en-US" sz="1100" b="1" dirty="0">
                <a:solidFill>
                  <a:srgbClr val="2A1600"/>
                </a:solidFill>
              </a:rPr>
              <a:t>6</a:t>
            </a:r>
            <a:endParaRPr lang="en-US" sz="1100" dirty="0"/>
          </a:p>
        </p:txBody>
      </p:sp>
      <p:sp>
        <p:nvSpPr>
          <p:cNvPr id="110" name="Text 107"/>
          <p:cNvSpPr txBox="1"/>
          <p:nvPr/>
        </p:nvSpPr>
        <p:spPr>
          <a:xfrm>
            <a:off x="8896380" y="3505170"/>
            <a:ext cx="2476470" cy="209580"/>
          </a:xfrm>
          <a:prstGeom prst="rect">
            <a:avLst/>
          </a:prstGeom>
          <a:noFill/>
          <a:ln/>
        </p:spPr>
        <p:txBody>
          <a:bodyPr wrap="square" lIns="0" tIns="0" rIns="0" bIns="0" rtlCol="0" anchor="t"/>
          <a:lstStyle/>
          <a:p>
            <a:pPr algn="l" indent="0" marL="0">
              <a:lnSpc>
                <a:spcPct val="105000"/>
              </a:lnSpc>
              <a:buNone/>
            </a:pPr>
            <a:r>
              <a:rPr lang="en-US" sz="1300" b="1" dirty="0">
                <a:solidFill>
                  <a:schemeClr val="bg1"/>
                </a:solidFill>
              </a:rPr>
              <a:t>Сыни</a:t>
            </a:r>
            <a:endParaRPr lang="en-US" sz="1300" dirty="0"/>
          </a:p>
        </p:txBody>
      </p:sp>
      <p:sp>
        <p:nvSpPr>
          <p:cNvPr id="111" name="Shape 108"/>
          <p:cNvSpPr/>
          <p:nvPr/>
        </p:nvSpPr>
        <p:spPr>
          <a:xfrm>
            <a:off x="8572500" y="4000500"/>
            <a:ext cx="3086100" cy="1866930"/>
          </a:xfrm>
          <a:prstGeom prst="roundRect">
            <a:avLst>
              <a:gd name="adj" fmla="val 6857"/>
            </a:avLst>
          </a:prstGeom>
          <a:solidFill>
            <a:srgbClr val="5B2BB8">
              <a:alpha val="55000"/>
            </a:srgbClr>
          </a:solidFill>
          <a:ln/>
        </p:spPr>
      </p:sp>
      <p:sp>
        <p:nvSpPr>
          <p:cNvPr id="112" name="Text 109"/>
          <p:cNvSpPr txBox="1"/>
          <p:nvPr/>
        </p:nvSpPr>
        <p:spPr>
          <a:xfrm>
            <a:off x="8686800" y="4114800"/>
            <a:ext cx="2857500" cy="1638330"/>
          </a:xfrm>
          <a:prstGeom prst="rect">
            <a:avLst/>
          </a:prstGeom>
          <a:noFill/>
          <a:ln/>
        </p:spPr>
        <p:txBody>
          <a:bodyPr wrap="square" lIns="0" tIns="0" rIns="0" bIns="0" rtlCol="0" anchor="ctr"/>
          <a:lstStyle/>
          <a:p>
            <a:pPr algn="ctr" indent="0" marL="0">
              <a:lnSpc>
                <a:spcPct val="115000"/>
              </a:lnSpc>
              <a:buNone/>
            </a:pPr>
            <a:r>
              <a:rPr lang="en-US" sz="1400" b="1" dirty="0">
                <a:solidFill>
                  <a:schemeClr val="bg1"/>
                </a:solidFill>
              </a:rPr>
              <a:t>Объективті «заңдылық» іздеу</a:t>
            </a:r>
            <a:endParaRPr lang="en-US" sz="1400" dirty="0"/>
          </a:p>
          <a:p>
            <a:pPr algn="ctr" indent="0" marL="0">
              <a:lnSpc>
                <a:spcPct val="115000"/>
              </a:lnSpc>
              <a:buNone/>
            </a:pPr>
            <a:r>
              <a:rPr lang="en-US" sz="1400" b="1" dirty="0">
                <a:solidFill>
                  <a:srgbClr val="C9C2EC"/>
                </a:solidFill>
              </a:rPr>
              <a:t>⬇</a:t>
            </a:r>
            <a:endParaRPr lang="en-US" sz="1400" dirty="0"/>
          </a:p>
          <a:p>
            <a:pPr algn="ctr" indent="0" marL="0">
              <a:lnSpc>
                <a:spcPct val="115000"/>
              </a:lnSpc>
              <a:buNone/>
            </a:pPr>
            <a:r>
              <a:rPr lang="en-US" sz="1400" b="1" dirty="0">
                <a:solidFill>
                  <a:schemeClr val="bg1"/>
                </a:solidFill>
              </a:rPr>
              <a:t>Аймақ пен өркениетті түсіндіру</a:t>
            </a:r>
            <a:endParaRPr lang="en-US" sz="1400" dirty="0"/>
          </a:p>
          <a:p>
            <a:pPr algn="ctr" indent="0" marL="0">
              <a:lnSpc>
                <a:spcPct val="115000"/>
              </a:lnSpc>
              <a:buNone/>
            </a:pPr>
            <a:r>
              <a:rPr lang="en-US" sz="1400" b="1" dirty="0">
                <a:solidFill>
                  <a:srgbClr val="C9C2EC"/>
                </a:solidFill>
              </a:rPr>
              <a:t>⬇</a:t>
            </a:r>
            <a:endParaRPr lang="en-US" sz="1400" dirty="0"/>
          </a:p>
          <a:p>
            <a:pPr algn="ctr" indent="0" marL="0">
              <a:lnSpc>
                <a:spcPct val="115000"/>
              </a:lnSpc>
              <a:buNone/>
            </a:pPr>
            <a:r>
              <a:rPr lang="en-US" sz="1400" b="1" dirty="0">
                <a:solidFill>
                  <a:schemeClr val="bg1"/>
                </a:solidFill>
              </a:rPr>
              <a:t>Дискурсты интерпретациялау</a:t>
            </a:r>
            <a:endParaRPr lang="en-US" sz="1400" dirty="0"/>
          </a:p>
        </p:txBody>
      </p:sp>
      <p:sp>
        <p:nvSpPr>
          <p:cNvPr id="25" name="Slide Number Placeholder 0"/>
          <p:cNvSpPr>
            <a:spLocks noGrp="1"/>
          </p:cNvSpPr>
          <p:nvPr>
            <p:ph type="sldNum" sz="quarter" idx="4294967295"/>
          </p:nvPr>
        </p:nvSpPr>
        <p:spPr>
          <a:xfrm>
            <a:off x="10953780" y="6515100"/>
            <a:ext cx="7619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C9C2E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33370" y="800100"/>
            <a:ext cx="11125230" cy="533370"/>
          </a:xfrm>
          <a:prstGeom prst="rect">
            <a:avLst/>
          </a:prstGeom>
          <a:noFill/>
          <a:ln/>
        </p:spPr>
        <p:txBody>
          <a:bodyPr wrap="square" lIns="0" tIns="0" rIns="0" bIns="0" rtlCol="0" anchor="t"/>
          <a:lstStyle/>
          <a:p>
            <a:pPr algn="l" indent="0" marL="0">
              <a:buNone/>
            </a:pPr>
            <a:r>
              <a:rPr lang="en-US" sz="3200" b="1" dirty="0">
                <a:solidFill>
                  <a:schemeClr val="bg1"/>
                </a:solidFill>
              </a:rPr>
              <a:t>Қорытынды</a:t>
            </a:r>
            <a:endParaRPr lang="en-US" sz="3200" dirty="0"/>
          </a:p>
        </p:txBody>
      </p:sp>
      <p:sp>
        <p:nvSpPr>
          <p:cNvPr id="4" name="Tag"/>
          <p:cNvSpPr/>
          <p:nvPr/>
        </p:nvSpPr>
        <p:spPr>
          <a:xfrm>
            <a:off x="533370" y="419070"/>
            <a:ext cx="1095360" cy="285750"/>
          </a:xfrm>
          <a:prstGeom prst="roundRect">
            <a:avLst>
              <a:gd name="adj" fmla="val 50000"/>
            </a:avLst>
          </a:prstGeom>
          <a:solidFill>
            <a:schemeClr val="accent6"/>
          </a:solidFill>
          <a:ln/>
        </p:spPr>
        <p:txBody>
          <a:bodyPr wrap="square" lIns="0" tIns="0" rIns="0" bIns="0" rtlCol="0" anchor="ctr"/>
          <a:lstStyle/>
          <a:p>
            <a:pPr algn="ctr" indent="0" marL="0">
              <a:lnSpc>
                <a:spcPct val="100000"/>
              </a:lnSpc>
              <a:buNone/>
            </a:pPr>
            <a:r>
              <a:rPr lang="en-US" sz="1100" b="1" spc="150" kern="0" dirty="0">
                <a:solidFill>
                  <a:srgbClr val="2A1600"/>
                </a:solidFill>
              </a:rPr>
              <a:t>ҚОРЫТЫНДЫ</a:t>
            </a:r>
            <a:endParaRPr lang="en-US" sz="1100" dirty="0"/>
          </a:p>
        </p:txBody>
      </p:sp>
      <p:sp>
        <p:nvSpPr>
          <p:cNvPr id="5" name="Shape 2"/>
          <p:cNvSpPr/>
          <p:nvPr/>
        </p:nvSpPr>
        <p:spPr>
          <a:xfrm>
            <a:off x="533370" y="1447770"/>
            <a:ext cx="6134070" cy="838230"/>
          </a:xfrm>
          <a:prstGeom prst="roundRect">
            <a:avLst>
              <a:gd name="adj" fmla="val 15272"/>
            </a:avLst>
          </a:prstGeom>
          <a:solidFill>
            <a:srgbClr val="FFFFFF">
              <a:alpha val="8000"/>
            </a:srgbClr>
          </a:solidFill>
          <a:ln w="9525">
            <a:solidFill>
              <a:srgbClr val="FFFFFF">
                <a:alpha val="14000"/>
              </a:srgbClr>
            </a:solidFill>
            <a:prstDash val="solid"/>
          </a:ln>
        </p:spPr>
      </p:sp>
      <p:sp>
        <p:nvSpPr>
          <p:cNvPr id="6" name="Text 3"/>
          <p:cNvSpPr/>
          <p:nvPr/>
        </p:nvSpPr>
        <p:spPr>
          <a:xfrm>
            <a:off x="685800" y="1676370"/>
            <a:ext cx="381030" cy="381030"/>
          </a:xfrm>
          <a:prstGeom prst="ellipse">
            <a:avLst/>
          </a:prstGeom>
          <a:solidFill>
            <a:schemeClr val="accent1"/>
          </a:solidFill>
          <a:ln/>
        </p:spPr>
        <p:txBody>
          <a:bodyPr wrap="square" lIns="0" tIns="0" rIns="0" bIns="0" rtlCol="0" anchor="ctr"/>
          <a:lstStyle/>
          <a:p>
            <a:pPr algn="ctr" indent="0" marL="0">
              <a:lnSpc>
                <a:spcPct val="100000"/>
              </a:lnSpc>
              <a:buNone/>
            </a:pPr>
            <a:r>
              <a:rPr lang="en-US" sz="1600" b="1" dirty="0">
                <a:solidFill>
                  <a:schemeClr val="bg1"/>
                </a:solidFill>
              </a:rPr>
              <a:t>1</a:t>
            </a:r>
            <a:endParaRPr lang="en-US" sz="1600" dirty="0"/>
          </a:p>
        </p:txBody>
      </p:sp>
      <p:sp>
        <p:nvSpPr>
          <p:cNvPr id="7" name="Text 4"/>
          <p:cNvSpPr txBox="1"/>
          <p:nvPr/>
        </p:nvSpPr>
        <p:spPr>
          <a:xfrm>
            <a:off x="1219170" y="1504920"/>
            <a:ext cx="5295930" cy="723930"/>
          </a:xfrm>
          <a:prstGeom prst="rect">
            <a:avLst/>
          </a:prstGeom>
          <a:noFill/>
          <a:ln/>
        </p:spPr>
        <p:txBody>
          <a:bodyPr wrap="square" lIns="0" tIns="0" rIns="0" bIns="0" rtlCol="0" anchor="ctr"/>
          <a:lstStyle/>
          <a:p>
            <a:pPr algn="l" indent="0" marL="0">
              <a:lnSpc>
                <a:spcPct val="105000"/>
              </a:lnSpc>
              <a:buNone/>
            </a:pPr>
            <a:r>
              <a:rPr lang="en-US" sz="1400" b="1" dirty="0">
                <a:solidFill>
                  <a:schemeClr val="bg1"/>
                </a:solidFill>
              </a:rPr>
              <a:t>Ортақ өзек.</a:t>
            </a:r>
            <a:pPr algn="l" indent="0" marL="0">
              <a:lnSpc>
                <a:spcPct val="105000"/>
              </a:lnSpc>
              <a:buNone/>
            </a:pPr>
            <a:r>
              <a:rPr lang="en-US" sz="1400" dirty="0">
                <a:solidFill>
                  <a:schemeClr val="bg1"/>
                </a:solidFill>
              </a:rPr>
              <a:t> Барлық мектеп «кеңістік — билік — қауіпсіздік» байланысын зерттейді.</a:t>
            </a:r>
            <a:endParaRPr lang="en-US" sz="1400" dirty="0"/>
          </a:p>
        </p:txBody>
      </p:sp>
      <p:sp>
        <p:nvSpPr>
          <p:cNvPr id="8" name="Shape 5"/>
          <p:cNvSpPr/>
          <p:nvPr/>
        </p:nvSpPr>
        <p:spPr>
          <a:xfrm>
            <a:off x="533370" y="2381280"/>
            <a:ext cx="6134070" cy="838230"/>
          </a:xfrm>
          <a:prstGeom prst="roundRect">
            <a:avLst>
              <a:gd name="adj" fmla="val 15272"/>
            </a:avLst>
          </a:prstGeom>
          <a:solidFill>
            <a:srgbClr val="FFFFFF">
              <a:alpha val="8000"/>
            </a:srgbClr>
          </a:solidFill>
          <a:ln w="9525">
            <a:solidFill>
              <a:srgbClr val="FFFFFF">
                <a:alpha val="14000"/>
              </a:srgbClr>
            </a:solidFill>
            <a:prstDash val="solid"/>
          </a:ln>
        </p:spPr>
      </p:sp>
      <p:sp>
        <p:nvSpPr>
          <p:cNvPr id="9" name="Text 6"/>
          <p:cNvSpPr/>
          <p:nvPr/>
        </p:nvSpPr>
        <p:spPr>
          <a:xfrm>
            <a:off x="685800" y="2609880"/>
            <a:ext cx="381030" cy="381030"/>
          </a:xfrm>
          <a:prstGeom prst="ellipse">
            <a:avLst/>
          </a:prstGeom>
          <a:solidFill>
            <a:schemeClr val="accent2"/>
          </a:solidFill>
          <a:ln/>
        </p:spPr>
        <p:txBody>
          <a:bodyPr wrap="square" lIns="0" tIns="0" rIns="0" bIns="0" rtlCol="0" anchor="ctr"/>
          <a:lstStyle/>
          <a:p>
            <a:pPr algn="ctr" indent="0" marL="0">
              <a:lnSpc>
                <a:spcPct val="100000"/>
              </a:lnSpc>
              <a:buNone/>
            </a:pPr>
            <a:r>
              <a:rPr lang="en-US" sz="1600" b="1" dirty="0">
                <a:solidFill>
                  <a:schemeClr val="bg1"/>
                </a:solidFill>
              </a:rPr>
              <a:t>2</a:t>
            </a:r>
            <a:endParaRPr lang="en-US" sz="1600" dirty="0"/>
          </a:p>
        </p:txBody>
      </p:sp>
      <p:sp>
        <p:nvSpPr>
          <p:cNvPr id="10" name="Text 7"/>
          <p:cNvSpPr txBox="1"/>
          <p:nvPr/>
        </p:nvSpPr>
        <p:spPr>
          <a:xfrm>
            <a:off x="1219170" y="2438430"/>
            <a:ext cx="5295930" cy="723930"/>
          </a:xfrm>
          <a:prstGeom prst="rect">
            <a:avLst/>
          </a:prstGeom>
          <a:noFill/>
          <a:ln/>
        </p:spPr>
        <p:txBody>
          <a:bodyPr wrap="square" lIns="0" tIns="0" rIns="0" bIns="0" rtlCol="0" anchor="ctr"/>
          <a:lstStyle/>
          <a:p>
            <a:pPr algn="l" indent="0" marL="0">
              <a:lnSpc>
                <a:spcPct val="105000"/>
              </a:lnSpc>
              <a:buNone/>
            </a:pPr>
            <a:r>
              <a:rPr lang="en-US" sz="1400" b="1" dirty="0">
                <a:solidFill>
                  <a:schemeClr val="bg1"/>
                </a:solidFill>
              </a:rPr>
              <a:t>Басты айырмашылық</a:t>
            </a:r>
            <a:pPr algn="l" indent="0" marL="0">
              <a:lnSpc>
                <a:spcPct val="105000"/>
              </a:lnSpc>
              <a:buNone/>
            </a:pPr>
            <a:r>
              <a:rPr lang="en-US" sz="1400" dirty="0">
                <a:solidFill>
                  <a:schemeClr val="bg1"/>
                </a:solidFill>
              </a:rPr>
              <a:t> — география рөлін бағалауда: детерминизмнен (неміс, англо-американ) поссибилизм мен конструктивизмге (француз, сыни).</a:t>
            </a:r>
            <a:endParaRPr lang="en-US" sz="1400" dirty="0"/>
          </a:p>
        </p:txBody>
      </p:sp>
      <p:sp>
        <p:nvSpPr>
          <p:cNvPr id="11" name="Shape 8"/>
          <p:cNvSpPr/>
          <p:nvPr/>
        </p:nvSpPr>
        <p:spPr>
          <a:xfrm>
            <a:off x="533370" y="3314700"/>
            <a:ext cx="6134070" cy="838230"/>
          </a:xfrm>
          <a:prstGeom prst="roundRect">
            <a:avLst>
              <a:gd name="adj" fmla="val 15272"/>
            </a:avLst>
          </a:prstGeom>
          <a:solidFill>
            <a:srgbClr val="FFFFFF">
              <a:alpha val="8000"/>
            </a:srgbClr>
          </a:solidFill>
          <a:ln w="9525">
            <a:solidFill>
              <a:srgbClr val="FFFFFF">
                <a:alpha val="14000"/>
              </a:srgbClr>
            </a:solidFill>
            <a:prstDash val="solid"/>
          </a:ln>
        </p:spPr>
      </p:sp>
      <p:sp>
        <p:nvSpPr>
          <p:cNvPr id="12" name="Text 9"/>
          <p:cNvSpPr/>
          <p:nvPr/>
        </p:nvSpPr>
        <p:spPr>
          <a:xfrm>
            <a:off x="685800" y="3543300"/>
            <a:ext cx="381030" cy="381030"/>
          </a:xfrm>
          <a:prstGeom prst="ellipse">
            <a:avLst/>
          </a:prstGeom>
          <a:solidFill>
            <a:schemeClr val="accent3"/>
          </a:solidFill>
          <a:ln/>
        </p:spPr>
        <p:txBody>
          <a:bodyPr wrap="square" lIns="0" tIns="0" rIns="0" bIns="0" rtlCol="0" anchor="ctr"/>
          <a:lstStyle/>
          <a:p>
            <a:pPr algn="ctr" indent="0" marL="0">
              <a:lnSpc>
                <a:spcPct val="100000"/>
              </a:lnSpc>
              <a:buNone/>
            </a:pPr>
            <a:r>
              <a:rPr lang="en-US" sz="1600" b="1" dirty="0">
                <a:solidFill>
                  <a:schemeClr val="bg1"/>
                </a:solidFill>
              </a:rPr>
              <a:t>3</a:t>
            </a:r>
            <a:endParaRPr lang="en-US" sz="1600" dirty="0"/>
          </a:p>
        </p:txBody>
      </p:sp>
      <p:sp>
        <p:nvSpPr>
          <p:cNvPr id="13" name="Text 10"/>
          <p:cNvSpPr txBox="1"/>
          <p:nvPr/>
        </p:nvSpPr>
        <p:spPr>
          <a:xfrm>
            <a:off x="1219170" y="3371850"/>
            <a:ext cx="5295930" cy="723930"/>
          </a:xfrm>
          <a:prstGeom prst="rect">
            <a:avLst/>
          </a:prstGeom>
          <a:noFill/>
          <a:ln/>
        </p:spPr>
        <p:txBody>
          <a:bodyPr wrap="square" lIns="0" tIns="0" rIns="0" bIns="0" rtlCol="0" anchor="ctr"/>
          <a:lstStyle/>
          <a:p>
            <a:pPr algn="l" indent="0" marL="0">
              <a:lnSpc>
                <a:spcPct val="105000"/>
              </a:lnSpc>
              <a:buNone/>
            </a:pPr>
            <a:r>
              <a:rPr lang="en-US" sz="1400" b="1" dirty="0">
                <a:solidFill>
                  <a:schemeClr val="bg1"/>
                </a:solidFill>
              </a:rPr>
              <a:t>Контекст маңызды.</a:t>
            </a:r>
            <a:pPr algn="l" indent="0" marL="0">
              <a:lnSpc>
                <a:spcPct val="105000"/>
              </a:lnSpc>
              <a:buNone/>
            </a:pPr>
            <a:r>
              <a:rPr lang="en-US" sz="1400" dirty="0">
                <a:solidFill>
                  <a:schemeClr val="bg1"/>
                </a:solidFill>
              </a:rPr>
              <a:t> Әр мектеп өз елінің ұлттық мүддесі мен тарихи кезеңін бейнелейді: теория — уақыт пен орынның «айнасы».</a:t>
            </a:r>
            <a:endParaRPr lang="en-US" sz="1400" dirty="0"/>
          </a:p>
        </p:txBody>
      </p:sp>
      <p:sp>
        <p:nvSpPr>
          <p:cNvPr id="14" name="Shape 11"/>
          <p:cNvSpPr/>
          <p:nvPr/>
        </p:nvSpPr>
        <p:spPr>
          <a:xfrm>
            <a:off x="533370" y="4248120"/>
            <a:ext cx="6134070" cy="838230"/>
          </a:xfrm>
          <a:prstGeom prst="roundRect">
            <a:avLst>
              <a:gd name="adj" fmla="val 15272"/>
            </a:avLst>
          </a:prstGeom>
          <a:solidFill>
            <a:srgbClr val="FFFFFF">
              <a:alpha val="8000"/>
            </a:srgbClr>
          </a:solidFill>
          <a:ln w="9525">
            <a:solidFill>
              <a:srgbClr val="FFFFFF">
                <a:alpha val="14000"/>
              </a:srgbClr>
            </a:solidFill>
            <a:prstDash val="solid"/>
          </a:ln>
        </p:spPr>
      </p:sp>
      <p:sp>
        <p:nvSpPr>
          <p:cNvPr id="15" name="Text 12"/>
          <p:cNvSpPr/>
          <p:nvPr/>
        </p:nvSpPr>
        <p:spPr>
          <a:xfrm>
            <a:off x="685800" y="4476720"/>
            <a:ext cx="381030" cy="381030"/>
          </a:xfrm>
          <a:prstGeom prst="ellipse">
            <a:avLst/>
          </a:prstGeom>
          <a:solidFill>
            <a:schemeClr val="accent5"/>
          </a:solidFill>
          <a:ln/>
        </p:spPr>
        <p:txBody>
          <a:bodyPr wrap="square" lIns="0" tIns="0" rIns="0" bIns="0" rtlCol="0" anchor="ctr"/>
          <a:lstStyle/>
          <a:p>
            <a:pPr algn="ctr" indent="0" marL="0">
              <a:lnSpc>
                <a:spcPct val="100000"/>
              </a:lnSpc>
              <a:buNone/>
            </a:pPr>
            <a:r>
              <a:rPr lang="en-US" sz="1600" b="1" dirty="0">
                <a:solidFill>
                  <a:schemeClr val="bg1"/>
                </a:solidFill>
              </a:rPr>
              <a:t>4</a:t>
            </a:r>
            <a:endParaRPr lang="en-US" sz="1600" dirty="0"/>
          </a:p>
        </p:txBody>
      </p:sp>
      <p:sp>
        <p:nvSpPr>
          <p:cNvPr id="16" name="Text 13"/>
          <p:cNvSpPr txBox="1"/>
          <p:nvPr/>
        </p:nvSpPr>
        <p:spPr>
          <a:xfrm>
            <a:off x="1219170" y="4305270"/>
            <a:ext cx="5295930" cy="723930"/>
          </a:xfrm>
          <a:prstGeom prst="rect">
            <a:avLst/>
          </a:prstGeom>
          <a:noFill/>
          <a:ln/>
        </p:spPr>
        <p:txBody>
          <a:bodyPr wrap="square" lIns="0" tIns="0" rIns="0" bIns="0" rtlCol="0" anchor="ctr"/>
          <a:lstStyle/>
          <a:p>
            <a:pPr algn="l" indent="0" marL="0">
              <a:lnSpc>
                <a:spcPct val="105000"/>
              </a:lnSpc>
              <a:buNone/>
            </a:pPr>
            <a:r>
              <a:rPr lang="en-US" sz="1400" b="1" dirty="0">
                <a:solidFill>
                  <a:schemeClr val="bg1"/>
                </a:solidFill>
              </a:rPr>
              <a:t>Әдіснамалық эволюция:</a:t>
            </a:r>
            <a:pPr algn="l" indent="0" marL="0">
              <a:lnSpc>
                <a:spcPct val="105000"/>
              </a:lnSpc>
              <a:buNone/>
            </a:pPr>
            <a:r>
              <a:rPr lang="en-US" sz="1400" dirty="0">
                <a:solidFill>
                  <a:schemeClr val="bg1"/>
                </a:solidFill>
              </a:rPr>
              <a:t> картографиялық-тарихи «заңдардан» өркениеттік және дискурстық талдауға қарай.</a:t>
            </a:r>
            <a:endParaRPr lang="en-US" sz="1400" dirty="0"/>
          </a:p>
        </p:txBody>
      </p:sp>
      <p:sp>
        <p:nvSpPr>
          <p:cNvPr id="17" name="Shape 14"/>
          <p:cNvSpPr/>
          <p:nvPr/>
        </p:nvSpPr>
        <p:spPr>
          <a:xfrm>
            <a:off x="533370" y="5181630"/>
            <a:ext cx="6134070" cy="838230"/>
          </a:xfrm>
          <a:prstGeom prst="roundRect">
            <a:avLst>
              <a:gd name="adj" fmla="val 15272"/>
            </a:avLst>
          </a:prstGeom>
          <a:solidFill>
            <a:srgbClr val="FFFFFF">
              <a:alpha val="8000"/>
            </a:srgbClr>
          </a:solidFill>
          <a:ln w="9525">
            <a:solidFill>
              <a:srgbClr val="FFFFFF">
                <a:alpha val="14000"/>
              </a:srgbClr>
            </a:solidFill>
            <a:prstDash val="solid"/>
          </a:ln>
        </p:spPr>
      </p:sp>
      <p:sp>
        <p:nvSpPr>
          <p:cNvPr id="18" name="Text 15"/>
          <p:cNvSpPr/>
          <p:nvPr/>
        </p:nvSpPr>
        <p:spPr>
          <a:xfrm>
            <a:off x="685800" y="5410230"/>
            <a:ext cx="381030" cy="381030"/>
          </a:xfrm>
          <a:prstGeom prst="ellipse">
            <a:avLst/>
          </a:prstGeom>
          <a:solidFill>
            <a:schemeClr val="accent6"/>
          </a:solidFill>
          <a:ln/>
        </p:spPr>
        <p:txBody>
          <a:bodyPr wrap="square" lIns="0" tIns="0" rIns="0" bIns="0" rtlCol="0" anchor="ctr"/>
          <a:lstStyle/>
          <a:p>
            <a:pPr algn="ctr" indent="0" marL="0">
              <a:lnSpc>
                <a:spcPct val="100000"/>
              </a:lnSpc>
              <a:buNone/>
            </a:pPr>
            <a:r>
              <a:rPr lang="en-US" sz="1600" b="1" dirty="0">
                <a:solidFill>
                  <a:srgbClr val="2A1600"/>
                </a:solidFill>
              </a:rPr>
              <a:t>5</a:t>
            </a:r>
            <a:endParaRPr lang="en-US" sz="1600" dirty="0"/>
          </a:p>
        </p:txBody>
      </p:sp>
      <p:sp>
        <p:nvSpPr>
          <p:cNvPr id="19" name="Text 16"/>
          <p:cNvSpPr txBox="1"/>
          <p:nvPr/>
        </p:nvSpPr>
        <p:spPr>
          <a:xfrm>
            <a:off x="1219170" y="5238780"/>
            <a:ext cx="5295930" cy="723930"/>
          </a:xfrm>
          <a:prstGeom prst="rect">
            <a:avLst/>
          </a:prstGeom>
          <a:noFill/>
          <a:ln/>
        </p:spPr>
        <p:txBody>
          <a:bodyPr wrap="square" lIns="0" tIns="0" rIns="0" bIns="0" rtlCol="0" anchor="ctr"/>
          <a:lstStyle/>
          <a:p>
            <a:pPr algn="l" indent="0" marL="0">
              <a:lnSpc>
                <a:spcPct val="105000"/>
              </a:lnSpc>
              <a:buNone/>
            </a:pPr>
            <a:r>
              <a:rPr lang="en-US" sz="1400" b="1" dirty="0">
                <a:solidFill>
                  <a:schemeClr val="bg1"/>
                </a:solidFill>
              </a:rPr>
              <a:t>Практикалық мәні:</a:t>
            </a:r>
            <a:pPr algn="l" indent="0" marL="0">
              <a:lnSpc>
                <a:spcPct val="105000"/>
              </a:lnSpc>
              <a:buNone/>
            </a:pPr>
            <a:r>
              <a:rPr lang="en-US" sz="1400" dirty="0">
                <a:solidFill>
                  <a:schemeClr val="bg1"/>
                </a:solidFill>
              </a:rPr>
              <a:t> бір оқиғаны бірнеше теориялық «линза» арқылы талдау әлемдік саясатты жан-жақты әрі сыни түсінуге мүмкіндік береді.</a:t>
            </a:r>
            <a:endParaRPr lang="en-US" sz="1400" dirty="0"/>
          </a:p>
        </p:txBody>
      </p:sp>
      <p:sp>
        <p:nvSpPr>
          <p:cNvPr id="20" name="Shape 17"/>
          <p:cNvSpPr/>
          <p:nvPr/>
        </p:nvSpPr>
        <p:spPr>
          <a:xfrm>
            <a:off x="6953280" y="1447770"/>
            <a:ext cx="4705320" cy="4572000"/>
          </a:xfrm>
          <a:prstGeom prst="roundRect">
            <a:avLst>
              <a:gd name="adj" fmla="val 2800"/>
            </a:avLst>
          </a:prstGeom>
          <a:solidFill>
            <a:srgbClr val="00AFCA">
              <a:alpha val="30000"/>
            </a:srgbClr>
          </a:solidFill>
          <a:ln w="9525">
            <a:solidFill>
              <a:srgbClr val="FFFFFF">
                <a:alpha val="20000"/>
              </a:srgbClr>
            </a:solidFill>
            <a:prstDash val="solid"/>
          </a:ln>
        </p:spPr>
      </p:sp>
      <p:pic>
        <p:nvPicPr>
          <p:cNvPr id="21" name="Image 0" descr="Еуразия глобусы, Қазақстан белгіленген">    </p:cNvPr>
          <p:cNvPicPr>
            <a:picLocks noChangeAspect="1"/>
          </p:cNvPicPr>
          <p:nvPr/>
        </p:nvPicPr>
        <p:blipFill>
          <a:blip r:embed="rId2"/>
          <a:stretch>
            <a:fillRect/>
          </a:stretch>
        </p:blipFill>
        <p:spPr>
          <a:xfrm>
            <a:off x="8115300" y="1600200"/>
            <a:ext cx="2381280" cy="2381280"/>
          </a:xfrm>
          <a:prstGeom prst="rect">
            <a:avLst/>
          </a:prstGeom>
        </p:spPr>
      </p:pic>
      <p:sp>
        <p:nvSpPr>
          <p:cNvPr id="22" name="Text 18"/>
          <p:cNvSpPr txBox="1"/>
          <p:nvPr/>
        </p:nvSpPr>
        <p:spPr>
          <a:xfrm>
            <a:off x="7162770" y="4076670"/>
            <a:ext cx="4286250" cy="1828800"/>
          </a:xfrm>
          <a:prstGeom prst="rect">
            <a:avLst/>
          </a:prstGeom>
          <a:noFill/>
          <a:ln/>
        </p:spPr>
        <p:txBody>
          <a:bodyPr wrap="square" lIns="0" tIns="0" rIns="0" bIns="0" rtlCol="0" anchor="t"/>
          <a:lstStyle/>
          <a:p>
            <a:pPr algn="l" indent="0" marL="0">
              <a:lnSpc>
                <a:spcPct val="108000"/>
              </a:lnSpc>
              <a:buNone/>
            </a:pPr>
            <a:r>
              <a:rPr lang="en-US" sz="1700" b="1" dirty="0">
                <a:solidFill>
                  <a:schemeClr val="bg1"/>
                </a:solidFill>
              </a:rPr>
              <a:t>Қазақстан үшін маңызы</a:t>
            </a:r>
            <a:endParaRPr lang="en-US" sz="1400" dirty="0"/>
          </a:p>
          <a:p>
            <a:pPr algn="l" indent="0" marL="0">
              <a:lnSpc>
                <a:spcPct val="108000"/>
              </a:lnSpc>
              <a:buNone/>
            </a:pPr>
            <a:r>
              <a:rPr lang="en-US" sz="1400" dirty="0">
                <a:solidFill>
                  <a:schemeClr val="bg1"/>
                </a:solidFill>
              </a:rPr>
              <a:t>Еліміз Хартлендтің жүрегінде орналасқан: «Хартленд», «Римленд», «Еуразиялық Балқан» ұғымдарының бәрі Қазақстанға тікелей қатысты. </a:t>
            </a:r>
            <a:pPr algn="l" indent="0" marL="0">
              <a:lnSpc>
                <a:spcPct val="108000"/>
              </a:lnSpc>
              <a:buNone/>
            </a:pPr>
            <a:r>
              <a:rPr lang="en-US" sz="1400" b="1" dirty="0">
                <a:solidFill>
                  <a:schemeClr val="bg1"/>
                </a:solidFill>
              </a:rPr>
              <a:t>Көпвекторлы сыртқы саясат</a:t>
            </a:r>
            <a:pPr algn="l" indent="0" marL="0">
              <a:lnSpc>
                <a:spcPct val="108000"/>
              </a:lnSpc>
              <a:buNone/>
            </a:pPr>
            <a:r>
              <a:rPr lang="en-US" sz="1400" dirty="0">
                <a:solidFill>
                  <a:schemeClr val="bg1"/>
                </a:solidFill>
              </a:rPr>
              <a:t> — ұлы державалардың «шахмат тақтасындағы» пешка емес, белсенді субъект болуға ұмтылыс.</a:t>
            </a:r>
            <a:endParaRPr lang="en-US" sz="1400" dirty="0"/>
          </a:p>
        </p:txBody>
      </p:sp>
      <p:sp>
        <p:nvSpPr>
          <p:cNvPr id="25" name="Slide Number Placeholder 0"/>
          <p:cNvSpPr>
            <a:spLocks noGrp="1"/>
          </p:cNvSpPr>
          <p:nvPr>
            <p:ph type="sldNum" sz="quarter" idx="4294967295"/>
          </p:nvPr>
        </p:nvSpPr>
        <p:spPr>
          <a:xfrm>
            <a:off x="10953780" y="6515100"/>
            <a:ext cx="7619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C9C2E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ph idx="100" type="title" hasCustomPrompt="1"/>
          </p:nvPr>
        </p:nvSpPr>
        <p:spPr>
          <a:xfrm>
            <a:off x="666780" y="2152680"/>
            <a:ext cx="7429500" cy="1638330"/>
          </a:xfrm>
          <a:prstGeom prst="rect">
            <a:avLst/>
          </a:prstGeom>
          <a:noFill/>
          <a:ln/>
        </p:spPr>
        <p:txBody>
          <a:bodyPr wrap="square" lIns="0" tIns="0" rIns="0" bIns="0" rtlCol="0" anchor="t"/>
          <a:lstStyle/>
          <a:p>
            <a:pPr algn="l" indent="0" marL="0">
              <a:lnSpc>
                <a:spcPct val="92000"/>
              </a:lnSpc>
              <a:buNone/>
            </a:pPr>
            <a:r>
              <a:rPr lang="en-US" sz="6000" b="1" dirty="0">
                <a:solidFill>
                  <a:schemeClr val="bg1"/>
                </a:solidFill>
              </a:rPr>
              <a:t>Назарларыңызға</a:t>
            </a:r>
            <a:endParaRPr lang="en-US" sz="6000" dirty="0"/>
          </a:p>
          <a:p>
            <a:pPr algn="l" indent="0" marL="0">
              <a:lnSpc>
                <a:spcPct val="92000"/>
              </a:lnSpc>
              <a:buNone/>
            </a:pPr>
            <a:r>
              <a:rPr lang="en-US" sz="6000" b="1" dirty="0">
                <a:solidFill>
                  <a:srgbClr val="FFD200"/>
                </a:solidFill>
              </a:rPr>
              <a:t>рахмет!</a:t>
            </a:r>
            <a:endParaRPr lang="en-US" sz="6000" dirty="0"/>
          </a:p>
        </p:txBody>
      </p:sp>
      <p:sp>
        <p:nvSpPr>
          <p:cNvPr id="4" name="Text 1"/>
          <p:cNvSpPr txBox="1"/>
          <p:nvPr/>
        </p:nvSpPr>
        <p:spPr>
          <a:xfrm>
            <a:off x="666780" y="3810030"/>
            <a:ext cx="7239030" cy="342900"/>
          </a:xfrm>
          <a:prstGeom prst="rect">
            <a:avLst/>
          </a:prstGeom>
          <a:noFill/>
          <a:ln/>
        </p:spPr>
        <p:txBody>
          <a:bodyPr wrap="square" lIns="0" tIns="0" rIns="0" bIns="0" rtlCol="0" anchor="t"/>
          <a:lstStyle/>
          <a:p>
            <a:pPr algn="l" indent="0" marL="0">
              <a:lnSpc>
                <a:spcPct val="105000"/>
              </a:lnSpc>
              <a:buNone/>
            </a:pPr>
            <a:r>
              <a:rPr lang="en-US" sz="2200" b="1" dirty="0">
                <a:solidFill>
                  <a:srgbClr val="7FF3FF"/>
                </a:solidFill>
              </a:rPr>
              <a:t>Сұрақтарыңызға қуана жауап береміз</a:t>
            </a:r>
            <a:endParaRPr lang="en-US" sz="2200" dirty="0"/>
          </a:p>
        </p:txBody>
      </p:sp>
      <p:sp>
        <p:nvSpPr>
          <p:cNvPr id="5" name="Shape 2"/>
          <p:cNvSpPr/>
          <p:nvPr/>
        </p:nvSpPr>
        <p:spPr>
          <a:xfrm>
            <a:off x="666780" y="4305270"/>
            <a:ext cx="7619970" cy="2114550"/>
          </a:xfrm>
          <a:prstGeom prst="roundRect">
            <a:avLst>
              <a:gd name="adj" fmla="val 6054"/>
            </a:avLst>
          </a:prstGeom>
          <a:solidFill>
            <a:srgbClr val="150C40">
              <a:alpha val="70000"/>
            </a:srgbClr>
          </a:solidFill>
          <a:ln w="9525">
            <a:solidFill>
              <a:srgbClr val="FFFFFF">
                <a:alpha val="20000"/>
              </a:srgbClr>
            </a:solidFill>
            <a:prstDash val="solid"/>
          </a:ln>
        </p:spPr>
      </p:sp>
      <p:sp>
        <p:nvSpPr>
          <p:cNvPr id="6" name="Text 3"/>
          <p:cNvSpPr txBox="1"/>
          <p:nvPr/>
        </p:nvSpPr>
        <p:spPr>
          <a:xfrm>
            <a:off x="876270" y="4419570"/>
            <a:ext cx="3810030" cy="209580"/>
          </a:xfrm>
          <a:prstGeom prst="rect">
            <a:avLst/>
          </a:prstGeom>
          <a:noFill/>
          <a:ln/>
        </p:spPr>
        <p:txBody>
          <a:bodyPr wrap="square" lIns="0" tIns="0" rIns="0" bIns="0" rtlCol="0" anchor="t"/>
          <a:lstStyle/>
          <a:p>
            <a:pPr algn="l" indent="0" marL="0">
              <a:lnSpc>
                <a:spcPct val="105000"/>
              </a:lnSpc>
              <a:buNone/>
            </a:pPr>
            <a:r>
              <a:rPr lang="en-US" sz="1200" b="1" spc="100" kern="0" dirty="0">
                <a:solidFill>
                  <a:srgbClr val="FFD200"/>
                </a:solidFill>
              </a:rPr>
              <a:t>НЕГІЗГІ ӘДЕБИЕТТЕР</a:t>
            </a:r>
            <a:endParaRPr lang="en-US" sz="1200" dirty="0"/>
          </a:p>
        </p:txBody>
      </p:sp>
      <p:sp>
        <p:nvSpPr>
          <p:cNvPr id="7" name="Text 4"/>
          <p:cNvSpPr txBox="1"/>
          <p:nvPr/>
        </p:nvSpPr>
        <p:spPr>
          <a:xfrm>
            <a:off x="876270" y="4686300"/>
            <a:ext cx="7239030" cy="1638330"/>
          </a:xfrm>
          <a:prstGeom prst="rect">
            <a:avLst/>
          </a:prstGeom>
          <a:noFill/>
          <a:ln/>
        </p:spPr>
        <p:txBody>
          <a:bodyPr wrap="square" lIns="0" tIns="0" rIns="0" bIns="0" rtlCol="0" anchor="t"/>
          <a:lstStyle/>
          <a:p>
            <a:pPr marL="203200" indent="-203200">
              <a:spcAft>
                <a:spcPts val="200"/>
              </a:spcAft>
              <a:buSzPct val="100000"/>
              <a:buFont typeface="+mj-lt"/>
              <a:buAutoNum type="arabicPeriod" startAt="1"/>
            </a:pPr>
            <a:r>
              <a:rPr lang="en-US" sz="1100" dirty="0">
                <a:solidFill>
                  <a:srgbClr val="E6E1FF"/>
                </a:solidFill>
              </a:rPr>
              <a:t>Mahan A.T. The Influence of Sea Power upon History, 1660–1783. Boston, 1890.</a:t>
            </a:r>
            <a:endParaRPr lang="en-US" sz="1100" dirty="0"/>
          </a:p>
          <a:p>
            <a:pPr marL="203200" indent="-203200">
              <a:spcAft>
                <a:spcPts val="200"/>
              </a:spcAft>
              <a:buSzPct val="100000"/>
              <a:buFont typeface="+mj-lt"/>
              <a:buAutoNum type="arabicPeriod" startAt="1"/>
            </a:pPr>
            <a:r>
              <a:rPr lang="en-US" sz="1100" dirty="0">
                <a:solidFill>
                  <a:srgbClr val="E6E1FF"/>
                </a:solidFill>
              </a:rPr>
              <a:t>Mackinder H. The Geographical Pivot of History // The Geographical Journal. 1904. Vol. 23, No. 4.</a:t>
            </a:r>
            <a:endParaRPr lang="en-US" sz="1100" dirty="0"/>
          </a:p>
          <a:p>
            <a:pPr marL="203200" indent="-203200">
              <a:spcAft>
                <a:spcPts val="200"/>
              </a:spcAft>
              <a:buSzPct val="100000"/>
              <a:buFont typeface="+mj-lt"/>
              <a:buAutoNum type="arabicPeriod" startAt="1"/>
            </a:pPr>
            <a:r>
              <a:rPr lang="en-US" sz="1100" dirty="0">
                <a:solidFill>
                  <a:srgbClr val="E6E1FF"/>
                </a:solidFill>
              </a:rPr>
              <a:t>Spykman N. The Geography of the Peace. New York, 1944.</a:t>
            </a:r>
            <a:endParaRPr lang="en-US" sz="1100" dirty="0"/>
          </a:p>
          <a:p>
            <a:pPr marL="203200" indent="-203200">
              <a:spcAft>
                <a:spcPts val="200"/>
              </a:spcAft>
              <a:buSzPct val="100000"/>
              <a:buFont typeface="+mj-lt"/>
              <a:buAutoNum type="arabicPeriod" startAt="1"/>
            </a:pPr>
            <a:r>
              <a:rPr lang="en-US" sz="1100" dirty="0">
                <a:solidFill>
                  <a:srgbClr val="E6E1FF"/>
                </a:solidFill>
              </a:rPr>
              <a:t>Vidal de la Blache P. Principes de géographie humaine. Paris, 1922.</a:t>
            </a:r>
            <a:endParaRPr lang="en-US" sz="1100" dirty="0"/>
          </a:p>
          <a:p>
            <a:pPr marL="203200" indent="-203200">
              <a:spcAft>
                <a:spcPts val="200"/>
              </a:spcAft>
              <a:buSzPct val="100000"/>
              <a:buFont typeface="+mj-lt"/>
              <a:buAutoNum type="arabicPeriod" startAt="1"/>
            </a:pPr>
            <a:r>
              <a:rPr lang="en-US" sz="1100" dirty="0">
                <a:solidFill>
                  <a:srgbClr val="E6E1FF"/>
                </a:solidFill>
              </a:rPr>
              <a:t>Савицкий П.Н. Континент Евразия. М., 1997; Гумилёв Л.Н. Этногенез и биосфера Земли. Л., 1989.</a:t>
            </a:r>
            <a:endParaRPr lang="en-US" sz="1100" dirty="0"/>
          </a:p>
          <a:p>
            <a:pPr marL="203200" indent="-203200">
              <a:spcAft>
                <a:spcPts val="200"/>
              </a:spcAft>
              <a:buSzPct val="100000"/>
              <a:buFont typeface="+mj-lt"/>
              <a:buAutoNum type="arabicPeriod" startAt="1"/>
            </a:pPr>
            <a:r>
              <a:rPr lang="en-US" sz="1100" dirty="0">
                <a:solidFill>
                  <a:srgbClr val="E6E1FF"/>
                </a:solidFill>
              </a:rPr>
              <a:t>Brzezinski Z. The Grand Chessboard. New York, 1997; Huntington S. The Clash of Civilizations. New York, 1996.</a:t>
            </a:r>
            <a:endParaRPr lang="en-US" sz="1100" dirty="0"/>
          </a:p>
          <a:p>
            <a:pPr marL="203200" indent="-203200">
              <a:spcAft>
                <a:spcPts val="200"/>
              </a:spcAft>
              <a:buSzPct val="100000"/>
              <a:buFont typeface="+mj-lt"/>
              <a:buAutoNum type="arabicPeriod" startAt="1"/>
            </a:pPr>
            <a:r>
              <a:rPr lang="en-US" sz="1100" dirty="0">
                <a:solidFill>
                  <a:srgbClr val="E6E1FF"/>
                </a:solidFill>
              </a:rPr>
              <a:t>Ó Tuathail G. Critical Geopolitics. London: Routledge, 1996.</a:t>
            </a:r>
            <a:endParaRPr lang="en-US" sz="1100" dirty="0"/>
          </a:p>
        </p:txBody>
      </p:sp>
    </p:spTree>
  </p:cSld>
  <p:clrMapOvr>
    <a:masterClrMapping/>
  </p:clrMapOvr>
</p:sld>
</file>

<file path=ppt/theme/theme1.xml><?xml version="1.0" encoding="utf-8"?>
<a:theme xmlns:a="http://schemas.openxmlformats.org/drawingml/2006/main" name="Geosayasat">
  <a:themeElements>
    <a:clrScheme name="Geosayasat">
      <a:dk1>
        <a:srgbClr val="1D1838"/>
      </a:dk1>
      <a:lt1>
        <a:srgbClr val="FFFFFF"/>
      </a:lt1>
      <a:dk2>
        <a:srgbClr val="150C40"/>
      </a:dk2>
      <a:lt2>
        <a:srgbClr val="F3F0FF"/>
      </a:lt2>
      <a:accent1>
        <a:srgbClr val="0A9BFF"/>
      </a:accent1>
      <a:accent2>
        <a:srgbClr val="FF6A2B"/>
      </a:accent2>
      <a:accent3>
        <a:srgbClr val="F2307A"/>
      </a:accent3>
      <a:accent4>
        <a:srgbClr val="1FBF7F"/>
      </a:accent4>
      <a:accent5>
        <a:srgbClr val="A020FF"/>
      </a:accent5>
      <a:accent6>
        <a:srgbClr val="FFB30F"/>
      </a:accent6>
      <a:hlink>
        <a:srgbClr val="00C6FF"/>
      </a:hlink>
      <a:folHlink>
        <a:srgbClr val="A35CFF"/>
      </a:folHlink>
    </a:clrScheme>
    <a:fontScheme name="Geosayasa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Геосаясат мектептері: теориялық салыстырмалы талдау</dc:title>
  <dc:subject>PptxGenJS Presentation</dc:subject>
  <dc:creator>PptxGenJS</dc:creator>
  <cp:lastModifiedBy>PptxGenJS</cp:lastModifiedBy>
  <cp:revision>1</cp:revision>
  <dcterms:created xsi:type="dcterms:W3CDTF">2026-10-20T13:21:52Z</dcterms:created>
  <dcterms:modified xsi:type="dcterms:W3CDTF">2026-10-20T13:21:52Z</dcterms:modified>
</cp:coreProperties>
</file>